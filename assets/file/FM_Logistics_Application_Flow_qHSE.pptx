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Lst>
  <p:notesMasterIdLst>
    <p:notesMasterId r:id="rId51"/>
  </p:notesMasterIdLst>
  <p:sldIdLst>
    <p:sldId id="257" r:id="rId5"/>
    <p:sldId id="314" r:id="rId6"/>
    <p:sldId id="315" r:id="rId7"/>
    <p:sldId id="313" r:id="rId8"/>
    <p:sldId id="284" r:id="rId9"/>
    <p:sldId id="318" r:id="rId10"/>
    <p:sldId id="319" r:id="rId11"/>
    <p:sldId id="309" r:id="rId12"/>
    <p:sldId id="285" r:id="rId13"/>
    <p:sldId id="310" r:id="rId14"/>
    <p:sldId id="311" r:id="rId15"/>
    <p:sldId id="356" r:id="rId16"/>
    <p:sldId id="320" r:id="rId17"/>
    <p:sldId id="353" r:id="rId18"/>
    <p:sldId id="321" r:id="rId19"/>
    <p:sldId id="341" r:id="rId20"/>
    <p:sldId id="322" r:id="rId21"/>
    <p:sldId id="323" r:id="rId22"/>
    <p:sldId id="324" r:id="rId23"/>
    <p:sldId id="354" r:id="rId24"/>
    <p:sldId id="327" r:id="rId25"/>
    <p:sldId id="330" r:id="rId26"/>
    <p:sldId id="331" r:id="rId27"/>
    <p:sldId id="337" r:id="rId28"/>
    <p:sldId id="338" r:id="rId29"/>
    <p:sldId id="328" r:id="rId30"/>
    <p:sldId id="329" r:id="rId31"/>
    <p:sldId id="333" r:id="rId32"/>
    <p:sldId id="332" r:id="rId33"/>
    <p:sldId id="355" r:id="rId34"/>
    <p:sldId id="334" r:id="rId35"/>
    <p:sldId id="335" r:id="rId36"/>
    <p:sldId id="336" r:id="rId37"/>
    <p:sldId id="340" r:id="rId38"/>
    <p:sldId id="352" r:id="rId39"/>
    <p:sldId id="342" r:id="rId40"/>
    <p:sldId id="343" r:id="rId41"/>
    <p:sldId id="344" r:id="rId42"/>
    <p:sldId id="345" r:id="rId43"/>
    <p:sldId id="346" r:id="rId44"/>
    <p:sldId id="347" r:id="rId45"/>
    <p:sldId id="348" r:id="rId46"/>
    <p:sldId id="349" r:id="rId47"/>
    <p:sldId id="350" r:id="rId48"/>
    <p:sldId id="351" r:id="rId49"/>
    <p:sldId id="317"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89" autoAdjust="0"/>
    <p:restoredTop sz="94660"/>
  </p:normalViewPr>
  <p:slideViewPr>
    <p:cSldViewPr snapToGrid="0">
      <p:cViewPr>
        <p:scale>
          <a:sx n="90" d="100"/>
          <a:sy n="90" d="100"/>
        </p:scale>
        <p:origin x="298"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36B452-061E-4BD1-A3C7-F7FC72203769}" type="datetimeFigureOut">
              <a:rPr lang="en-US" smtClean="0"/>
              <a:t>6/15/2026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0100A5-2BD5-4A53-95D9-4B8047949E55}" type="slidenum">
              <a:rPr lang="en-US" smtClean="0"/>
              <a:t>‹#›</a:t>
            </a:fld>
            <a:endParaRPr lang="en-US"/>
          </a:p>
        </p:txBody>
      </p:sp>
    </p:spTree>
    <p:extLst>
      <p:ext uri="{BB962C8B-B14F-4D97-AF65-F5344CB8AC3E}">
        <p14:creationId xmlns:p14="http://schemas.microsoft.com/office/powerpoint/2010/main" val="2110352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A15BF956-10ED-4D18-A916-8BC8643287BD}" type="datetime1">
              <a:rPr lang="en-US" smtClean="0"/>
              <a:t>6/15/2026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r>
              <a:rPr lang="en-US"/>
              <a:t>UNITGLO SOLUTIONS PVT LTD</a:t>
            </a:r>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43129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0A3F0A48-E477-400A-AAD4-015619C805E0}" type="datetime1">
              <a:rPr lang="en-US" smtClean="0"/>
              <a:t>6/15/2026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r>
              <a:rPr lang="en-US"/>
              <a:t>UNITGLO SOLUTIONS PVT LTD</a:t>
            </a:r>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88234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2C9F2F2C-5591-4F86-B7B9-F1017E929143}" type="datetime1">
              <a:rPr lang="en-US" smtClean="0"/>
              <a:t>6/15/2026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r>
              <a:rPr lang="en-US"/>
              <a:t>UNITGLO SOLUTIONS PVT LTD</a:t>
            </a:r>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6623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14AF634A-A922-47B6-A5CD-472D00E9FAA9}" type="datetime1">
              <a:rPr lang="en-US" smtClean="0"/>
              <a:t>6/15/2026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r>
              <a:rPr lang="en-US"/>
              <a:t>UNITGLO SOLUTIONS PVT LTD</a:t>
            </a:r>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0605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BB3D2C81-7567-46BE-ADDE-79EE0FE1F302}" type="datetime1">
              <a:rPr lang="en-US" smtClean="0"/>
              <a:t>6/15/2026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r>
              <a:rPr lang="en-US"/>
              <a:t>UNITGLO SOLUTIONS PVT LTD</a:t>
            </a:r>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72147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9377D577-4211-49C0-8563-945AD23B461D}" type="datetime1">
              <a:rPr lang="en-US" smtClean="0"/>
              <a:t>6/15/2026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r>
              <a:rPr lang="en-US"/>
              <a:t>UNITGLO SOLUTIONS PVT LTD</a:t>
            </a:r>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17559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B362F40D-585E-4E2D-9BC5-1585A1D13DDA}" type="datetime1">
              <a:rPr lang="en-US" smtClean="0"/>
              <a:t>6/15/2026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r>
              <a:rPr lang="en-US"/>
              <a:t>UNITGLO SOLUTIONS PVT LTD</a:t>
            </a:r>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46115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62EAD77F-1024-4D11-9A7E-4A6160907C69}" type="datetime1">
              <a:rPr lang="en-US" smtClean="0"/>
              <a:t>6/15/2026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r>
              <a:rPr lang="en-US"/>
              <a:t>UNITGLO SOLUTIONS PVT LTD</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55372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2CE5A733-D2BC-4F03-A2F1-F47431A398A3}" type="datetime1">
              <a:rPr lang="en-US" smtClean="0"/>
              <a:t>6/15/2026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r>
              <a:rPr lang="en-US"/>
              <a:t>UNITGLO SOLUTIONS PVT LTD</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77862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542DA456-ED10-4B32-9930-3CC5E16354FB}" type="datetime1">
              <a:rPr lang="en-US" smtClean="0"/>
              <a:t>6/15/2026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r>
              <a:rPr lang="en-US"/>
              <a:t>UNITGLO SOLUTIONS PVT LTD</a:t>
            </a:r>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5818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328FB778-B1C9-4EB1-B1AE-B7786BC3D5BC}" type="datetime1">
              <a:rPr lang="en-US" smtClean="0"/>
              <a:t>6/15/2026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r>
              <a:rPr lang="en-US"/>
              <a:t>UNITGLO SOLUTIONS PVT LTD</a:t>
            </a:r>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10436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5D46C92D-0ABA-429F-98EF-3B5ABC7E1EBB}" type="datetime1">
              <a:rPr lang="en-US" smtClean="0"/>
              <a:t>6/15/2026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r>
              <a:rPr lang="en-US"/>
              <a:t>UNITGLO SOLUTIONS PVT LTD</a:t>
            </a:r>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105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573148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85" r:id="rId5"/>
    <p:sldLayoutId id="2147483679" r:id="rId6"/>
    <p:sldLayoutId id="2147483680" r:id="rId7"/>
    <p:sldLayoutId id="2147483681" r:id="rId8"/>
    <p:sldLayoutId id="2147483684" r:id="rId9"/>
    <p:sldLayoutId id="2147483682" r:id="rId10"/>
    <p:sldLayoutId id="2147483683" r:id="rId11"/>
  </p:sldLayoutIdLst>
  <p:hf sldNum="0" hdr="0" dt="0"/>
  <p:txStyles>
    <p:title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69" y="265155"/>
            <a:ext cx="11760200" cy="6123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3085022" y="1855614"/>
            <a:ext cx="7782548" cy="830997"/>
          </a:xfrm>
          <a:prstGeom prst="rect">
            <a:avLst/>
          </a:prstGeom>
        </p:spPr>
        <p:txBody>
          <a:bodyPr wrap="square">
            <a:spAutoFit/>
          </a:bodyPr>
          <a:lstStyle/>
          <a:p>
            <a:pPr lvl="0" algn="ctr"/>
            <a:endParaRPr lang="en-IN" sz="4800" b="1" dirty="0">
              <a:solidFill>
                <a:srgbClr val="000000"/>
              </a:solidFill>
              <a:latin typeface="Times New Roman" pitchFamily="18" charset="0"/>
              <a:cs typeface="Times New Roman" pitchFamily="18" charset="0"/>
            </a:endParaRPr>
          </a:p>
        </p:txBody>
      </p:sp>
      <p:sp>
        <p:nvSpPr>
          <p:cNvPr id="7" name="Rectangle 6"/>
          <p:cNvSpPr/>
          <p:nvPr/>
        </p:nvSpPr>
        <p:spPr>
          <a:xfrm>
            <a:off x="2458489" y="1443958"/>
            <a:ext cx="7782548" cy="830997"/>
          </a:xfrm>
          <a:prstGeom prst="rect">
            <a:avLst/>
          </a:prstGeom>
        </p:spPr>
        <p:txBody>
          <a:bodyPr wrap="square">
            <a:spAutoFit/>
          </a:bodyPr>
          <a:lstStyle/>
          <a:p>
            <a:pPr lvl="0" algn="ctr"/>
            <a:endParaRPr lang="en-IN" sz="4800" b="1" dirty="0">
              <a:solidFill>
                <a:srgbClr val="000000"/>
              </a:solidFill>
              <a:latin typeface="Times New Roman" pitchFamily="18" charset="0"/>
              <a:cs typeface="Times New Roman" pitchFamily="18" charset="0"/>
            </a:endParaRPr>
          </a:p>
        </p:txBody>
      </p:sp>
      <p:sp>
        <p:nvSpPr>
          <p:cNvPr id="8" name="Rectangle 7"/>
          <p:cNvSpPr/>
          <p:nvPr/>
        </p:nvSpPr>
        <p:spPr>
          <a:xfrm>
            <a:off x="2610889" y="1596358"/>
            <a:ext cx="7782548" cy="830997"/>
          </a:xfrm>
          <a:prstGeom prst="rect">
            <a:avLst/>
          </a:prstGeom>
        </p:spPr>
        <p:txBody>
          <a:bodyPr wrap="square">
            <a:spAutoFit/>
          </a:bodyPr>
          <a:lstStyle/>
          <a:p>
            <a:pPr lvl="0" algn="ctr"/>
            <a:endParaRPr lang="en-IN" sz="4800" b="1" dirty="0">
              <a:solidFill>
                <a:srgbClr val="000000"/>
              </a:solidFill>
              <a:latin typeface="Times New Roman" pitchFamily="18" charset="0"/>
              <a:cs typeface="Times New Roman" pitchFamily="18" charset="0"/>
            </a:endParaRPr>
          </a:p>
        </p:txBody>
      </p:sp>
      <p:sp>
        <p:nvSpPr>
          <p:cNvPr id="9" name="Rectangle 8"/>
          <p:cNvSpPr/>
          <p:nvPr/>
        </p:nvSpPr>
        <p:spPr>
          <a:xfrm>
            <a:off x="2763289" y="1748758"/>
            <a:ext cx="7782548" cy="830997"/>
          </a:xfrm>
          <a:prstGeom prst="rect">
            <a:avLst/>
          </a:prstGeom>
        </p:spPr>
        <p:txBody>
          <a:bodyPr wrap="square">
            <a:spAutoFit/>
          </a:bodyPr>
          <a:lstStyle/>
          <a:p>
            <a:pPr lvl="0" algn="ctr"/>
            <a:endParaRPr lang="en-IN" sz="4800" b="1" dirty="0">
              <a:solidFill>
                <a:srgbClr val="000000"/>
              </a:solidFill>
              <a:latin typeface="Times New Roman" pitchFamily="18" charset="0"/>
              <a:cs typeface="Times New Roman" pitchFamily="18" charset="0"/>
            </a:endParaRPr>
          </a:p>
        </p:txBody>
      </p:sp>
      <p:sp>
        <p:nvSpPr>
          <p:cNvPr id="3" name="TextBox 2"/>
          <p:cNvSpPr txBox="1"/>
          <p:nvPr/>
        </p:nvSpPr>
        <p:spPr>
          <a:xfrm>
            <a:off x="7594363" y="2625921"/>
            <a:ext cx="4377504" cy="2862322"/>
          </a:xfrm>
          <a:prstGeom prst="rect">
            <a:avLst/>
          </a:prstGeom>
          <a:noFill/>
          <a:effectLst>
            <a:outerShdw blurRad="50800" dist="38100" dir="5400000" algn="t" rotWithShape="0">
              <a:prstClr val="black">
                <a:alpha val="40000"/>
              </a:prstClr>
            </a:outerShdw>
          </a:effectLst>
        </p:spPr>
        <p:txBody>
          <a:bodyPr wrap="square" rtlCol="0" anchor="ctr">
            <a:spAutoFit/>
          </a:bodyPr>
          <a:lstStyle/>
          <a:p>
            <a:pPr algn="ctr"/>
            <a:r>
              <a:rPr lang="en-IN" sz="6000" b="1" dirty="0"/>
              <a:t> Emergency Reporting Tool</a:t>
            </a:r>
          </a:p>
        </p:txBody>
      </p:sp>
      <p:graphicFrame>
        <p:nvGraphicFramePr>
          <p:cNvPr id="10" name="Table 9">
            <a:extLst>
              <a:ext uri="{FF2B5EF4-FFF2-40B4-BE49-F238E27FC236}">
                <a16:creationId xmlns:a16="http://schemas.microsoft.com/office/drawing/2014/main" id="{F04479D9-8227-4744-8959-E1DBA7D6D327}"/>
              </a:ext>
            </a:extLst>
          </p:cNvPr>
          <p:cNvGraphicFramePr>
            <a:graphicFrameLocks noGrp="1"/>
          </p:cNvGraphicFramePr>
          <p:nvPr>
            <p:extLst>
              <p:ext uri="{D42A27DB-BD31-4B8C-83A1-F6EECF244321}">
                <p14:modId xmlns:p14="http://schemas.microsoft.com/office/powerpoint/2010/main" val="1055340344"/>
              </p:ext>
            </p:extLst>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Tree>
    <p:extLst>
      <p:ext uri="{BB962C8B-B14F-4D97-AF65-F5344CB8AC3E}">
        <p14:creationId xmlns:p14="http://schemas.microsoft.com/office/powerpoint/2010/main" val="2861458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072"/>
            <a:ext cx="12192000" cy="5539978"/>
          </a:xfrm>
          <a:prstGeom prst="rect">
            <a:avLst/>
          </a:prstGeom>
        </p:spPr>
        <p:txBody>
          <a:bodyPr wrap="square">
            <a:spAutoFit/>
          </a:bodyPr>
          <a:lstStyle/>
          <a:p>
            <a:pPr lvl="0" algn="ctr"/>
            <a:r>
              <a:rPr lang="en-US" sz="2400" b="1" dirty="0">
                <a:cs typeface="Times New Roman" pitchFamily="18" charset="0"/>
              </a:rPr>
              <a:t>Application Security Highlights</a:t>
            </a:r>
            <a:r>
              <a:rPr lang="en-US" sz="2400" dirty="0">
                <a:cs typeface="Times New Roman" pitchFamily="18" charset="0"/>
              </a:rPr>
              <a:t> </a:t>
            </a:r>
          </a:p>
          <a:p>
            <a:pPr lvl="0" algn="ctr"/>
            <a:endParaRPr lang="en-US" sz="2400" dirty="0">
              <a:cs typeface="Times New Roman" pitchFamily="18" charset="0"/>
            </a:endParaRPr>
          </a:p>
          <a:p>
            <a:pPr marL="342900" indent="-342900" algn="just">
              <a:buFont typeface="+mj-lt"/>
              <a:buAutoNum type="arabicPeriod"/>
            </a:pPr>
            <a:r>
              <a:rPr lang="en-US" dirty="0">
                <a:cs typeface="Times New Roman" pitchFamily="18" charset="0"/>
              </a:rPr>
              <a:t>User Login and Access </a:t>
            </a:r>
          </a:p>
          <a:p>
            <a:pPr marL="742950" lvl="1" indent="-285750" algn="just">
              <a:buFont typeface="Arial" pitchFamily="34" charset="0"/>
              <a:buChar char="•"/>
            </a:pPr>
            <a:r>
              <a:rPr lang="en-IN" dirty="0">
                <a:cs typeface="Times New Roman" pitchFamily="18" charset="0"/>
              </a:rPr>
              <a:t>Our webapp is flexible to run on any secure browser may it be mobile, desktop or laptop as we used SSL for secure browsing.</a:t>
            </a:r>
          </a:p>
          <a:p>
            <a:pPr marL="742950" lvl="1" indent="-285750" algn="just">
              <a:buFont typeface="Arial" pitchFamily="34" charset="0"/>
              <a:buChar char="•"/>
            </a:pPr>
            <a:r>
              <a:rPr lang="en-IN" dirty="0">
                <a:cs typeface="Times New Roman" pitchFamily="18" charset="0"/>
              </a:rPr>
              <a:t>Main URL is hidden using URL Re-writing technique.</a:t>
            </a:r>
          </a:p>
          <a:p>
            <a:pPr marL="742950" lvl="1" indent="-285750" algn="just">
              <a:buFont typeface="Arial" pitchFamily="34" charset="0"/>
              <a:buChar char="•"/>
            </a:pPr>
            <a:r>
              <a:rPr lang="en-IN" dirty="0">
                <a:cs typeface="Times New Roman" pitchFamily="18" charset="0"/>
              </a:rPr>
              <a:t>Login credentials Alphanumeric, Alphabetical (Lower Case and Upper Case), Special Characters are compulsory.  </a:t>
            </a:r>
          </a:p>
          <a:p>
            <a:pPr marL="742950" lvl="1" indent="-285750" algn="just">
              <a:buFont typeface="Arial" pitchFamily="34" charset="0"/>
              <a:buChar char="•"/>
            </a:pPr>
            <a:r>
              <a:rPr lang="en-IN" dirty="0">
                <a:cs typeface="Times New Roman" pitchFamily="18" charset="0"/>
              </a:rPr>
              <a:t>Application does not have any type of Guest Login.</a:t>
            </a:r>
          </a:p>
          <a:p>
            <a:pPr marL="742950" lvl="1" indent="-285750" algn="just">
              <a:buFont typeface="Arial" pitchFamily="34" charset="0"/>
              <a:buChar char="•"/>
            </a:pPr>
            <a:r>
              <a:rPr lang="en-IN" dirty="0">
                <a:cs typeface="Times New Roman" pitchFamily="18" charset="0"/>
              </a:rPr>
              <a:t>Admin can control the system logins via activating or deactivating the users.</a:t>
            </a:r>
          </a:p>
          <a:p>
            <a:pPr marL="342900" indent="-342900" algn="just">
              <a:buFont typeface="+mj-lt"/>
              <a:buAutoNum type="arabicPeriod"/>
            </a:pPr>
            <a:r>
              <a:rPr lang="en-IN" dirty="0">
                <a:cs typeface="Times New Roman" pitchFamily="18" charset="0"/>
              </a:rPr>
              <a:t>Data Storage  </a:t>
            </a:r>
          </a:p>
          <a:p>
            <a:pPr marL="742950" lvl="1" indent="-285750" algn="just">
              <a:buFont typeface="Arial" pitchFamily="34" charset="0"/>
              <a:buChar char="•"/>
            </a:pPr>
            <a:r>
              <a:rPr lang="en-IN" dirty="0">
                <a:cs typeface="Times New Roman" pitchFamily="18" charset="0"/>
              </a:rPr>
              <a:t>All the data is stored on cloud servers. </a:t>
            </a:r>
          </a:p>
          <a:p>
            <a:pPr marL="742950" lvl="1" indent="-285750" algn="just">
              <a:buFont typeface="Arial" pitchFamily="34" charset="0"/>
              <a:buChar char="•"/>
            </a:pPr>
            <a:r>
              <a:rPr lang="en-IN" dirty="0">
                <a:cs typeface="Times New Roman" pitchFamily="18" charset="0"/>
              </a:rPr>
              <a:t>All data will be stored in SQL and File format.  </a:t>
            </a:r>
          </a:p>
          <a:p>
            <a:pPr marL="742950" lvl="1" indent="-285750" algn="just">
              <a:buFont typeface="Arial" pitchFamily="34" charset="0"/>
              <a:buChar char="•"/>
            </a:pPr>
            <a:r>
              <a:rPr lang="en-IN" dirty="0">
                <a:cs typeface="Times New Roman" pitchFamily="18" charset="0"/>
              </a:rPr>
              <a:t>There will be two file format extensions that we use to store data.  </a:t>
            </a:r>
          </a:p>
          <a:p>
            <a:pPr lvl="1" algn="just"/>
            <a:r>
              <a:rPr lang="en-IN" dirty="0">
                <a:cs typeface="Times New Roman" pitchFamily="18" charset="0"/>
              </a:rPr>
              <a:t>      1) .</a:t>
            </a:r>
            <a:r>
              <a:rPr lang="en-IN" dirty="0" err="1">
                <a:cs typeface="Times New Roman" pitchFamily="18" charset="0"/>
              </a:rPr>
              <a:t>png</a:t>
            </a:r>
            <a:r>
              <a:rPr lang="en-IN" dirty="0">
                <a:cs typeface="Times New Roman" pitchFamily="18" charset="0"/>
              </a:rPr>
              <a:t>    2) .jpeg</a:t>
            </a:r>
          </a:p>
          <a:p>
            <a:pPr marL="742950" lvl="1" indent="-285750" algn="just">
              <a:buFont typeface="Arial" pitchFamily="34" charset="0"/>
              <a:buChar char="•"/>
            </a:pPr>
            <a:r>
              <a:rPr lang="en-IN" dirty="0">
                <a:cs typeface="Times New Roman" pitchFamily="18" charset="0"/>
              </a:rPr>
              <a:t>Protected data is stored using Hashing Algorithm “SHA256” or “MD5”</a:t>
            </a:r>
          </a:p>
          <a:p>
            <a:pPr marL="342900" indent="-342900" algn="just">
              <a:buFont typeface="+mj-lt"/>
              <a:buAutoNum type="arabicPeriod"/>
            </a:pPr>
            <a:r>
              <a:rPr lang="en-IN" dirty="0">
                <a:cs typeface="Times New Roman" pitchFamily="18" charset="0"/>
              </a:rPr>
              <a:t>SQL Database Log Management</a:t>
            </a:r>
          </a:p>
          <a:p>
            <a:pPr marL="742950" lvl="1" indent="-285750" algn="just">
              <a:buFont typeface="Arial" pitchFamily="34" charset="0"/>
              <a:buChar char="•"/>
            </a:pPr>
            <a:r>
              <a:rPr lang="en-IN" dirty="0">
                <a:cs typeface="Times New Roman" pitchFamily="18" charset="0"/>
              </a:rPr>
              <a:t>SQL database enable standard transaction Log records. The start and end of each transaction, Every database operations like (Insert , Update, Delete , Create, Drop, Index ) Logs will be maintained in SQL database.</a:t>
            </a:r>
          </a:p>
          <a:p>
            <a:pPr marL="742950" lvl="1" indent="-285750" algn="just">
              <a:buFont typeface="Arial" pitchFamily="34" charset="0"/>
              <a:buChar char="•"/>
            </a:pPr>
            <a:r>
              <a:rPr lang="en-IN" dirty="0">
                <a:cs typeface="Times New Roman" pitchFamily="18" charset="0"/>
              </a:rPr>
              <a:t>Database Roll back operations are also Logged.</a:t>
            </a:r>
          </a:p>
        </p:txBody>
      </p:sp>
      <p:graphicFrame>
        <p:nvGraphicFramePr>
          <p:cNvPr id="4" name="Table 3">
            <a:extLst>
              <a:ext uri="{FF2B5EF4-FFF2-40B4-BE49-F238E27FC236}">
                <a16:creationId xmlns:a16="http://schemas.microsoft.com/office/drawing/2014/main" id="{D53A97E9-5688-4A05-A14D-B1FE7E8C805B}"/>
              </a:ext>
            </a:extLst>
          </p:cNvPr>
          <p:cNvGraphicFramePr>
            <a:graphicFrameLocks noGrp="1"/>
          </p:cNvGraphicFramePr>
          <p:nvPr>
            <p:extLst>
              <p:ext uri="{D42A27DB-BD31-4B8C-83A1-F6EECF244321}">
                <p14:modId xmlns:p14="http://schemas.microsoft.com/office/powerpoint/2010/main" val="1055340344"/>
              </p:ext>
            </p:extLst>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Tree>
    <p:extLst>
      <p:ext uri="{BB962C8B-B14F-4D97-AF65-F5344CB8AC3E}">
        <p14:creationId xmlns:p14="http://schemas.microsoft.com/office/powerpoint/2010/main" val="1063936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072"/>
            <a:ext cx="12192000" cy="6093976"/>
          </a:xfrm>
          <a:prstGeom prst="rect">
            <a:avLst/>
          </a:prstGeom>
        </p:spPr>
        <p:txBody>
          <a:bodyPr wrap="square">
            <a:spAutoFit/>
          </a:bodyPr>
          <a:lstStyle/>
          <a:p>
            <a:pPr lvl="0" algn="ctr"/>
            <a:r>
              <a:rPr lang="en-US" sz="2400" b="1" dirty="0">
                <a:cs typeface="Times New Roman" pitchFamily="18" charset="0"/>
              </a:rPr>
              <a:t>PHP Framework Security Highlights</a:t>
            </a:r>
            <a:r>
              <a:rPr lang="en-US" sz="2400" dirty="0">
                <a:cs typeface="Times New Roman" pitchFamily="18" charset="0"/>
              </a:rPr>
              <a:t> </a:t>
            </a:r>
          </a:p>
          <a:p>
            <a:pPr lvl="0" algn="ctr"/>
            <a:endParaRPr lang="en-US" sz="2400" dirty="0">
              <a:cs typeface="Times New Roman" pitchFamily="18" charset="0"/>
            </a:endParaRPr>
          </a:p>
          <a:p>
            <a:pPr marL="342900" indent="-342900" algn="just">
              <a:buFont typeface="+mj-lt"/>
              <a:buAutoNum type="arabicPeriod"/>
            </a:pPr>
            <a:r>
              <a:rPr lang="en-US" dirty="0">
                <a:cs typeface="Times New Roman" pitchFamily="18" charset="0"/>
              </a:rPr>
              <a:t>URL Security</a:t>
            </a:r>
          </a:p>
          <a:p>
            <a:pPr lvl="2" algn="just"/>
            <a:r>
              <a:rPr lang="en-IN" dirty="0"/>
              <a:t>CodeIgniter is fairly restrictive regarding which characters will be allowed in your URI strings in order to help in  minimize the possibility that malicious data can be passed to your application. URI’s may only contain the following:</a:t>
            </a:r>
          </a:p>
          <a:p>
            <a:pPr lvl="2" algn="just"/>
            <a:endParaRPr lang="en-IN" dirty="0"/>
          </a:p>
          <a:p>
            <a:pPr lvl="2" algn="just"/>
            <a:endParaRPr lang="en-IN" dirty="0"/>
          </a:p>
          <a:p>
            <a:pPr lvl="2" algn="just"/>
            <a:endParaRPr lang="en-IN" dirty="0"/>
          </a:p>
          <a:p>
            <a:pPr lvl="2" algn="just"/>
            <a:endParaRPr lang="en-IN" dirty="0"/>
          </a:p>
          <a:p>
            <a:pPr lvl="2" algn="just"/>
            <a:endParaRPr lang="en-IN" dirty="0"/>
          </a:p>
          <a:p>
            <a:pPr lvl="2" algn="just"/>
            <a:endParaRPr lang="en-IN" dirty="0"/>
          </a:p>
          <a:p>
            <a:pPr algn="just"/>
            <a:endParaRPr lang="en-IN" b="1" dirty="0">
              <a:cs typeface="Times New Roman" pitchFamily="18" charset="0"/>
            </a:endParaRPr>
          </a:p>
          <a:p>
            <a:pPr marL="342900" indent="-342900" algn="just">
              <a:buFont typeface="+mj-lt"/>
              <a:buAutoNum type="arabicPeriod"/>
            </a:pPr>
            <a:r>
              <a:rPr lang="en-IN" b="1" dirty="0">
                <a:cs typeface="Times New Roman" pitchFamily="18" charset="0"/>
              </a:rPr>
              <a:t>CSRF Protection</a:t>
            </a:r>
          </a:p>
          <a:p>
            <a:pPr marL="800100" lvl="1" indent="-342900" algn="just">
              <a:buFont typeface="+mj-lt"/>
              <a:buAutoNum type="arabicPeriod"/>
            </a:pPr>
            <a:r>
              <a:rPr lang="en-IN" dirty="0"/>
              <a:t>CSRF stands for Cross-Site Request Forgery, which is the process of an attacker tracking their victim into unknowingly submitting a request.</a:t>
            </a:r>
          </a:p>
          <a:p>
            <a:pPr marL="800100" lvl="1" indent="-342900" algn="just">
              <a:buFont typeface="+mj-lt"/>
              <a:buAutoNum type="arabicPeriod"/>
            </a:pPr>
            <a:r>
              <a:rPr lang="en-IN" dirty="0" err="1"/>
              <a:t>CodeIgniter</a:t>
            </a:r>
            <a:r>
              <a:rPr lang="en-IN" dirty="0"/>
              <a:t> provides CSRF protection out of the box, which will get automatically triggered for every non-GET HTTP request, but also needs you to create your submit forms in a certain way. </a:t>
            </a:r>
          </a:p>
          <a:p>
            <a:pPr marL="800100" lvl="1" indent="-342900" algn="just">
              <a:buFont typeface="+mj-lt"/>
              <a:buAutoNum type="arabicPeriod"/>
            </a:pPr>
            <a:endParaRPr lang="en-IN" dirty="0"/>
          </a:p>
          <a:p>
            <a:pPr marL="342900" indent="-342900" algn="just">
              <a:buFont typeface="+mj-lt"/>
              <a:buAutoNum type="arabicPeriod"/>
            </a:pPr>
            <a:r>
              <a:rPr lang="en-IN" b="1" dirty="0">
                <a:cs typeface="Times New Roman" pitchFamily="18" charset="0"/>
              </a:rPr>
              <a:t>Validate Input Data</a:t>
            </a:r>
          </a:p>
          <a:p>
            <a:pPr marL="800100" lvl="1" indent="-342900" algn="just">
              <a:buFont typeface="+mj-lt"/>
              <a:buAutoNum type="arabicPeriod"/>
            </a:pPr>
            <a:r>
              <a:rPr lang="en-IN" dirty="0" err="1"/>
              <a:t>CodeIgniter</a:t>
            </a:r>
            <a:r>
              <a:rPr lang="en-IN" dirty="0"/>
              <a:t> has a Form Validation Library that assists you in validating, filtering, and prepping your data.</a:t>
            </a:r>
            <a:endParaRPr lang="en-IN" b="1" dirty="0">
              <a:cs typeface="Times New Roman" pitchFamily="18" charset="0"/>
            </a:endParaRPr>
          </a:p>
          <a:p>
            <a:pPr marL="800100" lvl="1" indent="-342900">
              <a:buFont typeface="Arial" pitchFamily="34" charset="0"/>
              <a:buChar char="•"/>
            </a:pPr>
            <a:endParaRPr lang="en-IN" dirty="0">
              <a:cs typeface="Times New Roman"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2977755422"/>
              </p:ext>
            </p:extLst>
          </p:nvPr>
        </p:nvGraphicFramePr>
        <p:xfrm>
          <a:off x="-3" y="1659466"/>
          <a:ext cx="12192002" cy="1464734"/>
        </p:xfrm>
        <a:graphic>
          <a:graphicData uri="http://schemas.openxmlformats.org/drawingml/2006/table">
            <a:tbl>
              <a:tblPr firstRow="1" bandRow="1">
                <a:tableStyleId>{5C22544A-7EE6-4342-B048-85BDC9FD1C3A}</a:tableStyleId>
              </a:tblPr>
              <a:tblGrid>
                <a:gridCol w="5655736">
                  <a:extLst>
                    <a:ext uri="{9D8B030D-6E8A-4147-A177-3AD203B41FA5}">
                      <a16:colId xmlns:a16="http://schemas.microsoft.com/office/drawing/2014/main" val="20000"/>
                    </a:ext>
                  </a:extLst>
                </a:gridCol>
                <a:gridCol w="6536266">
                  <a:extLst>
                    <a:ext uri="{9D8B030D-6E8A-4147-A177-3AD203B41FA5}">
                      <a16:colId xmlns:a16="http://schemas.microsoft.com/office/drawing/2014/main" val="20001"/>
                    </a:ext>
                  </a:extLst>
                </a:gridCol>
              </a:tblGrid>
              <a:tr h="1464734">
                <a:tc>
                  <a:txBody>
                    <a:bodyPr/>
                    <a:lstStyle/>
                    <a:p>
                      <a:pPr marL="1257300" lvl="2" indent="-342900">
                        <a:buFont typeface="Arial" pitchFamily="34" charset="0"/>
                        <a:buChar char="•"/>
                      </a:pPr>
                      <a:r>
                        <a:rPr lang="en-IN" b="1" dirty="0">
                          <a:solidFill>
                            <a:schemeClr val="tx1"/>
                          </a:solidFill>
                          <a:latin typeface="+mn-lt"/>
                          <a:cs typeface="Times New Roman" pitchFamily="18" charset="0"/>
                        </a:rPr>
                        <a:t>Alpha-numeric text (Latin characters only) </a:t>
                      </a:r>
                    </a:p>
                    <a:p>
                      <a:pPr marL="1257300" lvl="2" indent="-342900">
                        <a:buFont typeface="Arial" pitchFamily="34" charset="0"/>
                        <a:buChar char="•"/>
                      </a:pPr>
                      <a:r>
                        <a:rPr lang="en-IN" b="1" dirty="0">
                          <a:solidFill>
                            <a:schemeClr val="tx1"/>
                          </a:solidFill>
                          <a:latin typeface="+mn-lt"/>
                          <a:cs typeface="Times New Roman" pitchFamily="18" charset="0"/>
                        </a:rPr>
                        <a:t>Tilde: ~</a:t>
                      </a:r>
                    </a:p>
                    <a:p>
                      <a:pPr marL="1257300" lvl="2" indent="-342900">
                        <a:buFont typeface="Arial" pitchFamily="34" charset="0"/>
                        <a:buChar char="•"/>
                      </a:pPr>
                      <a:r>
                        <a:rPr lang="en-IN" b="1" dirty="0">
                          <a:solidFill>
                            <a:schemeClr val="tx1"/>
                          </a:solidFill>
                          <a:latin typeface="+mn-lt"/>
                          <a:cs typeface="Times New Roman" pitchFamily="18" charset="0"/>
                        </a:rPr>
                        <a:t>Percent sign: %</a:t>
                      </a:r>
                    </a:p>
                    <a:p>
                      <a:pPr marL="1257300" lvl="2" indent="-342900">
                        <a:buFont typeface="Arial" pitchFamily="34" charset="0"/>
                        <a:buChar char="•"/>
                      </a:pPr>
                      <a:r>
                        <a:rPr lang="en-IN" b="1" dirty="0">
                          <a:solidFill>
                            <a:schemeClr val="tx1"/>
                          </a:solidFill>
                          <a:latin typeface="+mn-lt"/>
                          <a:cs typeface="Times New Roman" pitchFamily="18" charset="0"/>
                        </a:rPr>
                        <a:t>Dot: .</a:t>
                      </a:r>
                    </a:p>
                    <a:p>
                      <a:pPr marL="1257300" lvl="2" indent="-342900">
                        <a:buFont typeface="Arial" pitchFamily="34" charset="0"/>
                        <a:buChar char="•"/>
                      </a:pPr>
                      <a:r>
                        <a:rPr lang="en-IN" b="1" dirty="0">
                          <a:solidFill>
                            <a:schemeClr val="tx1"/>
                          </a:solidFill>
                          <a:latin typeface="+mn-lt"/>
                          <a:cs typeface="Times New Roman" pitchFamily="18" charset="0"/>
                        </a:rPr>
                        <a:t>Colon: :</a:t>
                      </a:r>
                    </a:p>
                  </a:txBody>
                  <a:tcPr>
                    <a:solidFill>
                      <a:schemeClr val="bg1"/>
                    </a:solidFill>
                  </a:tcPr>
                </a:tc>
                <a:tc>
                  <a:txBody>
                    <a:bodyPr/>
                    <a:lstStyle/>
                    <a:p>
                      <a:pPr marL="1257300" lvl="2" indent="-342900">
                        <a:buFont typeface="Arial" pitchFamily="34" charset="0"/>
                        <a:buChar char="•"/>
                      </a:pPr>
                      <a:r>
                        <a:rPr lang="en-IN" b="1" dirty="0">
                          <a:solidFill>
                            <a:schemeClr val="tx1"/>
                          </a:solidFill>
                          <a:latin typeface="+mn-lt"/>
                          <a:cs typeface="Times New Roman" pitchFamily="18" charset="0"/>
                        </a:rPr>
                        <a:t>Underscore: _</a:t>
                      </a:r>
                    </a:p>
                    <a:p>
                      <a:pPr marL="1257300" lvl="2" indent="-342900">
                        <a:buFont typeface="Arial" pitchFamily="34" charset="0"/>
                        <a:buChar char="•"/>
                      </a:pPr>
                      <a:r>
                        <a:rPr lang="en-IN" b="1" dirty="0">
                          <a:solidFill>
                            <a:schemeClr val="tx1"/>
                          </a:solidFill>
                          <a:latin typeface="+mn-lt"/>
                          <a:cs typeface="Times New Roman" pitchFamily="18" charset="0"/>
                        </a:rPr>
                        <a:t>Dash: -</a:t>
                      </a:r>
                    </a:p>
                    <a:p>
                      <a:pPr marL="1257300" lvl="2" indent="-342900">
                        <a:buFont typeface="Arial" pitchFamily="34" charset="0"/>
                        <a:buChar char="•"/>
                      </a:pPr>
                      <a:r>
                        <a:rPr lang="en-IN" b="1" dirty="0">
                          <a:solidFill>
                            <a:schemeClr val="tx1"/>
                          </a:solidFill>
                          <a:latin typeface="+mn-lt"/>
                          <a:cs typeface="Times New Roman" pitchFamily="18" charset="0"/>
                        </a:rPr>
                        <a:t>Space: </a:t>
                      </a:r>
                    </a:p>
                    <a:p>
                      <a:pPr lvl="0"/>
                      <a:endParaRPr lang="en-IN" dirty="0">
                        <a:solidFill>
                          <a:schemeClr val="tx1"/>
                        </a:solidFill>
                        <a:latin typeface="+mn-lt"/>
                        <a:cs typeface="Times New Roman" pitchFamily="18" charset="0"/>
                      </a:endParaRPr>
                    </a:p>
                  </a:txBody>
                  <a:tcPr>
                    <a:solidFill>
                      <a:schemeClr val="bg1"/>
                    </a:solidFill>
                  </a:tcPr>
                </a:tc>
                <a:extLst>
                  <a:ext uri="{0D108BD9-81ED-4DB2-BD59-A6C34878D82A}">
                    <a16:rowId xmlns:a16="http://schemas.microsoft.com/office/drawing/2014/main" val="10000"/>
                  </a:ext>
                </a:extLst>
              </a:tr>
            </a:tbl>
          </a:graphicData>
        </a:graphic>
      </p:graphicFrame>
      <p:graphicFrame>
        <p:nvGraphicFramePr>
          <p:cNvPr id="5" name="Table 4">
            <a:extLst>
              <a:ext uri="{FF2B5EF4-FFF2-40B4-BE49-F238E27FC236}">
                <a16:creationId xmlns:a16="http://schemas.microsoft.com/office/drawing/2014/main" id="{F6BD9085-8ED6-49C9-8D21-DF39AE45445D}"/>
              </a:ext>
            </a:extLst>
          </p:cNvPr>
          <p:cNvGraphicFramePr>
            <a:graphicFrameLocks noGrp="1"/>
          </p:cNvGraphicFramePr>
          <p:nvPr>
            <p:extLst>
              <p:ext uri="{D42A27DB-BD31-4B8C-83A1-F6EECF244321}">
                <p14:modId xmlns:p14="http://schemas.microsoft.com/office/powerpoint/2010/main" val="1055340344"/>
              </p:ext>
            </p:extLst>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Tree>
    <p:extLst>
      <p:ext uri="{BB962C8B-B14F-4D97-AF65-F5344CB8AC3E}">
        <p14:creationId xmlns:p14="http://schemas.microsoft.com/office/powerpoint/2010/main" val="2815539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329"/>
            <a:ext cx="12192000" cy="5816977"/>
          </a:xfrm>
          <a:prstGeom prst="rect">
            <a:avLst/>
          </a:prstGeom>
        </p:spPr>
        <p:txBody>
          <a:bodyPr wrap="square">
            <a:spAutoFit/>
          </a:bodyPr>
          <a:lstStyle/>
          <a:p>
            <a:pPr lvl="0" algn="ctr"/>
            <a:r>
              <a:rPr lang="en-US" sz="2400" b="1" dirty="0">
                <a:cs typeface="Times New Roman" pitchFamily="18" charset="0"/>
              </a:rPr>
              <a:t>Application Environment Details</a:t>
            </a:r>
          </a:p>
          <a:p>
            <a:pPr lvl="0" algn="ctr"/>
            <a:endParaRPr lang="en-US" sz="2400" dirty="0">
              <a:cs typeface="Times New Roman" pitchFamily="18" charset="0"/>
            </a:endParaRPr>
          </a:p>
          <a:p>
            <a:pPr marL="342900" indent="-342900" algn="just">
              <a:buFont typeface="+mj-lt"/>
              <a:buAutoNum type="arabicPeriod"/>
            </a:pPr>
            <a:r>
              <a:rPr lang="en-US" dirty="0">
                <a:cs typeface="Times New Roman" pitchFamily="18" charset="0"/>
              </a:rPr>
              <a:t>Application Server Detail</a:t>
            </a:r>
          </a:p>
          <a:p>
            <a:pPr marL="800100" lvl="1" indent="-342900" algn="just">
              <a:buFont typeface="Arial" pitchFamily="34" charset="0"/>
              <a:buChar char="•"/>
            </a:pPr>
            <a:r>
              <a:rPr lang="en-US" dirty="0">
                <a:cs typeface="Times New Roman" pitchFamily="18" charset="0"/>
              </a:rPr>
              <a:t>We can use IIS server for application.</a:t>
            </a:r>
          </a:p>
          <a:p>
            <a:pPr marL="800100" lvl="1" indent="-342900" algn="just">
              <a:buFont typeface="Arial" pitchFamily="34" charset="0"/>
              <a:buChar char="•"/>
            </a:pPr>
            <a:r>
              <a:rPr lang="en-US" dirty="0">
                <a:cs typeface="Times New Roman" pitchFamily="18" charset="0"/>
              </a:rPr>
              <a:t>Application can run only on secure port.</a:t>
            </a:r>
          </a:p>
          <a:p>
            <a:pPr marL="800100" lvl="1" indent="-342900" algn="just">
              <a:buFont typeface="Arial" pitchFamily="34" charset="0"/>
              <a:buChar char="•"/>
            </a:pPr>
            <a:r>
              <a:rPr lang="en-US" dirty="0">
                <a:cs typeface="Times New Roman" pitchFamily="18" charset="0"/>
              </a:rPr>
              <a:t>IIS Server enabled PHP module to run our System.  </a:t>
            </a:r>
            <a:endParaRPr lang="en-IN" dirty="0">
              <a:cs typeface="Times New Roman" pitchFamily="18" charset="0"/>
            </a:endParaRPr>
          </a:p>
          <a:p>
            <a:pPr marL="342900" indent="-342900" algn="just">
              <a:buFont typeface="+mj-lt"/>
              <a:buAutoNum type="arabicPeriod"/>
            </a:pPr>
            <a:r>
              <a:rPr lang="en-US" dirty="0">
                <a:cs typeface="Times New Roman" pitchFamily="18" charset="0"/>
              </a:rPr>
              <a:t>Framework Details </a:t>
            </a:r>
            <a:r>
              <a:rPr lang="en-IN" b="1" dirty="0">
                <a:cs typeface="Times New Roman" pitchFamily="18" charset="0"/>
              </a:rPr>
              <a:t>Back-End</a:t>
            </a:r>
          </a:p>
          <a:p>
            <a:pPr marL="800100" lvl="1" indent="-342900" algn="just">
              <a:buFont typeface="Arial" pitchFamily="34" charset="0"/>
              <a:buChar char="•"/>
            </a:pPr>
            <a:r>
              <a:rPr lang="en-IN" b="1" dirty="0">
                <a:cs typeface="Times New Roman" pitchFamily="18" charset="0"/>
              </a:rPr>
              <a:t>PHP 8.3 </a:t>
            </a:r>
            <a:r>
              <a:rPr lang="en-IN" dirty="0">
                <a:cs typeface="Times New Roman" pitchFamily="18" charset="0"/>
              </a:rPr>
              <a:t>is a widely-used general-purpose scripting language that is especially suited for Web development and can be embedded into </a:t>
            </a:r>
            <a:r>
              <a:rPr lang="en-IN" b="1" dirty="0">
                <a:cs typeface="Times New Roman" pitchFamily="18" charset="0"/>
              </a:rPr>
              <a:t>HTML</a:t>
            </a:r>
            <a:r>
              <a:rPr lang="en-IN" dirty="0">
                <a:cs typeface="Times New Roman" pitchFamily="18" charset="0"/>
              </a:rPr>
              <a:t>.</a:t>
            </a:r>
          </a:p>
          <a:p>
            <a:pPr marL="800100" lvl="1" indent="-342900" algn="just">
              <a:buFont typeface="Arial" pitchFamily="34" charset="0"/>
              <a:buChar char="•"/>
            </a:pPr>
            <a:r>
              <a:rPr lang="en-IN" dirty="0">
                <a:cs typeface="Times New Roman" pitchFamily="18" charset="0"/>
              </a:rPr>
              <a:t>We are following CodeIgniter PHP framework standards.</a:t>
            </a:r>
          </a:p>
          <a:p>
            <a:pPr marL="342900" indent="-342900" algn="just">
              <a:buFont typeface="+mj-lt"/>
              <a:buAutoNum type="arabicPeriod"/>
            </a:pPr>
            <a:r>
              <a:rPr lang="en-US" dirty="0">
                <a:cs typeface="Times New Roman" pitchFamily="18" charset="0"/>
              </a:rPr>
              <a:t>Framework Details </a:t>
            </a:r>
            <a:r>
              <a:rPr lang="en-IN" b="1" dirty="0">
                <a:cs typeface="Times New Roman" pitchFamily="18" charset="0"/>
              </a:rPr>
              <a:t>Front-End</a:t>
            </a:r>
          </a:p>
          <a:p>
            <a:pPr marL="800100" lvl="1" indent="-342900" algn="just">
              <a:buFont typeface="Arial" pitchFamily="34" charset="0"/>
              <a:buChar char="•"/>
            </a:pPr>
            <a:r>
              <a:rPr lang="en-IN" dirty="0">
                <a:cs typeface="Times New Roman" pitchFamily="18" charset="0"/>
              </a:rPr>
              <a:t>Using</a:t>
            </a:r>
            <a:r>
              <a:rPr lang="en-IN" b="1" dirty="0">
                <a:cs typeface="Times New Roman" pitchFamily="18" charset="0"/>
              </a:rPr>
              <a:t> </a:t>
            </a:r>
            <a:r>
              <a:rPr lang="en-IN" dirty="0">
                <a:cs typeface="Times New Roman" pitchFamily="18" charset="0"/>
              </a:rPr>
              <a:t>Bootstrap 5 we are design all </a:t>
            </a:r>
            <a:r>
              <a:rPr lang="en-IN" b="1" dirty="0">
                <a:cs typeface="Times New Roman" pitchFamily="18" charset="0"/>
              </a:rPr>
              <a:t>HTML</a:t>
            </a:r>
            <a:r>
              <a:rPr lang="en-IN" dirty="0">
                <a:cs typeface="Times New Roman" pitchFamily="18" charset="0"/>
              </a:rPr>
              <a:t> components.</a:t>
            </a:r>
          </a:p>
          <a:p>
            <a:pPr marL="800100" lvl="1" indent="-342900" algn="just">
              <a:buFont typeface="Arial" pitchFamily="34" charset="0"/>
              <a:buChar char="•"/>
            </a:pPr>
            <a:r>
              <a:rPr lang="en-IN" dirty="0">
                <a:cs typeface="Times New Roman" pitchFamily="18" charset="0"/>
              </a:rPr>
              <a:t>UX, We use jQuery to improve user experience.</a:t>
            </a:r>
          </a:p>
          <a:p>
            <a:pPr marL="342900" indent="-342900" algn="just">
              <a:buFont typeface="+mj-lt"/>
              <a:buAutoNum type="arabicPeriod"/>
            </a:pPr>
            <a:r>
              <a:rPr lang="en-IN" dirty="0">
                <a:cs typeface="Times New Roman" pitchFamily="18" charset="0"/>
              </a:rPr>
              <a:t>Database </a:t>
            </a:r>
          </a:p>
          <a:p>
            <a:pPr marL="800100" lvl="1" indent="-342900" algn="just">
              <a:buFont typeface="Arial" pitchFamily="34" charset="0"/>
              <a:buChar char="•"/>
            </a:pPr>
            <a:r>
              <a:rPr lang="en-IN" dirty="0">
                <a:cs typeface="Times New Roman" pitchFamily="18" charset="0"/>
              </a:rPr>
              <a:t>MySQL Database</a:t>
            </a:r>
          </a:p>
          <a:p>
            <a:pPr marL="342900" indent="-342900" algn="just">
              <a:buFont typeface="+mj-lt"/>
              <a:buAutoNum type="arabicPeriod"/>
            </a:pPr>
            <a:r>
              <a:rPr lang="en-IN" dirty="0">
                <a:cs typeface="Times New Roman" pitchFamily="18" charset="0"/>
              </a:rPr>
              <a:t>Using ODBC Driver</a:t>
            </a:r>
          </a:p>
          <a:p>
            <a:pPr marL="800100" lvl="1" indent="-342900" algn="just">
              <a:buFont typeface="Arial" pitchFamily="34" charset="0"/>
              <a:buChar char="•"/>
            </a:pPr>
            <a:r>
              <a:rPr lang="en-IN" dirty="0">
                <a:cs typeface="Times New Roman" pitchFamily="18" charset="0"/>
              </a:rPr>
              <a:t>PHP for SQL Server driver version 5.6.</a:t>
            </a:r>
          </a:p>
          <a:p>
            <a:pPr marL="800100" lvl="1" indent="-342900" algn="just">
              <a:buFont typeface="Arial" pitchFamily="34" charset="0"/>
              <a:buChar char="•"/>
            </a:pPr>
            <a:r>
              <a:rPr lang="en-IN" dirty="0">
                <a:cs typeface="Times New Roman" pitchFamily="18" charset="0"/>
              </a:rPr>
              <a:t>ODBC Driver 17+ for connecting to SQL server.</a:t>
            </a:r>
          </a:p>
          <a:p>
            <a:pPr marL="342900" indent="-342900" algn="just">
              <a:buFont typeface="+mj-lt"/>
              <a:buAutoNum type="arabicPeriod"/>
            </a:pPr>
            <a:r>
              <a:rPr lang="en-US" dirty="0">
                <a:cs typeface="Times New Roman" pitchFamily="18" charset="0"/>
              </a:rPr>
              <a:t>OS</a:t>
            </a:r>
          </a:p>
          <a:p>
            <a:pPr marL="800100" lvl="1" indent="-342900" algn="just">
              <a:buFont typeface="Arial" pitchFamily="34" charset="0"/>
              <a:buChar char="•"/>
            </a:pPr>
            <a:r>
              <a:rPr lang="en-US" dirty="0">
                <a:cs typeface="Times New Roman" pitchFamily="18" charset="0"/>
              </a:rPr>
              <a:t>Windows 10 and above.</a:t>
            </a:r>
          </a:p>
        </p:txBody>
      </p:sp>
      <p:graphicFrame>
        <p:nvGraphicFramePr>
          <p:cNvPr id="4" name="Table 3">
            <a:extLst>
              <a:ext uri="{FF2B5EF4-FFF2-40B4-BE49-F238E27FC236}">
                <a16:creationId xmlns:a16="http://schemas.microsoft.com/office/drawing/2014/main" id="{A0284431-BD70-4057-9D1D-7FB839697F39}"/>
              </a:ext>
            </a:extLst>
          </p:cNvPr>
          <p:cNvGraphicFramePr>
            <a:graphicFrameLocks noGrp="1"/>
          </p:cNvGraphicFramePr>
          <p:nvPr>
            <p:extLst>
              <p:ext uri="{D42A27DB-BD31-4B8C-83A1-F6EECF244321}">
                <p14:modId xmlns:p14="http://schemas.microsoft.com/office/powerpoint/2010/main" val="1055340344"/>
              </p:ext>
            </p:extLst>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Tree>
    <p:extLst>
      <p:ext uri="{BB962C8B-B14F-4D97-AF65-F5344CB8AC3E}">
        <p14:creationId xmlns:p14="http://schemas.microsoft.com/office/powerpoint/2010/main" val="2462956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555641"/>
          </a:xfrm>
          <a:prstGeom prst="rect">
            <a:avLst/>
          </a:prstGeom>
        </p:spPr>
        <p:txBody>
          <a:bodyPr wrap="square">
            <a:spAutoFit/>
          </a:bodyPr>
          <a:lstStyle/>
          <a:p>
            <a:pPr algn="ctr"/>
            <a:r>
              <a:rPr lang="en-US" sz="2400" b="1" dirty="0" err="1">
                <a:cs typeface="Times New Roman" pitchFamily="18" charset="0"/>
              </a:rPr>
              <a:t>ALert</a:t>
            </a:r>
            <a:r>
              <a:rPr lang="en-US" sz="2400" b="1" dirty="0">
                <a:cs typeface="Times New Roman" pitchFamily="18" charset="0"/>
              </a:rPr>
              <a:t> Module Details</a:t>
            </a:r>
            <a:endParaRPr lang="en-IN" sz="2400" b="1" dirty="0">
              <a:cs typeface="Times New Roman" pitchFamily="18" charset="0"/>
            </a:endParaRPr>
          </a:p>
          <a:p>
            <a:pPr algn="ctr"/>
            <a:endParaRPr lang="en-US" dirty="0">
              <a:cs typeface="Times New Roman" pitchFamily="18" charset="0"/>
            </a:endParaRPr>
          </a:p>
          <a:p>
            <a:pPr marL="342900" lvl="0" indent="-342900" algn="just">
              <a:buFont typeface="+mj-lt"/>
              <a:buAutoNum type="arabicPeriod"/>
            </a:pPr>
            <a:r>
              <a:rPr lang="en-US" dirty="0">
                <a:cs typeface="Times New Roman" pitchFamily="18" charset="0"/>
              </a:rPr>
              <a:t>WebApp Activities I</a:t>
            </a:r>
          </a:p>
          <a:p>
            <a:pPr marL="800100" lvl="1" indent="-342900" algn="just">
              <a:buFont typeface="Arial" pitchFamily="34" charset="0"/>
              <a:buChar char="•"/>
            </a:pPr>
            <a:r>
              <a:rPr lang="en-US" dirty="0">
                <a:cs typeface="Times New Roman" pitchFamily="18" charset="0"/>
              </a:rPr>
              <a:t>Masters</a:t>
            </a:r>
          </a:p>
          <a:p>
            <a:pPr marL="1257300" lvl="2" indent="-342900" algn="just">
              <a:buFont typeface="Arial" pitchFamily="34" charset="0"/>
              <a:buChar char="•"/>
            </a:pPr>
            <a:r>
              <a:rPr lang="en-US" dirty="0">
                <a:cs typeface="Times New Roman" pitchFamily="18" charset="0"/>
              </a:rPr>
              <a:t>Add, edit, delete users.</a:t>
            </a:r>
          </a:p>
          <a:p>
            <a:pPr marL="1257300" lvl="2" indent="-342900" algn="just">
              <a:buFont typeface="Arial" pitchFamily="34" charset="0"/>
              <a:buChar char="•"/>
            </a:pPr>
            <a:r>
              <a:rPr lang="en-US" dirty="0">
                <a:cs typeface="Times New Roman" pitchFamily="18" charset="0"/>
              </a:rPr>
              <a:t>Add, edit, delete clients.</a:t>
            </a:r>
          </a:p>
          <a:p>
            <a:pPr marL="1257300" lvl="2" indent="-342900" algn="just">
              <a:buFont typeface="Arial" pitchFamily="34" charset="0"/>
              <a:buChar char="•"/>
            </a:pPr>
            <a:r>
              <a:rPr lang="en-US" dirty="0">
                <a:cs typeface="Times New Roman" pitchFamily="18" charset="0"/>
              </a:rPr>
              <a:t>LMRA control as well as LMRA category control.</a:t>
            </a:r>
          </a:p>
          <a:p>
            <a:pPr marL="1257300" lvl="2" indent="-342900" algn="just">
              <a:buFont typeface="Arial" pitchFamily="34" charset="0"/>
              <a:buChar char="•"/>
            </a:pPr>
            <a:r>
              <a:rPr lang="en-US" dirty="0">
                <a:cs typeface="Times New Roman" pitchFamily="18" charset="0"/>
              </a:rPr>
              <a:t>Near Miss , Minor injury , Major injury Reporting and verification.</a:t>
            </a:r>
          </a:p>
          <a:p>
            <a:pPr marL="1257300" lvl="2" indent="-342900" algn="just">
              <a:buFont typeface="Arial" pitchFamily="34" charset="0"/>
              <a:buChar char="•"/>
            </a:pPr>
            <a:r>
              <a:rPr lang="en-US" dirty="0">
                <a:cs typeface="Times New Roman" pitchFamily="18" charset="0"/>
              </a:rPr>
              <a:t>Location master for add, update or delete region, cluster masters.</a:t>
            </a:r>
          </a:p>
          <a:p>
            <a:pPr marL="1257300" lvl="2" indent="-342900" algn="just">
              <a:buFont typeface="Arial" pitchFamily="34" charset="0"/>
              <a:buChar char="•"/>
            </a:pPr>
            <a:r>
              <a:rPr lang="en-US" dirty="0">
                <a:cs typeface="Times New Roman" pitchFamily="18" charset="0"/>
              </a:rPr>
              <a:t>Audit master for adding Audit templates and audit questions.</a:t>
            </a:r>
          </a:p>
          <a:p>
            <a:pPr marL="800100" lvl="1" indent="-342900" algn="just">
              <a:buFont typeface="Arial" pitchFamily="34" charset="0"/>
              <a:buChar char="•"/>
            </a:pPr>
            <a:r>
              <a:rPr lang="en-US" dirty="0">
                <a:cs typeface="Times New Roman" pitchFamily="18" charset="0"/>
              </a:rPr>
              <a:t>Random Audit</a:t>
            </a:r>
          </a:p>
          <a:p>
            <a:pPr marL="1257300" lvl="2" indent="-342900" algn="just">
              <a:buFont typeface="Arial" pitchFamily="34" charset="0"/>
              <a:buChar char="•"/>
            </a:pPr>
            <a:r>
              <a:rPr lang="en-US" dirty="0">
                <a:cs typeface="Times New Roman" pitchFamily="18" charset="0"/>
              </a:rPr>
              <a:t>Safety Audit</a:t>
            </a:r>
          </a:p>
          <a:p>
            <a:pPr marL="1714500" lvl="3" indent="-342900" algn="just">
              <a:buFont typeface="Arial" pitchFamily="34" charset="0"/>
              <a:buChar char="•"/>
            </a:pPr>
            <a:r>
              <a:rPr lang="en-US" dirty="0">
                <a:cs typeface="Times New Roman" pitchFamily="18" charset="0"/>
              </a:rPr>
              <a:t>LMRA Report</a:t>
            </a:r>
          </a:p>
          <a:p>
            <a:pPr marL="2171700" lvl="4" indent="-342900" algn="just">
              <a:buFont typeface="Arial" pitchFamily="34" charset="0"/>
              <a:buChar char="•"/>
            </a:pPr>
            <a:r>
              <a:rPr lang="en-US" dirty="0">
                <a:cs typeface="Times New Roman" pitchFamily="18" charset="0"/>
              </a:rPr>
              <a:t>List of all LMRA reports</a:t>
            </a:r>
          </a:p>
          <a:p>
            <a:pPr marL="2171700" lvl="4" indent="-342900" algn="just">
              <a:buFont typeface="Arial" pitchFamily="34" charset="0"/>
              <a:buChar char="•"/>
            </a:pPr>
            <a:r>
              <a:rPr lang="en-US" dirty="0">
                <a:cs typeface="Times New Roman" pitchFamily="18" charset="0"/>
              </a:rPr>
              <a:t>User can add report by filling up a form.</a:t>
            </a:r>
          </a:p>
          <a:p>
            <a:pPr marL="1714500" lvl="3" indent="-342900" algn="just">
              <a:buFont typeface="Arial" pitchFamily="34" charset="0"/>
              <a:buChar char="•"/>
            </a:pPr>
            <a:r>
              <a:rPr lang="en-US" dirty="0">
                <a:cs typeface="Times New Roman" pitchFamily="18" charset="0"/>
              </a:rPr>
              <a:t>Near Miss Report</a:t>
            </a:r>
          </a:p>
          <a:p>
            <a:pPr marL="2171700" lvl="4" indent="-342900" algn="just">
              <a:buFont typeface="Arial" pitchFamily="34" charset="0"/>
              <a:buChar char="•"/>
            </a:pPr>
            <a:r>
              <a:rPr lang="en-US" dirty="0">
                <a:cs typeface="Times New Roman" pitchFamily="18" charset="0"/>
              </a:rPr>
              <a:t>List of all Near Miss reports</a:t>
            </a:r>
          </a:p>
          <a:p>
            <a:pPr marL="2171700" lvl="4" indent="-342900" algn="just">
              <a:buFont typeface="Arial" pitchFamily="34" charset="0"/>
              <a:buChar char="•"/>
            </a:pPr>
            <a:r>
              <a:rPr lang="en-US" dirty="0">
                <a:cs typeface="Times New Roman" pitchFamily="18" charset="0"/>
              </a:rPr>
              <a:t>User can add report by filling up a form.</a:t>
            </a:r>
          </a:p>
          <a:p>
            <a:pPr marL="1257300" lvl="2" indent="-342900" algn="just">
              <a:buFont typeface="Arial" pitchFamily="34" charset="0"/>
              <a:buChar char="•"/>
            </a:pPr>
            <a:r>
              <a:rPr lang="en-US" dirty="0">
                <a:cs typeface="Times New Roman" pitchFamily="18" charset="0"/>
              </a:rPr>
              <a:t>Other Audit</a:t>
            </a:r>
          </a:p>
          <a:p>
            <a:pPr marL="1714500" lvl="3" indent="-342900" algn="just">
              <a:buFont typeface="Arial" pitchFamily="34" charset="0"/>
              <a:buChar char="•"/>
            </a:pPr>
            <a:r>
              <a:rPr lang="en-US" dirty="0">
                <a:cs typeface="Times New Roman" pitchFamily="18" charset="0"/>
              </a:rPr>
              <a:t>6s Audit Report</a:t>
            </a:r>
          </a:p>
          <a:p>
            <a:pPr marL="2171700" lvl="4" indent="-342900" algn="just">
              <a:buFont typeface="Arial" pitchFamily="34" charset="0"/>
              <a:buChar char="•"/>
            </a:pPr>
            <a:r>
              <a:rPr lang="en-US" dirty="0">
                <a:cs typeface="Times New Roman" pitchFamily="18" charset="0"/>
              </a:rPr>
              <a:t>List of all 6s Reports with details</a:t>
            </a:r>
          </a:p>
          <a:p>
            <a:pPr marL="2171700" lvl="4" indent="-342900" algn="just">
              <a:buFont typeface="Arial" pitchFamily="34" charset="0"/>
              <a:buChar char="•"/>
            </a:pPr>
            <a:r>
              <a:rPr lang="en-US" dirty="0">
                <a:cs typeface="Times New Roman" pitchFamily="18" charset="0"/>
              </a:rPr>
              <a:t>User can add report by filling up a form</a:t>
            </a:r>
          </a:p>
          <a:p>
            <a:pPr marL="2171700" lvl="4" indent="-342900" algn="just">
              <a:buFont typeface="Arial" pitchFamily="34" charset="0"/>
              <a:buChar char="•"/>
            </a:pPr>
            <a:endParaRPr lang="en-US" dirty="0">
              <a:cs typeface="Times New Roman" pitchFamily="18" charset="0"/>
            </a:endParaRPr>
          </a:p>
        </p:txBody>
      </p:sp>
      <p:graphicFrame>
        <p:nvGraphicFramePr>
          <p:cNvPr id="4" name="Table 3">
            <a:extLst>
              <a:ext uri="{FF2B5EF4-FFF2-40B4-BE49-F238E27FC236}">
                <a16:creationId xmlns:a16="http://schemas.microsoft.com/office/drawing/2014/main" id="{F235288C-DF69-47B8-9B52-F971AEED6D38}"/>
              </a:ext>
            </a:extLst>
          </p:cNvPr>
          <p:cNvGraphicFramePr>
            <a:graphicFrameLocks noGrp="1"/>
          </p:cNvGraphicFramePr>
          <p:nvPr>
            <p:extLst>
              <p:ext uri="{D42A27DB-BD31-4B8C-83A1-F6EECF244321}">
                <p14:modId xmlns:p14="http://schemas.microsoft.com/office/powerpoint/2010/main" val="1055340344"/>
              </p:ext>
            </p:extLst>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Tree>
    <p:extLst>
      <p:ext uri="{BB962C8B-B14F-4D97-AF65-F5344CB8AC3E}">
        <p14:creationId xmlns:p14="http://schemas.microsoft.com/office/powerpoint/2010/main" val="2079384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2667F-EC4D-F9C8-1344-3AB01765C42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C4AF951-CF59-47CB-2F41-BDF7643881F0}"/>
              </a:ext>
            </a:extLst>
          </p:cNvPr>
          <p:cNvSpPr/>
          <p:nvPr/>
        </p:nvSpPr>
        <p:spPr>
          <a:xfrm>
            <a:off x="0" y="0"/>
            <a:ext cx="12192000" cy="5724644"/>
          </a:xfrm>
          <a:prstGeom prst="rect">
            <a:avLst/>
          </a:prstGeom>
        </p:spPr>
        <p:txBody>
          <a:bodyPr wrap="square">
            <a:spAutoFit/>
          </a:bodyPr>
          <a:lstStyle/>
          <a:p>
            <a:pPr algn="ctr"/>
            <a:r>
              <a:rPr lang="en-US" sz="2400" b="1" dirty="0" err="1">
                <a:cs typeface="Times New Roman" pitchFamily="18" charset="0"/>
              </a:rPr>
              <a:t>ALert</a:t>
            </a:r>
            <a:r>
              <a:rPr lang="en-US" sz="2400" b="1" dirty="0">
                <a:cs typeface="Times New Roman" pitchFamily="18" charset="0"/>
              </a:rPr>
              <a:t> Module Details</a:t>
            </a:r>
            <a:endParaRPr lang="en-IN" sz="2400" b="1" dirty="0">
              <a:cs typeface="Times New Roman" pitchFamily="18" charset="0"/>
            </a:endParaRPr>
          </a:p>
          <a:p>
            <a:pPr algn="ctr"/>
            <a:endParaRPr lang="en-US" dirty="0">
              <a:cs typeface="Times New Roman" pitchFamily="18" charset="0"/>
            </a:endParaRPr>
          </a:p>
          <a:p>
            <a:pPr marL="342900" lvl="0" indent="-342900" algn="just">
              <a:buFont typeface="+mj-lt"/>
              <a:buAutoNum type="arabicPeriod"/>
            </a:pPr>
            <a:r>
              <a:rPr lang="en-US" dirty="0">
                <a:cs typeface="Times New Roman" pitchFamily="18" charset="0"/>
              </a:rPr>
              <a:t>WebApp Activities II</a:t>
            </a:r>
          </a:p>
          <a:p>
            <a:pPr marL="800100" lvl="1" indent="-342900" algn="just">
              <a:buFont typeface="Arial" pitchFamily="34" charset="0"/>
              <a:buChar char="•"/>
            </a:pPr>
            <a:r>
              <a:rPr lang="en-US" dirty="0">
                <a:cs typeface="Times New Roman" pitchFamily="18" charset="0"/>
              </a:rPr>
              <a:t>Structure Audit</a:t>
            </a:r>
          </a:p>
          <a:p>
            <a:pPr marL="1257300" lvl="2" indent="-342900" algn="just">
              <a:buFont typeface="Arial" pitchFamily="34" charset="0"/>
              <a:buChar char="•"/>
            </a:pPr>
            <a:r>
              <a:rPr lang="en-US" dirty="0">
                <a:cs typeface="Times New Roman" pitchFamily="18" charset="0"/>
              </a:rPr>
              <a:t>Audit template</a:t>
            </a:r>
          </a:p>
          <a:p>
            <a:pPr marL="1714500" lvl="3" indent="-342900" algn="just">
              <a:buFont typeface="Arial" pitchFamily="34" charset="0"/>
              <a:buChar char="•"/>
            </a:pPr>
            <a:r>
              <a:rPr lang="en-US" dirty="0">
                <a:cs typeface="Times New Roman" pitchFamily="18" charset="0"/>
              </a:rPr>
              <a:t>Shows list of all Audit templates available for all audit types like Normal, OE &amp; HSC.</a:t>
            </a:r>
          </a:p>
          <a:p>
            <a:pPr marL="1714500" lvl="3" indent="-342900" algn="just">
              <a:buFont typeface="Arial" pitchFamily="34" charset="0"/>
              <a:buChar char="•"/>
            </a:pPr>
            <a:r>
              <a:rPr lang="en-US" dirty="0">
                <a:cs typeface="Times New Roman" pitchFamily="18" charset="0"/>
              </a:rPr>
              <a:t>Auditor can directly perform audit also can view the audit template.</a:t>
            </a:r>
          </a:p>
          <a:p>
            <a:pPr marL="1714500" lvl="3" indent="-342900" algn="just">
              <a:buFont typeface="Arial" pitchFamily="34" charset="0"/>
              <a:buChar char="•"/>
            </a:pPr>
            <a:r>
              <a:rPr lang="en-US" dirty="0">
                <a:cs typeface="Times New Roman" pitchFamily="18" charset="0"/>
              </a:rPr>
              <a:t>Filters with search options are also provided in order to check respective audit templates as per audit type.</a:t>
            </a:r>
          </a:p>
          <a:p>
            <a:pPr marL="1257300" lvl="2" indent="-342900" algn="just">
              <a:buFont typeface="Arial" pitchFamily="34" charset="0"/>
              <a:buChar char="•"/>
            </a:pPr>
            <a:r>
              <a:rPr lang="en-US" dirty="0">
                <a:cs typeface="Times New Roman" pitchFamily="18" charset="0"/>
              </a:rPr>
              <a:t>Normal Audit</a:t>
            </a:r>
          </a:p>
          <a:p>
            <a:pPr marL="1714500" lvl="3" indent="-342900" algn="just">
              <a:buFont typeface="Arial" pitchFamily="34" charset="0"/>
              <a:buChar char="•"/>
            </a:pPr>
            <a:r>
              <a:rPr lang="en-US" dirty="0">
                <a:cs typeface="Times New Roman" pitchFamily="18" charset="0"/>
              </a:rPr>
              <a:t>All the normal audits perform by auditors are displayed here.</a:t>
            </a:r>
          </a:p>
          <a:p>
            <a:pPr marL="1714500" lvl="3" indent="-342900" algn="just">
              <a:buFont typeface="Arial" pitchFamily="34" charset="0"/>
              <a:buChar char="•"/>
            </a:pPr>
            <a:r>
              <a:rPr lang="en-US" dirty="0">
                <a:cs typeface="Times New Roman" pitchFamily="18" charset="0"/>
              </a:rPr>
              <a:t>Auditor can perform reaudit, while all the other users can download the audit report in PDF format.</a:t>
            </a:r>
          </a:p>
          <a:p>
            <a:pPr marL="1714500" lvl="3" indent="-342900" algn="just">
              <a:buFont typeface="Arial" pitchFamily="34" charset="0"/>
              <a:buChar char="•"/>
            </a:pPr>
            <a:r>
              <a:rPr lang="en-US" dirty="0">
                <a:cs typeface="Times New Roman" pitchFamily="18" charset="0"/>
              </a:rPr>
              <a:t>Filters are given for audits which have no NC and with NC’s with generic search options.</a:t>
            </a:r>
          </a:p>
          <a:p>
            <a:pPr marL="1257300" lvl="2" indent="-342900" algn="just">
              <a:buFont typeface="Arial" pitchFamily="34" charset="0"/>
              <a:buChar char="•"/>
            </a:pPr>
            <a:r>
              <a:rPr lang="en-US" dirty="0">
                <a:cs typeface="Times New Roman" pitchFamily="18" charset="0"/>
              </a:rPr>
              <a:t>HSE Audit</a:t>
            </a:r>
          </a:p>
          <a:p>
            <a:pPr marL="1714500" lvl="3" indent="-342900" algn="just">
              <a:buFont typeface="Arial" pitchFamily="34" charset="0"/>
              <a:buChar char="•"/>
            </a:pPr>
            <a:r>
              <a:rPr lang="en-US" dirty="0">
                <a:cs typeface="Times New Roman" pitchFamily="18" charset="0"/>
              </a:rPr>
              <a:t>List of all audits with all necessary details are displayed here.</a:t>
            </a:r>
          </a:p>
          <a:p>
            <a:pPr marL="1714500" lvl="3" indent="-342900" algn="just">
              <a:buFont typeface="Arial" pitchFamily="34" charset="0"/>
              <a:buChar char="•"/>
            </a:pPr>
            <a:r>
              <a:rPr lang="en-US" dirty="0">
                <a:cs typeface="Times New Roman" pitchFamily="18" charset="0"/>
              </a:rPr>
              <a:t>Auditor can perform reaudit, while all the other users can download the audit report in PDF format.</a:t>
            </a:r>
          </a:p>
          <a:p>
            <a:pPr marL="1714500" lvl="3" indent="-342900" algn="just">
              <a:buFont typeface="Arial" pitchFamily="34" charset="0"/>
              <a:buChar char="•"/>
            </a:pPr>
            <a:r>
              <a:rPr lang="en-US" dirty="0">
                <a:cs typeface="Times New Roman" pitchFamily="18" charset="0"/>
              </a:rPr>
              <a:t>Filters are given for audits which have no NC and with NC’s and recommendation with generic search options.</a:t>
            </a:r>
          </a:p>
          <a:p>
            <a:pPr marL="1257300" lvl="2" indent="-342900" algn="just">
              <a:buFont typeface="Arial" pitchFamily="34" charset="0"/>
              <a:buChar char="•"/>
            </a:pPr>
            <a:r>
              <a:rPr lang="en-US" dirty="0">
                <a:cs typeface="Times New Roman" pitchFamily="18" charset="0"/>
              </a:rPr>
              <a:t>Reaudit</a:t>
            </a:r>
          </a:p>
          <a:p>
            <a:pPr marL="1714500" lvl="3" indent="-342900" algn="just">
              <a:buFont typeface="Arial" pitchFamily="34" charset="0"/>
              <a:buChar char="•"/>
            </a:pPr>
            <a:r>
              <a:rPr lang="en-US" dirty="0">
                <a:cs typeface="Times New Roman" pitchFamily="18" charset="0"/>
              </a:rPr>
              <a:t>Here the list of all old audits on who reaudit has been preformed are shown.</a:t>
            </a:r>
          </a:p>
          <a:p>
            <a:pPr marL="1714500" lvl="3" indent="-342900" algn="just">
              <a:buFont typeface="Arial" pitchFamily="34" charset="0"/>
              <a:buChar char="•"/>
            </a:pPr>
            <a:r>
              <a:rPr lang="en-US" dirty="0">
                <a:cs typeface="Times New Roman" pitchFamily="18" charset="0"/>
              </a:rPr>
              <a:t>Filter given to choose between Normal, OE and HSC audits for reaudit views.</a:t>
            </a:r>
          </a:p>
          <a:p>
            <a:pPr marL="1714500" lvl="3" indent="-342900" algn="just">
              <a:buFont typeface="Arial" pitchFamily="34" charset="0"/>
              <a:buChar char="•"/>
            </a:pPr>
            <a:r>
              <a:rPr lang="en-US" dirty="0">
                <a:cs typeface="Times New Roman" pitchFamily="18" charset="0"/>
              </a:rPr>
              <a:t>Users can download the report in PDF format for any audit.</a:t>
            </a:r>
          </a:p>
        </p:txBody>
      </p:sp>
      <p:graphicFrame>
        <p:nvGraphicFramePr>
          <p:cNvPr id="4" name="Table 3">
            <a:extLst>
              <a:ext uri="{FF2B5EF4-FFF2-40B4-BE49-F238E27FC236}">
                <a16:creationId xmlns:a16="http://schemas.microsoft.com/office/drawing/2014/main" id="{A4B62E51-7B45-0F77-CD9C-F73A55F96B7F}"/>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Tree>
    <p:extLst>
      <p:ext uri="{BB962C8B-B14F-4D97-AF65-F5344CB8AC3E}">
        <p14:creationId xmlns:p14="http://schemas.microsoft.com/office/powerpoint/2010/main" val="2211156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7A9B4-F8FF-B3EA-4ABC-374F4F05CB6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1938275-842D-1140-1E43-29AC1FD27088}"/>
              </a:ext>
            </a:extLst>
          </p:cNvPr>
          <p:cNvSpPr/>
          <p:nvPr/>
        </p:nvSpPr>
        <p:spPr>
          <a:xfrm>
            <a:off x="0" y="0"/>
            <a:ext cx="12192000" cy="2954655"/>
          </a:xfrm>
          <a:prstGeom prst="rect">
            <a:avLst/>
          </a:prstGeom>
        </p:spPr>
        <p:txBody>
          <a:bodyPr wrap="square">
            <a:spAutoFit/>
          </a:bodyPr>
          <a:lstStyle/>
          <a:p>
            <a:pPr algn="ctr"/>
            <a:r>
              <a:rPr lang="en-US" sz="2400" b="1" dirty="0" err="1">
                <a:cs typeface="Times New Roman" pitchFamily="18" charset="0"/>
              </a:rPr>
              <a:t>ALert</a:t>
            </a:r>
            <a:r>
              <a:rPr lang="en-US" sz="2400" b="1" dirty="0">
                <a:cs typeface="Times New Roman" pitchFamily="18" charset="0"/>
              </a:rPr>
              <a:t> Module Details</a:t>
            </a:r>
            <a:endParaRPr lang="en-IN" sz="2400" b="1" dirty="0">
              <a:cs typeface="Times New Roman" pitchFamily="18" charset="0"/>
            </a:endParaRPr>
          </a:p>
          <a:p>
            <a:pPr algn="ctr"/>
            <a:endParaRPr lang="en-US" dirty="0">
              <a:cs typeface="Times New Roman" pitchFamily="18" charset="0"/>
            </a:endParaRPr>
          </a:p>
          <a:p>
            <a:pPr marL="342900" lvl="0" indent="-342900" algn="just">
              <a:buFont typeface="+mj-lt"/>
              <a:buAutoNum type="arabicPeriod"/>
            </a:pPr>
            <a:r>
              <a:rPr lang="en-US" dirty="0">
                <a:cs typeface="Times New Roman" pitchFamily="18" charset="0"/>
              </a:rPr>
              <a:t>WebApp Activities III</a:t>
            </a:r>
          </a:p>
          <a:p>
            <a:pPr marL="800100" lvl="1" indent="-342900" algn="just">
              <a:buFont typeface="Arial" pitchFamily="34" charset="0"/>
              <a:buChar char="•"/>
            </a:pPr>
            <a:r>
              <a:rPr lang="en-US" dirty="0">
                <a:cs typeface="Times New Roman" pitchFamily="18" charset="0"/>
              </a:rPr>
              <a:t>OE NC Tracker</a:t>
            </a:r>
          </a:p>
          <a:p>
            <a:pPr marL="1257300" lvl="2" indent="-342900" algn="just">
              <a:buFont typeface="Arial" pitchFamily="34" charset="0"/>
              <a:buChar char="•"/>
            </a:pPr>
            <a:r>
              <a:rPr lang="en-US" dirty="0">
                <a:cs typeface="Times New Roman" pitchFamily="18" charset="0"/>
              </a:rPr>
              <a:t>All the </a:t>
            </a:r>
            <a:r>
              <a:rPr lang="en-US" dirty="0" err="1">
                <a:cs typeface="Times New Roman" pitchFamily="18" charset="0"/>
              </a:rPr>
              <a:t>nc</a:t>
            </a:r>
            <a:r>
              <a:rPr lang="en-US" dirty="0">
                <a:cs typeface="Times New Roman" pitchFamily="18" charset="0"/>
              </a:rPr>
              <a:t> are listed here.</a:t>
            </a:r>
          </a:p>
          <a:p>
            <a:pPr marL="1257300" lvl="2" indent="-342900" algn="just">
              <a:buFont typeface="Arial" pitchFamily="34" charset="0"/>
              <a:buChar char="•"/>
            </a:pPr>
            <a:r>
              <a:rPr lang="en-US" dirty="0">
                <a:cs typeface="Times New Roman" pitchFamily="18" charset="0"/>
              </a:rPr>
              <a:t>As per role the NC’s and their relevant actions are defined here.</a:t>
            </a:r>
          </a:p>
          <a:p>
            <a:pPr marL="1257300" lvl="2" indent="-342900" algn="just">
              <a:buFont typeface="Arial" pitchFamily="34" charset="0"/>
              <a:buChar char="•"/>
            </a:pPr>
            <a:r>
              <a:rPr lang="en-US" dirty="0">
                <a:cs typeface="Times New Roman" pitchFamily="18" charset="0"/>
              </a:rPr>
              <a:t>Firstly, there is a dependent filter for viewing NC’s from Specific region, Cluster, Location and from specific month, user other than cluster manager and WH-Manager can view all the data. Cluster manager and WH-Manger will be able to see the NC’s </a:t>
            </a:r>
          </a:p>
          <a:p>
            <a:pPr marL="1257300" lvl="2" indent="-342900" algn="just">
              <a:buFont typeface="Arial" pitchFamily="34" charset="0"/>
              <a:buChar char="•"/>
            </a:pPr>
            <a:endParaRPr lang="en-US" dirty="0">
              <a:cs typeface="Times New Roman" pitchFamily="18" charset="0"/>
            </a:endParaRPr>
          </a:p>
        </p:txBody>
      </p:sp>
      <p:graphicFrame>
        <p:nvGraphicFramePr>
          <p:cNvPr id="4" name="Table 3">
            <a:extLst>
              <a:ext uri="{FF2B5EF4-FFF2-40B4-BE49-F238E27FC236}">
                <a16:creationId xmlns:a16="http://schemas.microsoft.com/office/drawing/2014/main" id="{44216E46-FB24-9FD1-B148-1CB3556317C2}"/>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Tree>
    <p:extLst>
      <p:ext uri="{BB962C8B-B14F-4D97-AF65-F5344CB8AC3E}">
        <p14:creationId xmlns:p14="http://schemas.microsoft.com/office/powerpoint/2010/main" val="2412959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3323987"/>
          </a:xfrm>
          <a:prstGeom prst="rect">
            <a:avLst/>
          </a:prstGeom>
        </p:spPr>
        <p:txBody>
          <a:bodyPr wrap="square">
            <a:spAutoFit/>
          </a:bodyPr>
          <a:lstStyle/>
          <a:p>
            <a:pPr algn="ctr"/>
            <a:r>
              <a:rPr lang="en-US" sz="2400" b="1" dirty="0">
                <a:cs typeface="Times New Roman" pitchFamily="18" charset="0"/>
              </a:rPr>
              <a:t>Registration and Login Module </a:t>
            </a:r>
            <a:r>
              <a:rPr lang="en-US" dirty="0">
                <a:cs typeface="Times New Roman" pitchFamily="18" charset="0"/>
              </a:rPr>
              <a:t> </a:t>
            </a:r>
          </a:p>
          <a:p>
            <a:pPr algn="ctr"/>
            <a:endParaRPr lang="en-IN" sz="2400" dirty="0">
              <a:cs typeface="Times New Roman" pitchFamily="18" charset="0"/>
            </a:endParaRPr>
          </a:p>
          <a:p>
            <a:pPr marL="342900" indent="-342900" algn="just">
              <a:buFont typeface="+mj-lt"/>
              <a:buAutoNum type="arabicPeriod"/>
            </a:pPr>
            <a:r>
              <a:rPr lang="en-US" dirty="0">
                <a:cs typeface="Times New Roman" pitchFamily="18" charset="0"/>
              </a:rPr>
              <a:t>Registration</a:t>
            </a:r>
            <a:endParaRPr lang="en-IN" dirty="0">
              <a:cs typeface="Times New Roman" pitchFamily="18" charset="0"/>
            </a:endParaRPr>
          </a:p>
          <a:p>
            <a:pPr marL="800100" lvl="1" indent="-342900" algn="just">
              <a:buFont typeface="Arial" pitchFamily="34" charset="0"/>
              <a:buChar char="•"/>
            </a:pPr>
            <a:r>
              <a:rPr lang="en-US" dirty="0">
                <a:cs typeface="Times New Roman" pitchFamily="18" charset="0"/>
              </a:rPr>
              <a:t>Only admin has the right to create a login of any employee for using this application.</a:t>
            </a:r>
            <a:endParaRPr lang="en-IN" dirty="0">
              <a:cs typeface="Times New Roman" pitchFamily="18" charset="0"/>
            </a:endParaRPr>
          </a:p>
          <a:p>
            <a:pPr marL="800100" lvl="1" indent="-342900" algn="just">
              <a:buFont typeface="Arial" pitchFamily="34" charset="0"/>
              <a:buChar char="•"/>
            </a:pPr>
            <a:r>
              <a:rPr lang="en-US" dirty="0">
                <a:cs typeface="Times New Roman" pitchFamily="18" charset="0"/>
              </a:rPr>
              <a:t>Also, when a user tries to login with new credentials, his/her hardware device specification are noted at the admin panel and if the admin grants permission for specific accounts from the admin panel after that user can use the application. Until then the user can’t use the application. </a:t>
            </a:r>
            <a:endParaRPr lang="en-IN" dirty="0">
              <a:cs typeface="Times New Roman" pitchFamily="18" charset="0"/>
            </a:endParaRPr>
          </a:p>
          <a:p>
            <a:pPr marL="800100" lvl="1" indent="-342900" algn="just">
              <a:buFont typeface="Arial" pitchFamily="34" charset="0"/>
              <a:buChar char="•"/>
            </a:pPr>
            <a:r>
              <a:rPr lang="en-US" dirty="0">
                <a:cs typeface="Times New Roman" pitchFamily="18" charset="0"/>
              </a:rPr>
              <a:t>If the admin denies/deactivates the permission for specific hardware, then the user will not be able to login from that same device again till the admin activates that hardware again.</a:t>
            </a:r>
            <a:endParaRPr lang="en-IN" dirty="0">
              <a:cs typeface="Times New Roman" pitchFamily="18" charset="0"/>
            </a:endParaRPr>
          </a:p>
          <a:p>
            <a:pPr marL="342900" indent="-342900" algn="just">
              <a:buFont typeface="+mj-lt"/>
              <a:buAutoNum type="arabicPeriod"/>
            </a:pPr>
            <a:r>
              <a:rPr lang="en-US" dirty="0">
                <a:cs typeface="Times New Roman" pitchFamily="18" charset="0"/>
              </a:rPr>
              <a:t>Login</a:t>
            </a:r>
            <a:endParaRPr lang="en-IN" dirty="0">
              <a:cs typeface="Times New Roman" pitchFamily="18" charset="0"/>
            </a:endParaRPr>
          </a:p>
          <a:p>
            <a:pPr marL="800100" lvl="1" indent="-342900" algn="just">
              <a:buFont typeface="Arial" pitchFamily="34" charset="0"/>
              <a:buChar char="•"/>
            </a:pPr>
            <a:r>
              <a:rPr lang="en-US" dirty="0">
                <a:cs typeface="Times New Roman" pitchFamily="18" charset="0"/>
              </a:rPr>
              <a:t>After granting the permission for specific hardware, user can login and use the application.</a:t>
            </a:r>
            <a:endParaRPr lang="en-IN" dirty="0">
              <a:cs typeface="Times New Roman" pitchFamily="18" charset="0"/>
            </a:endParaRPr>
          </a:p>
        </p:txBody>
      </p:sp>
      <p:graphicFrame>
        <p:nvGraphicFramePr>
          <p:cNvPr id="4" name="Table 3">
            <a:extLst>
              <a:ext uri="{FF2B5EF4-FFF2-40B4-BE49-F238E27FC236}">
                <a16:creationId xmlns:a16="http://schemas.microsoft.com/office/drawing/2014/main" id="{9FCCF1E9-1F03-4A5C-8E90-27C44443382C}"/>
              </a:ext>
            </a:extLst>
          </p:cNvPr>
          <p:cNvGraphicFramePr>
            <a:graphicFrameLocks noGrp="1"/>
          </p:cNvGraphicFramePr>
          <p:nvPr>
            <p:extLst>
              <p:ext uri="{D42A27DB-BD31-4B8C-83A1-F6EECF244321}">
                <p14:modId xmlns:p14="http://schemas.microsoft.com/office/powerpoint/2010/main" val="1055340344"/>
              </p:ext>
            </p:extLst>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Tree>
    <p:extLst>
      <p:ext uri="{BB962C8B-B14F-4D97-AF65-F5344CB8AC3E}">
        <p14:creationId xmlns:p14="http://schemas.microsoft.com/office/powerpoint/2010/main" val="888528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329"/>
            <a:ext cx="12192000" cy="4985980"/>
          </a:xfrm>
          <a:prstGeom prst="rect">
            <a:avLst/>
          </a:prstGeom>
        </p:spPr>
        <p:txBody>
          <a:bodyPr wrap="square">
            <a:spAutoFit/>
          </a:bodyPr>
          <a:lstStyle/>
          <a:p>
            <a:pPr lvl="0" algn="ctr"/>
            <a:r>
              <a:rPr lang="en-US" sz="2400" b="1" dirty="0">
                <a:cs typeface="Times New Roman" pitchFamily="18" charset="0"/>
              </a:rPr>
              <a:t>LMRA (Last Minute Risk Assessment) Module</a:t>
            </a:r>
          </a:p>
          <a:p>
            <a:pPr lvl="0" algn="ctr"/>
            <a:endParaRPr lang="en-US" sz="2400" dirty="0">
              <a:cs typeface="Times New Roman" pitchFamily="18" charset="0"/>
            </a:endParaRPr>
          </a:p>
          <a:p>
            <a:pPr marL="342900" indent="-342900">
              <a:buFont typeface="+mj-lt"/>
              <a:buAutoNum type="arabicPeriod"/>
            </a:pPr>
            <a:r>
              <a:rPr lang="en-US" dirty="0">
                <a:cs typeface="Times New Roman" pitchFamily="18" charset="0"/>
              </a:rPr>
              <a:t>Add New LMRA</a:t>
            </a:r>
            <a:endParaRPr lang="en-IN" dirty="0">
              <a:cs typeface="Times New Roman" pitchFamily="18" charset="0"/>
            </a:endParaRPr>
          </a:p>
          <a:p>
            <a:pPr marL="800100" lvl="1" indent="-342900">
              <a:buFont typeface="Arial" pitchFamily="34" charset="0"/>
              <a:buChar char="•"/>
            </a:pPr>
            <a:r>
              <a:rPr lang="en-US" dirty="0">
                <a:cs typeface="Times New Roman" pitchFamily="18" charset="0"/>
              </a:rPr>
              <a:t>All the engineers have privileges to add LMRA report. </a:t>
            </a:r>
            <a:endParaRPr lang="en-IN" dirty="0">
              <a:cs typeface="Times New Roman" pitchFamily="18" charset="0"/>
            </a:endParaRPr>
          </a:p>
          <a:p>
            <a:pPr marL="800100" lvl="1" indent="-342900">
              <a:buFont typeface="Arial" pitchFamily="34" charset="0"/>
              <a:buChar char="•"/>
            </a:pPr>
            <a:r>
              <a:rPr lang="en-US" dirty="0">
                <a:cs typeface="Times New Roman" pitchFamily="18" charset="0"/>
              </a:rPr>
              <a:t>The user can allocate the LMRA to his/her fellow engineer. If he/she has been allocated the LMRA, then the allocated user can chat in private with the authorized person on that issue.</a:t>
            </a:r>
          </a:p>
          <a:p>
            <a:pPr marL="342900" indent="-342900">
              <a:buFont typeface="+mj-lt"/>
              <a:buAutoNum type="arabicPeriod"/>
            </a:pPr>
            <a:r>
              <a:rPr lang="en-US" dirty="0">
                <a:cs typeface="Times New Roman" pitchFamily="18" charset="0"/>
              </a:rPr>
              <a:t>Verify Reported LMRA </a:t>
            </a:r>
          </a:p>
          <a:p>
            <a:pPr marL="800100" lvl="1" indent="-342900">
              <a:buFont typeface="Arial" pitchFamily="34" charset="0"/>
              <a:buChar char="•"/>
            </a:pPr>
            <a:r>
              <a:rPr lang="en-US" dirty="0">
                <a:cs typeface="Times New Roman" pitchFamily="18" charset="0"/>
              </a:rPr>
              <a:t>Admin need to be </a:t>
            </a:r>
            <a:r>
              <a:rPr lang="en-US" b="1" dirty="0">
                <a:cs typeface="Times New Roman" pitchFamily="18" charset="0"/>
              </a:rPr>
              <a:t>Approved</a:t>
            </a:r>
            <a:r>
              <a:rPr lang="en-US" dirty="0">
                <a:cs typeface="Times New Roman" pitchFamily="18" charset="0"/>
              </a:rPr>
              <a:t> reported </a:t>
            </a:r>
            <a:r>
              <a:rPr lang="en-US" b="1" dirty="0">
                <a:cs typeface="Times New Roman" pitchFamily="18" charset="0"/>
              </a:rPr>
              <a:t>LMRA </a:t>
            </a:r>
            <a:r>
              <a:rPr lang="en-US" dirty="0">
                <a:cs typeface="Times New Roman" pitchFamily="18" charset="0"/>
              </a:rPr>
              <a:t>then it can be visible to all users.</a:t>
            </a:r>
          </a:p>
          <a:p>
            <a:pPr marL="800100" lvl="1" indent="-342900">
              <a:buFont typeface="Arial" pitchFamily="34" charset="0"/>
              <a:buChar char="•"/>
            </a:pPr>
            <a:r>
              <a:rPr lang="en-US" dirty="0">
                <a:cs typeface="Times New Roman" pitchFamily="18" charset="0"/>
              </a:rPr>
              <a:t>If admin not verify this reported </a:t>
            </a:r>
            <a:r>
              <a:rPr lang="en-US" b="1" dirty="0">
                <a:cs typeface="Times New Roman" pitchFamily="18" charset="0"/>
              </a:rPr>
              <a:t>LMRA,</a:t>
            </a:r>
            <a:r>
              <a:rPr lang="en-US" dirty="0">
                <a:cs typeface="Times New Roman" pitchFamily="18" charset="0"/>
              </a:rPr>
              <a:t> then again fill-up a new form and submit a new report.</a:t>
            </a:r>
            <a:endParaRPr lang="en-IN" dirty="0">
              <a:cs typeface="Times New Roman" pitchFamily="18" charset="0"/>
            </a:endParaRPr>
          </a:p>
          <a:p>
            <a:pPr marL="342900" indent="-342900">
              <a:buFont typeface="+mj-lt"/>
              <a:buAutoNum type="arabicPeriod"/>
            </a:pPr>
            <a:r>
              <a:rPr lang="en-US" dirty="0">
                <a:cs typeface="Times New Roman" pitchFamily="18" charset="0"/>
              </a:rPr>
              <a:t>View LMRA</a:t>
            </a:r>
            <a:endParaRPr lang="en-IN" dirty="0">
              <a:cs typeface="Times New Roman" pitchFamily="18" charset="0"/>
            </a:endParaRPr>
          </a:p>
          <a:p>
            <a:pPr marL="800100" lvl="1" indent="-342900">
              <a:buFont typeface="Arial" pitchFamily="34" charset="0"/>
              <a:buChar char="•"/>
            </a:pPr>
            <a:r>
              <a:rPr lang="en-US" dirty="0">
                <a:cs typeface="Times New Roman" pitchFamily="18" charset="0"/>
              </a:rPr>
              <a:t>All the users in that specific zone/Area can only view </a:t>
            </a:r>
            <a:r>
              <a:rPr lang="en-US" b="1" dirty="0">
                <a:cs typeface="Times New Roman" pitchFamily="18" charset="0"/>
              </a:rPr>
              <a:t>LMRA</a:t>
            </a:r>
            <a:r>
              <a:rPr lang="en-US" dirty="0">
                <a:cs typeface="Times New Roman" pitchFamily="18" charset="0"/>
              </a:rPr>
              <a:t> reports.</a:t>
            </a:r>
          </a:p>
          <a:p>
            <a:pPr marL="800100" lvl="1" indent="-342900">
              <a:buFont typeface="Arial" pitchFamily="34" charset="0"/>
              <a:buChar char="•"/>
            </a:pPr>
            <a:r>
              <a:rPr lang="en-US" dirty="0">
                <a:cs typeface="Times New Roman" pitchFamily="18" charset="0"/>
              </a:rPr>
              <a:t>They can also share the </a:t>
            </a:r>
            <a:r>
              <a:rPr lang="en-US" b="1" dirty="0">
                <a:cs typeface="Times New Roman" pitchFamily="18" charset="0"/>
              </a:rPr>
              <a:t>PDF</a:t>
            </a:r>
            <a:r>
              <a:rPr lang="en-US" dirty="0">
                <a:cs typeface="Times New Roman" pitchFamily="18" charset="0"/>
              </a:rPr>
              <a:t> of </a:t>
            </a:r>
            <a:r>
              <a:rPr lang="en-US" b="1" dirty="0">
                <a:cs typeface="Times New Roman" pitchFamily="18" charset="0"/>
              </a:rPr>
              <a:t>LMRA</a:t>
            </a:r>
            <a:r>
              <a:rPr lang="en-US" dirty="0">
                <a:cs typeface="Times New Roman" pitchFamily="18" charset="0"/>
              </a:rPr>
              <a:t> by mail.</a:t>
            </a:r>
          </a:p>
          <a:p>
            <a:pPr marL="342900" indent="-342900">
              <a:buFont typeface="+mj-lt"/>
              <a:buAutoNum type="arabicPeriod"/>
            </a:pPr>
            <a:r>
              <a:rPr lang="en-US" dirty="0">
                <a:cs typeface="Times New Roman" pitchFamily="18" charset="0"/>
              </a:rPr>
              <a:t>Comment on LMRA</a:t>
            </a:r>
            <a:endParaRPr lang="en-IN" dirty="0">
              <a:cs typeface="Times New Roman" pitchFamily="18" charset="0"/>
            </a:endParaRPr>
          </a:p>
          <a:p>
            <a:pPr marL="800100" lvl="1" indent="-342900">
              <a:buFont typeface="Arial" pitchFamily="34" charset="0"/>
              <a:buChar char="•"/>
            </a:pPr>
            <a:r>
              <a:rPr lang="en-US" dirty="0">
                <a:cs typeface="Times New Roman" pitchFamily="18" charset="0"/>
              </a:rPr>
              <a:t>All the user in that specific zone can comment on LMRA report.</a:t>
            </a:r>
            <a:endParaRPr lang="en-IN" dirty="0">
              <a:cs typeface="Times New Roman" pitchFamily="18" charset="0"/>
            </a:endParaRPr>
          </a:p>
          <a:p>
            <a:pPr marL="342900" indent="-342900">
              <a:buFont typeface="+mj-lt"/>
              <a:buAutoNum type="arabicPeriod"/>
            </a:pPr>
            <a:r>
              <a:rPr lang="en-US" dirty="0">
                <a:cs typeface="Times New Roman" pitchFamily="18" charset="0"/>
              </a:rPr>
              <a:t>Automatic Email when </a:t>
            </a:r>
            <a:r>
              <a:rPr lang="en-US" b="1" dirty="0">
                <a:cs typeface="Times New Roman" pitchFamily="18" charset="0"/>
              </a:rPr>
              <a:t>High</a:t>
            </a:r>
            <a:r>
              <a:rPr lang="en-US" dirty="0">
                <a:cs typeface="Times New Roman" pitchFamily="18" charset="0"/>
              </a:rPr>
              <a:t> risk work and </a:t>
            </a:r>
            <a:r>
              <a:rPr lang="en-US" b="1" dirty="0">
                <a:cs typeface="Times New Roman" pitchFamily="18" charset="0"/>
              </a:rPr>
              <a:t>low </a:t>
            </a:r>
            <a:r>
              <a:rPr lang="en-US" dirty="0">
                <a:cs typeface="Times New Roman" pitchFamily="18" charset="0"/>
              </a:rPr>
              <a:t>security </a:t>
            </a:r>
            <a:endParaRPr lang="en-IN" dirty="0">
              <a:cs typeface="Times New Roman" pitchFamily="18" charset="0"/>
            </a:endParaRPr>
          </a:p>
          <a:p>
            <a:pPr marL="800100" lvl="1" indent="-342900">
              <a:buFont typeface="Arial" pitchFamily="34" charset="0"/>
              <a:buChar char="•"/>
            </a:pPr>
            <a:r>
              <a:rPr lang="en-US" dirty="0">
                <a:cs typeface="Times New Roman" pitchFamily="18" charset="0"/>
              </a:rPr>
              <a:t>In the case of High Severity and Low (or Zero) precautions the system-generated mail will be shot to higher authority mentioning the immediate actions.</a:t>
            </a:r>
            <a:endParaRPr lang="en-IN" dirty="0">
              <a:cs typeface="Times New Roman" pitchFamily="18" charset="0"/>
            </a:endParaRPr>
          </a:p>
        </p:txBody>
      </p:sp>
      <p:graphicFrame>
        <p:nvGraphicFramePr>
          <p:cNvPr id="4" name="Table 3">
            <a:extLst>
              <a:ext uri="{FF2B5EF4-FFF2-40B4-BE49-F238E27FC236}">
                <a16:creationId xmlns:a16="http://schemas.microsoft.com/office/drawing/2014/main" id="{B6FDCE64-D222-4CD6-8A84-5E51650C1D26}"/>
              </a:ext>
            </a:extLst>
          </p:cNvPr>
          <p:cNvGraphicFramePr>
            <a:graphicFrameLocks noGrp="1"/>
          </p:cNvGraphicFramePr>
          <p:nvPr>
            <p:extLst>
              <p:ext uri="{D42A27DB-BD31-4B8C-83A1-F6EECF244321}">
                <p14:modId xmlns:p14="http://schemas.microsoft.com/office/powerpoint/2010/main" val="1055340344"/>
              </p:ext>
            </p:extLst>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Tree>
    <p:extLst>
      <p:ext uri="{BB962C8B-B14F-4D97-AF65-F5344CB8AC3E}">
        <p14:creationId xmlns:p14="http://schemas.microsoft.com/office/powerpoint/2010/main" val="2420543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329"/>
            <a:ext cx="12192000" cy="4708981"/>
          </a:xfrm>
          <a:prstGeom prst="rect">
            <a:avLst/>
          </a:prstGeom>
        </p:spPr>
        <p:txBody>
          <a:bodyPr wrap="square">
            <a:spAutoFit/>
          </a:bodyPr>
          <a:lstStyle/>
          <a:p>
            <a:pPr lvl="0" algn="ctr"/>
            <a:r>
              <a:rPr lang="en-US" sz="2400" b="1" dirty="0">
                <a:cs typeface="Times New Roman" pitchFamily="18" charset="0"/>
              </a:rPr>
              <a:t>Near Miss Module</a:t>
            </a:r>
          </a:p>
          <a:p>
            <a:pPr lvl="0" algn="ctr"/>
            <a:endParaRPr lang="en-US" sz="2400" dirty="0">
              <a:cs typeface="Times New Roman" pitchFamily="18" charset="0"/>
            </a:endParaRPr>
          </a:p>
          <a:p>
            <a:pPr marL="342900" indent="-342900">
              <a:buFont typeface="+mj-lt"/>
              <a:buAutoNum type="arabicPeriod"/>
            </a:pPr>
            <a:r>
              <a:rPr lang="en-US" dirty="0">
                <a:cs typeface="Times New Roman" pitchFamily="18" charset="0"/>
              </a:rPr>
              <a:t>Add New Near Miss, Minor injury, Loss time injury </a:t>
            </a:r>
            <a:endParaRPr lang="en-IN" dirty="0">
              <a:cs typeface="Times New Roman" pitchFamily="18" charset="0"/>
            </a:endParaRPr>
          </a:p>
          <a:p>
            <a:pPr marL="800100" lvl="1" indent="-342900">
              <a:buFont typeface="Arial" pitchFamily="34" charset="0"/>
              <a:buChar char="•"/>
            </a:pPr>
            <a:r>
              <a:rPr lang="en-US" dirty="0">
                <a:cs typeface="Times New Roman" pitchFamily="18" charset="0"/>
              </a:rPr>
              <a:t>All the engineers have privileges to add Near miss report. </a:t>
            </a:r>
            <a:endParaRPr lang="en-IN" dirty="0">
              <a:cs typeface="Times New Roman" pitchFamily="18" charset="0"/>
            </a:endParaRPr>
          </a:p>
          <a:p>
            <a:pPr marL="800100" lvl="1" indent="-342900">
              <a:buFont typeface="Arial" pitchFamily="34" charset="0"/>
              <a:buChar char="•"/>
            </a:pPr>
            <a:r>
              <a:rPr lang="en-US" dirty="0">
                <a:cs typeface="Times New Roman" pitchFamily="18" charset="0"/>
              </a:rPr>
              <a:t>The user can allocate the Near miss to his/her fellow engineer. If he/she has been allocated to Near miss, then the allocated user can chat in private with the authorized person on that issue.</a:t>
            </a:r>
          </a:p>
          <a:p>
            <a:pPr marL="342900" indent="-342900">
              <a:buFont typeface="+mj-lt"/>
              <a:buAutoNum type="arabicPeriod"/>
            </a:pPr>
            <a:r>
              <a:rPr lang="en-US" dirty="0">
                <a:cs typeface="Times New Roman" pitchFamily="18" charset="0"/>
              </a:rPr>
              <a:t>Verify Reported Near miss </a:t>
            </a:r>
          </a:p>
          <a:p>
            <a:pPr marL="800100" lvl="1" indent="-342900">
              <a:buFont typeface="Arial" pitchFamily="34" charset="0"/>
              <a:buChar char="•"/>
            </a:pPr>
            <a:r>
              <a:rPr lang="en-US" dirty="0">
                <a:cs typeface="Times New Roman" pitchFamily="18" charset="0"/>
              </a:rPr>
              <a:t>Admin need to be </a:t>
            </a:r>
            <a:r>
              <a:rPr lang="en-US" b="1" dirty="0">
                <a:cs typeface="Times New Roman" pitchFamily="18" charset="0"/>
              </a:rPr>
              <a:t>Approved</a:t>
            </a:r>
            <a:r>
              <a:rPr lang="en-US" dirty="0">
                <a:cs typeface="Times New Roman" pitchFamily="18" charset="0"/>
              </a:rPr>
              <a:t> reported </a:t>
            </a:r>
            <a:r>
              <a:rPr lang="en-US" b="1" dirty="0">
                <a:cs typeface="Times New Roman" pitchFamily="18" charset="0"/>
              </a:rPr>
              <a:t>Near miss</a:t>
            </a:r>
            <a:r>
              <a:rPr lang="en-US" dirty="0">
                <a:cs typeface="Times New Roman" pitchFamily="18" charset="0"/>
              </a:rPr>
              <a:t> so that it can be visible to all users.</a:t>
            </a:r>
          </a:p>
          <a:p>
            <a:pPr marL="800100" lvl="1" indent="-342900">
              <a:buFont typeface="Arial" pitchFamily="34" charset="0"/>
              <a:buChar char="•"/>
            </a:pPr>
            <a:r>
              <a:rPr lang="en-US" dirty="0">
                <a:cs typeface="Times New Roman" pitchFamily="18" charset="0"/>
              </a:rPr>
              <a:t>If admin not verify this reported </a:t>
            </a:r>
            <a:r>
              <a:rPr lang="en-US" b="1" dirty="0">
                <a:cs typeface="Times New Roman" pitchFamily="18" charset="0"/>
              </a:rPr>
              <a:t>Near miss</a:t>
            </a:r>
            <a:r>
              <a:rPr lang="en-US" dirty="0">
                <a:cs typeface="Times New Roman" pitchFamily="18" charset="0"/>
              </a:rPr>
              <a:t> then again fill-up a new form and submit a new report.</a:t>
            </a:r>
            <a:endParaRPr lang="en-IN" dirty="0">
              <a:cs typeface="Times New Roman" pitchFamily="18" charset="0"/>
            </a:endParaRPr>
          </a:p>
          <a:p>
            <a:pPr marL="342900" indent="-342900">
              <a:buFont typeface="+mj-lt"/>
              <a:buAutoNum type="arabicPeriod"/>
            </a:pPr>
            <a:r>
              <a:rPr lang="en-US" dirty="0">
                <a:cs typeface="Times New Roman" pitchFamily="18" charset="0"/>
              </a:rPr>
              <a:t>View Near miss</a:t>
            </a:r>
            <a:endParaRPr lang="en-IN" dirty="0">
              <a:cs typeface="Times New Roman" pitchFamily="18" charset="0"/>
            </a:endParaRPr>
          </a:p>
          <a:p>
            <a:pPr marL="800100" lvl="1" indent="-342900">
              <a:buFont typeface="Arial" pitchFamily="34" charset="0"/>
              <a:buChar char="•"/>
            </a:pPr>
            <a:r>
              <a:rPr lang="en-US" dirty="0">
                <a:cs typeface="Times New Roman" pitchFamily="18" charset="0"/>
              </a:rPr>
              <a:t>All the users in that specific zone/Area can only view </a:t>
            </a:r>
            <a:r>
              <a:rPr lang="en-US" b="1" dirty="0">
                <a:cs typeface="Times New Roman" pitchFamily="18" charset="0"/>
              </a:rPr>
              <a:t>Near miss</a:t>
            </a:r>
            <a:r>
              <a:rPr lang="en-US" dirty="0">
                <a:cs typeface="Times New Roman" pitchFamily="18" charset="0"/>
              </a:rPr>
              <a:t> reports.</a:t>
            </a:r>
          </a:p>
          <a:p>
            <a:pPr marL="800100" lvl="1" indent="-342900">
              <a:buFont typeface="Arial" pitchFamily="34" charset="0"/>
              <a:buChar char="•"/>
            </a:pPr>
            <a:r>
              <a:rPr lang="en-US" dirty="0">
                <a:cs typeface="Times New Roman" pitchFamily="18" charset="0"/>
              </a:rPr>
              <a:t>They can also share the </a:t>
            </a:r>
            <a:r>
              <a:rPr lang="en-US" b="1" dirty="0">
                <a:cs typeface="Times New Roman" pitchFamily="18" charset="0"/>
              </a:rPr>
              <a:t>PDF</a:t>
            </a:r>
            <a:r>
              <a:rPr lang="en-US" dirty="0">
                <a:cs typeface="Times New Roman" pitchFamily="18" charset="0"/>
              </a:rPr>
              <a:t> of </a:t>
            </a:r>
            <a:r>
              <a:rPr lang="en-US" b="1" dirty="0">
                <a:cs typeface="Times New Roman" pitchFamily="18" charset="0"/>
              </a:rPr>
              <a:t>Near miss</a:t>
            </a:r>
            <a:r>
              <a:rPr lang="en-US" dirty="0">
                <a:cs typeface="Times New Roman" pitchFamily="18" charset="0"/>
              </a:rPr>
              <a:t> by mail.</a:t>
            </a:r>
          </a:p>
          <a:p>
            <a:pPr marL="342900" indent="-342900">
              <a:buFont typeface="+mj-lt"/>
              <a:buAutoNum type="arabicPeriod"/>
            </a:pPr>
            <a:r>
              <a:rPr lang="en-US" dirty="0">
                <a:cs typeface="Times New Roman" pitchFamily="18" charset="0"/>
              </a:rPr>
              <a:t>Chat Feature on </a:t>
            </a:r>
            <a:r>
              <a:rPr lang="en-US" b="1" dirty="0">
                <a:cs typeface="Times New Roman" pitchFamily="18" charset="0"/>
              </a:rPr>
              <a:t>verified</a:t>
            </a:r>
            <a:r>
              <a:rPr lang="en-US" dirty="0">
                <a:cs typeface="Times New Roman" pitchFamily="18" charset="0"/>
              </a:rPr>
              <a:t> Near miss</a:t>
            </a:r>
            <a:endParaRPr lang="en-IN" dirty="0">
              <a:cs typeface="Times New Roman" pitchFamily="18" charset="0"/>
            </a:endParaRPr>
          </a:p>
          <a:p>
            <a:pPr marL="800100" lvl="1" indent="-342900">
              <a:buFont typeface="Arial" pitchFamily="34" charset="0"/>
              <a:buChar char="•"/>
            </a:pPr>
            <a:r>
              <a:rPr lang="en-US" dirty="0">
                <a:cs typeface="Times New Roman" pitchFamily="18" charset="0"/>
              </a:rPr>
              <a:t>All the users are involved in this Near miss, they can chat and share images of that particular problem .</a:t>
            </a:r>
            <a:endParaRPr lang="en-IN" dirty="0">
              <a:cs typeface="Times New Roman" pitchFamily="18" charset="0"/>
            </a:endParaRPr>
          </a:p>
          <a:p>
            <a:pPr marL="342900" indent="-342900">
              <a:buFont typeface="+mj-lt"/>
              <a:buAutoNum type="arabicPeriod"/>
            </a:pPr>
            <a:r>
              <a:rPr lang="en-US" dirty="0">
                <a:cs typeface="Times New Roman" pitchFamily="18" charset="0"/>
              </a:rPr>
              <a:t>Using email share option </a:t>
            </a:r>
          </a:p>
          <a:p>
            <a:pPr marL="800100" lvl="2" indent="-342900">
              <a:buFont typeface="Arial" pitchFamily="34" charset="0"/>
              <a:buChar char="•"/>
            </a:pPr>
            <a:r>
              <a:rPr lang="en-US" dirty="0">
                <a:cs typeface="Times New Roman" pitchFamily="18" charset="0"/>
              </a:rPr>
              <a:t>User can share the report in </a:t>
            </a:r>
            <a:r>
              <a:rPr lang="en-US" b="1" dirty="0">
                <a:cs typeface="Times New Roman" pitchFamily="18" charset="0"/>
              </a:rPr>
              <a:t>PDF</a:t>
            </a:r>
            <a:r>
              <a:rPr lang="en-US" dirty="0">
                <a:cs typeface="Times New Roman" pitchFamily="18" charset="0"/>
              </a:rPr>
              <a:t> format by mail.</a:t>
            </a:r>
          </a:p>
        </p:txBody>
      </p:sp>
      <p:graphicFrame>
        <p:nvGraphicFramePr>
          <p:cNvPr id="4" name="Table 3">
            <a:extLst>
              <a:ext uri="{FF2B5EF4-FFF2-40B4-BE49-F238E27FC236}">
                <a16:creationId xmlns:a16="http://schemas.microsoft.com/office/drawing/2014/main" id="{E69B6201-007A-4F2B-B3DD-6D1988DDF147}"/>
              </a:ext>
            </a:extLst>
          </p:cNvPr>
          <p:cNvGraphicFramePr>
            <a:graphicFrameLocks noGrp="1"/>
          </p:cNvGraphicFramePr>
          <p:nvPr>
            <p:extLst>
              <p:ext uri="{D42A27DB-BD31-4B8C-83A1-F6EECF244321}">
                <p14:modId xmlns:p14="http://schemas.microsoft.com/office/powerpoint/2010/main" val="1055340344"/>
              </p:ext>
            </p:extLst>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Tree>
    <p:extLst>
      <p:ext uri="{BB962C8B-B14F-4D97-AF65-F5344CB8AC3E}">
        <p14:creationId xmlns:p14="http://schemas.microsoft.com/office/powerpoint/2010/main" val="212733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329"/>
            <a:ext cx="12192000" cy="4093428"/>
          </a:xfrm>
          <a:prstGeom prst="rect">
            <a:avLst/>
          </a:prstGeom>
        </p:spPr>
        <p:txBody>
          <a:bodyPr wrap="square">
            <a:spAutoFit/>
          </a:bodyPr>
          <a:lstStyle/>
          <a:p>
            <a:pPr lvl="0" algn="ctr"/>
            <a:r>
              <a:rPr lang="en-US" sz="2400" b="1" dirty="0">
                <a:cs typeface="Times New Roman" pitchFamily="18" charset="0"/>
              </a:rPr>
              <a:t>Report Module</a:t>
            </a:r>
          </a:p>
          <a:p>
            <a:pPr lvl="0" algn="ctr"/>
            <a:endParaRPr lang="en-US" sz="2400" dirty="0">
              <a:cs typeface="Times New Roman" pitchFamily="18" charset="0"/>
            </a:endParaRPr>
          </a:p>
          <a:p>
            <a:pPr marL="342900" indent="-342900" algn="just">
              <a:buFont typeface="+mj-lt"/>
              <a:buAutoNum type="arabicPeriod"/>
            </a:pPr>
            <a:r>
              <a:rPr lang="en-US" dirty="0">
                <a:cs typeface="Times New Roman" pitchFamily="18" charset="0"/>
              </a:rPr>
              <a:t>LMRA Reports</a:t>
            </a:r>
            <a:endParaRPr lang="en-IN" sz="1400" dirty="0">
              <a:cs typeface="Times New Roman" pitchFamily="18" charset="0"/>
            </a:endParaRPr>
          </a:p>
          <a:p>
            <a:pPr marL="742950" lvl="1" indent="-285750" algn="just">
              <a:buFont typeface="Arial" pitchFamily="34" charset="0"/>
              <a:buChar char="•"/>
            </a:pPr>
            <a:r>
              <a:rPr lang="en-US" dirty="0">
                <a:cs typeface="Times New Roman" pitchFamily="18" charset="0"/>
              </a:rPr>
              <a:t>In this module, user can see all the LMRA reports from his/her zone as well as which LMRA are pending and actions taken on all the closed LMRA’s.</a:t>
            </a:r>
            <a:endParaRPr lang="en-IN" sz="1400" dirty="0">
              <a:cs typeface="Times New Roman" pitchFamily="18" charset="0"/>
            </a:endParaRPr>
          </a:p>
          <a:p>
            <a:pPr marL="742950" lvl="1" indent="-285750" algn="just">
              <a:buFont typeface="Arial" pitchFamily="34" charset="0"/>
              <a:buChar char="•"/>
            </a:pPr>
            <a:r>
              <a:rPr lang="en-US" dirty="0">
                <a:cs typeface="Times New Roman" pitchFamily="18" charset="0"/>
              </a:rPr>
              <a:t>User can export those reports to PDF or excel format.</a:t>
            </a:r>
            <a:endParaRPr lang="en-IN" sz="1400" dirty="0">
              <a:cs typeface="Times New Roman" pitchFamily="18" charset="0"/>
            </a:endParaRPr>
          </a:p>
          <a:p>
            <a:pPr marL="342900" indent="-342900" algn="just">
              <a:buFont typeface="+mj-lt"/>
              <a:buAutoNum type="arabicPeriod"/>
            </a:pPr>
            <a:r>
              <a:rPr lang="en-US" dirty="0">
                <a:cs typeface="Times New Roman" pitchFamily="18" charset="0"/>
              </a:rPr>
              <a:t>Near-Miss Reports</a:t>
            </a:r>
            <a:endParaRPr lang="en-IN" sz="1400" dirty="0">
              <a:cs typeface="Times New Roman" pitchFamily="18" charset="0"/>
            </a:endParaRPr>
          </a:p>
          <a:p>
            <a:pPr marL="742950" lvl="1" indent="-285750" algn="just">
              <a:buFont typeface="Arial" pitchFamily="34" charset="0"/>
              <a:buChar char="•"/>
            </a:pPr>
            <a:r>
              <a:rPr lang="en-US" dirty="0">
                <a:cs typeface="Times New Roman" pitchFamily="18" charset="0"/>
              </a:rPr>
              <a:t>All the data will be represented in the form of graphs, pie-charts and vein diagrams.</a:t>
            </a:r>
          </a:p>
          <a:p>
            <a:pPr marL="742950" lvl="1" indent="-285750" algn="just">
              <a:buFont typeface="Arial" pitchFamily="34" charset="0"/>
              <a:buChar char="•"/>
            </a:pPr>
            <a:r>
              <a:rPr lang="en-US" dirty="0">
                <a:cs typeface="Times New Roman" pitchFamily="18" charset="0"/>
              </a:rPr>
              <a:t>In this module, user can view all the Near-Miss reports from his/her zone as well as see the status of those reports.</a:t>
            </a:r>
            <a:endParaRPr lang="en-IN" dirty="0">
              <a:cs typeface="Times New Roman" pitchFamily="18" charset="0"/>
            </a:endParaRPr>
          </a:p>
          <a:p>
            <a:pPr marL="742950" lvl="1" indent="-285750" algn="just">
              <a:buFont typeface="Arial" pitchFamily="34" charset="0"/>
              <a:buChar char="•"/>
            </a:pPr>
            <a:r>
              <a:rPr lang="en-US" dirty="0">
                <a:cs typeface="Times New Roman" pitchFamily="18" charset="0"/>
              </a:rPr>
              <a:t>User has given privilege to get the reports in Excel and PDF as well.</a:t>
            </a:r>
          </a:p>
          <a:p>
            <a:pPr marL="342900" indent="-342900" algn="just">
              <a:buFont typeface="+mj-lt"/>
              <a:buAutoNum type="arabicPeriod"/>
            </a:pPr>
            <a:r>
              <a:rPr lang="en-US" dirty="0">
                <a:cs typeface="Times New Roman" pitchFamily="18" charset="0"/>
              </a:rPr>
              <a:t>Graphical Representation of data</a:t>
            </a:r>
          </a:p>
          <a:p>
            <a:pPr marL="800100" lvl="1" indent="-342900" algn="just">
              <a:buFont typeface="Arial" pitchFamily="34" charset="0"/>
              <a:buChar char="•"/>
            </a:pPr>
            <a:r>
              <a:rPr lang="en-US" dirty="0">
                <a:cs typeface="Times New Roman" pitchFamily="18" charset="0"/>
              </a:rPr>
              <a:t>Abstract Near miss , LMRA , Minor Injury </a:t>
            </a:r>
          </a:p>
          <a:p>
            <a:pPr marL="800100" lvl="1" indent="-342900" algn="just">
              <a:buFont typeface="Arial" pitchFamily="34" charset="0"/>
              <a:buChar char="•"/>
            </a:pPr>
            <a:r>
              <a:rPr lang="en-US" dirty="0">
                <a:cs typeface="Times New Roman" pitchFamily="18" charset="0"/>
              </a:rPr>
              <a:t>Month wise Near miss and Minor injury report.</a:t>
            </a:r>
          </a:p>
          <a:p>
            <a:pPr lvl="2"/>
            <a:endParaRPr lang="en-IN" sz="1400" dirty="0">
              <a:cs typeface="Times New Roman" pitchFamily="18" charset="0"/>
            </a:endParaRPr>
          </a:p>
        </p:txBody>
      </p:sp>
      <p:graphicFrame>
        <p:nvGraphicFramePr>
          <p:cNvPr id="4" name="Table 3">
            <a:extLst>
              <a:ext uri="{FF2B5EF4-FFF2-40B4-BE49-F238E27FC236}">
                <a16:creationId xmlns:a16="http://schemas.microsoft.com/office/drawing/2014/main" id="{96B4EF55-7B21-4166-B2BC-73D64D1A2CD8}"/>
              </a:ext>
            </a:extLst>
          </p:cNvPr>
          <p:cNvGraphicFramePr>
            <a:graphicFrameLocks noGrp="1"/>
          </p:cNvGraphicFramePr>
          <p:nvPr>
            <p:extLst>
              <p:ext uri="{D42A27DB-BD31-4B8C-83A1-F6EECF244321}">
                <p14:modId xmlns:p14="http://schemas.microsoft.com/office/powerpoint/2010/main" val="1055340344"/>
              </p:ext>
            </p:extLst>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Tree>
    <p:extLst>
      <p:ext uri="{BB962C8B-B14F-4D97-AF65-F5344CB8AC3E}">
        <p14:creationId xmlns:p14="http://schemas.microsoft.com/office/powerpoint/2010/main" val="1537435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F839B-0EEF-19E4-39E5-3E059F07F8C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251FD38-23B8-8FB7-1EF1-B15E476CC488}"/>
              </a:ext>
            </a:extLst>
          </p:cNvPr>
          <p:cNvSpPr/>
          <p:nvPr/>
        </p:nvSpPr>
        <p:spPr>
          <a:xfrm>
            <a:off x="0" y="-16329"/>
            <a:ext cx="12192000" cy="830997"/>
          </a:xfrm>
          <a:prstGeom prst="rect">
            <a:avLst/>
          </a:prstGeom>
        </p:spPr>
        <p:txBody>
          <a:bodyPr wrap="square">
            <a:spAutoFit/>
          </a:bodyPr>
          <a:lstStyle/>
          <a:p>
            <a:pPr lvl="0" algn="ctr"/>
            <a:r>
              <a:rPr lang="en-US" sz="2400" b="1" dirty="0">
                <a:cs typeface="Times New Roman" pitchFamily="18" charset="0"/>
              </a:rPr>
              <a:t>Access control based on Role </a:t>
            </a:r>
          </a:p>
          <a:p>
            <a:pPr lvl="0" algn="ctr"/>
            <a:endParaRPr lang="en-US" sz="2400" dirty="0">
              <a:cs typeface="Times New Roman" pitchFamily="18" charset="0"/>
            </a:endParaRPr>
          </a:p>
        </p:txBody>
      </p:sp>
      <p:graphicFrame>
        <p:nvGraphicFramePr>
          <p:cNvPr id="4" name="Table 3">
            <a:extLst>
              <a:ext uri="{FF2B5EF4-FFF2-40B4-BE49-F238E27FC236}">
                <a16:creationId xmlns:a16="http://schemas.microsoft.com/office/drawing/2014/main" id="{9A92F281-E468-B3B0-3790-EE5F9C501038}"/>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graphicFrame>
        <p:nvGraphicFramePr>
          <p:cNvPr id="3" name="Table 2">
            <a:extLst>
              <a:ext uri="{FF2B5EF4-FFF2-40B4-BE49-F238E27FC236}">
                <a16:creationId xmlns:a16="http://schemas.microsoft.com/office/drawing/2014/main" id="{587F04E4-04B2-3ECD-601C-CEC4633EC34D}"/>
              </a:ext>
            </a:extLst>
          </p:cNvPr>
          <p:cNvGraphicFramePr>
            <a:graphicFrameLocks noGrp="1"/>
          </p:cNvGraphicFramePr>
          <p:nvPr>
            <p:extLst>
              <p:ext uri="{D42A27DB-BD31-4B8C-83A1-F6EECF244321}">
                <p14:modId xmlns:p14="http://schemas.microsoft.com/office/powerpoint/2010/main" val="307790793"/>
              </p:ext>
            </p:extLst>
          </p:nvPr>
        </p:nvGraphicFramePr>
        <p:xfrm>
          <a:off x="660400" y="719666"/>
          <a:ext cx="10820400" cy="4246880"/>
        </p:xfrm>
        <a:graphic>
          <a:graphicData uri="http://schemas.openxmlformats.org/drawingml/2006/table">
            <a:tbl>
              <a:tblPr firstRow="1" bandRow="1">
                <a:tableStyleId>{5C22544A-7EE6-4342-B048-85BDC9FD1C3A}</a:tableStyleId>
              </a:tblPr>
              <a:tblGrid>
                <a:gridCol w="897467">
                  <a:extLst>
                    <a:ext uri="{9D8B030D-6E8A-4147-A177-3AD203B41FA5}">
                      <a16:colId xmlns:a16="http://schemas.microsoft.com/office/drawing/2014/main" val="3368990471"/>
                    </a:ext>
                  </a:extLst>
                </a:gridCol>
                <a:gridCol w="2709333">
                  <a:extLst>
                    <a:ext uri="{9D8B030D-6E8A-4147-A177-3AD203B41FA5}">
                      <a16:colId xmlns:a16="http://schemas.microsoft.com/office/drawing/2014/main" val="343144140"/>
                    </a:ext>
                  </a:extLst>
                </a:gridCol>
                <a:gridCol w="2175933">
                  <a:extLst>
                    <a:ext uri="{9D8B030D-6E8A-4147-A177-3AD203B41FA5}">
                      <a16:colId xmlns:a16="http://schemas.microsoft.com/office/drawing/2014/main" val="4161436290"/>
                    </a:ext>
                  </a:extLst>
                </a:gridCol>
                <a:gridCol w="1430867">
                  <a:extLst>
                    <a:ext uri="{9D8B030D-6E8A-4147-A177-3AD203B41FA5}">
                      <a16:colId xmlns:a16="http://schemas.microsoft.com/office/drawing/2014/main" val="758278905"/>
                    </a:ext>
                  </a:extLst>
                </a:gridCol>
                <a:gridCol w="1803400">
                  <a:extLst>
                    <a:ext uri="{9D8B030D-6E8A-4147-A177-3AD203B41FA5}">
                      <a16:colId xmlns:a16="http://schemas.microsoft.com/office/drawing/2014/main" val="1300225100"/>
                    </a:ext>
                  </a:extLst>
                </a:gridCol>
                <a:gridCol w="1803400">
                  <a:extLst>
                    <a:ext uri="{9D8B030D-6E8A-4147-A177-3AD203B41FA5}">
                      <a16:colId xmlns:a16="http://schemas.microsoft.com/office/drawing/2014/main" val="808887455"/>
                    </a:ext>
                  </a:extLst>
                </a:gridCol>
              </a:tblGrid>
              <a:tr h="370840">
                <a:tc>
                  <a:txBody>
                    <a:bodyPr/>
                    <a:lstStyle/>
                    <a:p>
                      <a:pPr algn="ctr"/>
                      <a:r>
                        <a:rPr lang="en-US" dirty="0"/>
                        <a:t>Sr. No</a:t>
                      </a:r>
                    </a:p>
                  </a:txBody>
                  <a:tcPr/>
                </a:tc>
                <a:tc>
                  <a:txBody>
                    <a:bodyPr/>
                    <a:lstStyle/>
                    <a:p>
                      <a:pPr algn="ctr"/>
                      <a:r>
                        <a:rPr lang="en-US" dirty="0"/>
                        <a:t>Title</a:t>
                      </a:r>
                    </a:p>
                  </a:txBody>
                  <a:tcPr/>
                </a:tc>
                <a:tc>
                  <a:txBody>
                    <a:bodyPr/>
                    <a:lstStyle/>
                    <a:p>
                      <a:pPr algn="ctr"/>
                      <a:r>
                        <a:rPr lang="en-US" dirty="0"/>
                        <a:t>Higher Authority</a:t>
                      </a:r>
                    </a:p>
                  </a:txBody>
                  <a:tcPr/>
                </a:tc>
                <a:tc>
                  <a:txBody>
                    <a:bodyPr/>
                    <a:lstStyle/>
                    <a:p>
                      <a:pPr algn="ctr"/>
                      <a:r>
                        <a:rPr lang="en-US" dirty="0"/>
                        <a:t>Auditor</a:t>
                      </a:r>
                    </a:p>
                  </a:txBody>
                  <a:tcPr/>
                </a:tc>
                <a:tc>
                  <a:txBody>
                    <a:bodyPr/>
                    <a:lstStyle/>
                    <a:p>
                      <a:pPr algn="ctr"/>
                      <a:r>
                        <a:rPr lang="en-US" dirty="0"/>
                        <a:t>Cluster Manager</a:t>
                      </a:r>
                    </a:p>
                  </a:txBody>
                  <a:tcPr/>
                </a:tc>
                <a:tc>
                  <a:txBody>
                    <a:bodyPr/>
                    <a:lstStyle/>
                    <a:p>
                      <a:pPr algn="ctr"/>
                      <a:r>
                        <a:rPr lang="en-US" dirty="0"/>
                        <a:t>Account Manager</a:t>
                      </a:r>
                    </a:p>
                  </a:txBody>
                  <a:tcPr/>
                </a:tc>
                <a:extLst>
                  <a:ext uri="{0D108BD9-81ED-4DB2-BD59-A6C34878D82A}">
                    <a16:rowId xmlns:a16="http://schemas.microsoft.com/office/drawing/2014/main" val="2495434639"/>
                  </a:ext>
                </a:extLst>
              </a:tr>
              <a:tr h="370840">
                <a:tc>
                  <a:txBody>
                    <a:bodyPr/>
                    <a:lstStyle/>
                    <a:p>
                      <a:pPr algn="ctr"/>
                      <a:r>
                        <a:rPr lang="en-US" dirty="0"/>
                        <a:t>1.</a:t>
                      </a:r>
                    </a:p>
                  </a:txBody>
                  <a:tcPr/>
                </a:tc>
                <a:tc>
                  <a:txBody>
                    <a:bodyPr/>
                    <a:lstStyle/>
                    <a:p>
                      <a:r>
                        <a:rPr lang="en-US" dirty="0"/>
                        <a:t>Dashboard View</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60510338"/>
                  </a:ext>
                </a:extLst>
              </a:tr>
              <a:tr h="370840">
                <a:tc>
                  <a:txBody>
                    <a:bodyPr/>
                    <a:lstStyle/>
                    <a:p>
                      <a:pPr algn="ctr"/>
                      <a:r>
                        <a:rPr lang="en-US" dirty="0"/>
                        <a:t>2.</a:t>
                      </a:r>
                    </a:p>
                  </a:txBody>
                  <a:tcPr/>
                </a:tc>
                <a:tc>
                  <a:txBody>
                    <a:bodyPr/>
                    <a:lstStyle/>
                    <a:p>
                      <a:r>
                        <a:rPr lang="en-US" dirty="0"/>
                        <a:t>View Audit</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236592164"/>
                  </a:ext>
                </a:extLst>
              </a:tr>
              <a:tr h="370840">
                <a:tc>
                  <a:txBody>
                    <a:bodyPr/>
                    <a:lstStyle/>
                    <a:p>
                      <a:pPr algn="ctr"/>
                      <a:r>
                        <a:rPr lang="en-US" dirty="0"/>
                        <a:t>3.</a:t>
                      </a:r>
                    </a:p>
                  </a:txBody>
                  <a:tcPr/>
                </a:tc>
                <a:tc>
                  <a:txBody>
                    <a:bodyPr/>
                    <a:lstStyle/>
                    <a:p>
                      <a:r>
                        <a:rPr lang="en-US" dirty="0"/>
                        <a:t>Perform Audit/Re audit</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a:p>
                  </a:txBody>
                  <a:tcPr/>
                </a:tc>
                <a:extLst>
                  <a:ext uri="{0D108BD9-81ED-4DB2-BD59-A6C34878D82A}">
                    <a16:rowId xmlns:a16="http://schemas.microsoft.com/office/drawing/2014/main" val="1237701668"/>
                  </a:ext>
                </a:extLst>
              </a:tr>
              <a:tr h="370840">
                <a:tc>
                  <a:txBody>
                    <a:bodyPr/>
                    <a:lstStyle/>
                    <a:p>
                      <a:pPr algn="ctr"/>
                      <a:r>
                        <a:rPr lang="en-US" dirty="0"/>
                        <a:t>4.</a:t>
                      </a:r>
                    </a:p>
                  </a:txBody>
                  <a:tcPr/>
                </a:tc>
                <a:tc>
                  <a:txBody>
                    <a:bodyPr/>
                    <a:lstStyle/>
                    <a:p>
                      <a:r>
                        <a:rPr lang="en-US" dirty="0"/>
                        <a:t>View NC</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2208173743"/>
                  </a:ext>
                </a:extLst>
              </a:tr>
              <a:tr h="370840">
                <a:tc>
                  <a:txBody>
                    <a:bodyPr/>
                    <a:lstStyle/>
                    <a:p>
                      <a:pPr algn="ctr"/>
                      <a:r>
                        <a:rPr lang="en-US" dirty="0"/>
                        <a:t>5.</a:t>
                      </a:r>
                    </a:p>
                  </a:txBody>
                  <a:tcPr/>
                </a:tc>
                <a:tc>
                  <a:txBody>
                    <a:bodyPr/>
                    <a:lstStyle/>
                    <a:p>
                      <a:r>
                        <a:rPr lang="en-US" dirty="0"/>
                        <a:t>Work on NC/ Submit to review</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3050747754"/>
                  </a:ext>
                </a:extLst>
              </a:tr>
              <a:tr h="370840">
                <a:tc>
                  <a:txBody>
                    <a:bodyPr/>
                    <a:lstStyle/>
                    <a:p>
                      <a:pPr algn="ctr"/>
                      <a:r>
                        <a:rPr lang="en-US" dirty="0"/>
                        <a:t>6.</a:t>
                      </a:r>
                    </a:p>
                  </a:txBody>
                  <a:tcPr/>
                </a:tc>
                <a:tc>
                  <a:txBody>
                    <a:bodyPr/>
                    <a:lstStyle/>
                    <a:p>
                      <a:r>
                        <a:rPr lang="en-US" dirty="0"/>
                        <a:t>Close/Reject an NC</a:t>
                      </a:r>
                    </a:p>
                  </a:txBody>
                  <a:tcPr/>
                </a:tc>
                <a:tc>
                  <a:txBody>
                    <a:bodyPr/>
                    <a:lstStyle/>
                    <a:p>
                      <a:pPr algn="ctr"/>
                      <a:endParaRPr lang="en-US"/>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2434478683"/>
                  </a:ext>
                </a:extLst>
              </a:tr>
              <a:tr h="370840">
                <a:tc>
                  <a:txBody>
                    <a:bodyPr/>
                    <a:lstStyle/>
                    <a:p>
                      <a:pPr algn="ctr"/>
                      <a:r>
                        <a:rPr lang="en-US" dirty="0"/>
                        <a:t>7.</a:t>
                      </a:r>
                    </a:p>
                  </a:txBody>
                  <a:tcPr/>
                </a:tc>
                <a:tc>
                  <a:txBody>
                    <a:bodyPr/>
                    <a:lstStyle/>
                    <a:p>
                      <a:r>
                        <a:rPr lang="en-US" dirty="0"/>
                        <a:t>View Gemba Reports</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736253728"/>
                  </a:ext>
                </a:extLst>
              </a:tr>
              <a:tr h="370840">
                <a:tc>
                  <a:txBody>
                    <a:bodyPr/>
                    <a:lstStyle/>
                    <a:p>
                      <a:pPr algn="ctr"/>
                      <a:r>
                        <a:rPr lang="en-US" dirty="0"/>
                        <a:t>8.</a:t>
                      </a:r>
                    </a:p>
                  </a:txBody>
                  <a:tcPr/>
                </a:tc>
                <a:tc>
                  <a:txBody>
                    <a:bodyPr/>
                    <a:lstStyle/>
                    <a:p>
                      <a:r>
                        <a:rPr lang="en-US" dirty="0"/>
                        <a:t>Create Gemba NC</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2457575997"/>
                  </a:ext>
                </a:extLst>
              </a:tr>
              <a:tr h="370840">
                <a:tc>
                  <a:txBody>
                    <a:bodyPr/>
                    <a:lstStyle/>
                    <a:p>
                      <a:pPr algn="ctr"/>
                      <a:r>
                        <a:rPr lang="en-US" dirty="0"/>
                        <a:t>9.</a:t>
                      </a:r>
                    </a:p>
                  </a:txBody>
                  <a:tcPr/>
                </a:tc>
                <a:tc>
                  <a:txBody>
                    <a:bodyPr/>
                    <a:lstStyle/>
                    <a:p>
                      <a:r>
                        <a:rPr lang="en-US" dirty="0"/>
                        <a:t>Close Gemba NC</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385254073"/>
                  </a:ext>
                </a:extLst>
              </a:tr>
            </a:tbl>
          </a:graphicData>
        </a:graphic>
      </p:graphicFrame>
      <p:pic>
        <p:nvPicPr>
          <p:cNvPr id="6" name="Graphic 5" descr="Checkmark">
            <a:extLst>
              <a:ext uri="{FF2B5EF4-FFF2-40B4-BE49-F238E27FC236}">
                <a16:creationId xmlns:a16="http://schemas.microsoft.com/office/drawing/2014/main" id="{8AC030A6-888F-068C-374A-D5D83EC4B99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1467" y="1365243"/>
            <a:ext cx="370840" cy="370840"/>
          </a:xfrm>
          <a:prstGeom prst="rect">
            <a:avLst/>
          </a:prstGeom>
        </p:spPr>
      </p:pic>
      <p:pic>
        <p:nvPicPr>
          <p:cNvPr id="7" name="Graphic 6" descr="Checkmark">
            <a:extLst>
              <a:ext uri="{FF2B5EF4-FFF2-40B4-BE49-F238E27FC236}">
                <a16:creationId xmlns:a16="http://schemas.microsoft.com/office/drawing/2014/main" id="{574671F5-B39B-0FB2-D69F-432BF1A8F2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59695" y="1374126"/>
            <a:ext cx="370840" cy="370840"/>
          </a:xfrm>
          <a:prstGeom prst="rect">
            <a:avLst/>
          </a:prstGeom>
        </p:spPr>
      </p:pic>
      <p:pic>
        <p:nvPicPr>
          <p:cNvPr id="8" name="Graphic 7" descr="Checkmark">
            <a:extLst>
              <a:ext uri="{FF2B5EF4-FFF2-40B4-BE49-F238E27FC236}">
                <a16:creationId xmlns:a16="http://schemas.microsoft.com/office/drawing/2014/main" id="{04473BFE-86C8-2F61-0E40-C66EE50F137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54628" y="1365243"/>
            <a:ext cx="370840" cy="370840"/>
          </a:xfrm>
          <a:prstGeom prst="rect">
            <a:avLst/>
          </a:prstGeom>
        </p:spPr>
      </p:pic>
      <p:pic>
        <p:nvPicPr>
          <p:cNvPr id="9" name="Graphic 8" descr="Checkmark">
            <a:extLst>
              <a:ext uri="{FF2B5EF4-FFF2-40B4-BE49-F238E27FC236}">
                <a16:creationId xmlns:a16="http://schemas.microsoft.com/office/drawing/2014/main" id="{F105DA97-B254-B5FA-4DC9-4B709D5E1E9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67436" y="1365243"/>
            <a:ext cx="370840" cy="370840"/>
          </a:xfrm>
          <a:prstGeom prst="rect">
            <a:avLst/>
          </a:prstGeom>
        </p:spPr>
      </p:pic>
      <p:pic>
        <p:nvPicPr>
          <p:cNvPr id="10" name="Graphic 9" descr="Checkmark">
            <a:extLst>
              <a:ext uri="{FF2B5EF4-FFF2-40B4-BE49-F238E27FC236}">
                <a16:creationId xmlns:a16="http://schemas.microsoft.com/office/drawing/2014/main" id="{707B6752-205C-68C6-0443-C323C89C65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53001" y="1712377"/>
            <a:ext cx="370840" cy="370840"/>
          </a:xfrm>
          <a:prstGeom prst="rect">
            <a:avLst/>
          </a:prstGeom>
        </p:spPr>
      </p:pic>
      <p:pic>
        <p:nvPicPr>
          <p:cNvPr id="12" name="Graphic 11" descr="Checkmark">
            <a:extLst>
              <a:ext uri="{FF2B5EF4-FFF2-40B4-BE49-F238E27FC236}">
                <a16:creationId xmlns:a16="http://schemas.microsoft.com/office/drawing/2014/main" id="{F0BA5973-D7A1-5AAE-DABE-563D7958692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9539" y="1754706"/>
            <a:ext cx="370840" cy="370840"/>
          </a:xfrm>
          <a:prstGeom prst="rect">
            <a:avLst/>
          </a:prstGeom>
        </p:spPr>
      </p:pic>
      <p:pic>
        <p:nvPicPr>
          <p:cNvPr id="13" name="Graphic 12" descr="Checkmark">
            <a:extLst>
              <a:ext uri="{FF2B5EF4-FFF2-40B4-BE49-F238E27FC236}">
                <a16:creationId xmlns:a16="http://schemas.microsoft.com/office/drawing/2014/main" id="{6F0A2622-7DC4-15A9-4D7C-3AD9779D7C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54628" y="1755119"/>
            <a:ext cx="370840" cy="370840"/>
          </a:xfrm>
          <a:prstGeom prst="rect">
            <a:avLst/>
          </a:prstGeom>
        </p:spPr>
      </p:pic>
      <p:pic>
        <p:nvPicPr>
          <p:cNvPr id="14" name="Graphic 13" descr="Checkmark">
            <a:extLst>
              <a:ext uri="{FF2B5EF4-FFF2-40B4-BE49-F238E27FC236}">
                <a16:creationId xmlns:a16="http://schemas.microsoft.com/office/drawing/2014/main" id="{8E4F49DF-7039-19DA-7D25-C27101DEF2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67436" y="1754706"/>
            <a:ext cx="370840" cy="370840"/>
          </a:xfrm>
          <a:prstGeom prst="rect">
            <a:avLst/>
          </a:prstGeom>
        </p:spPr>
      </p:pic>
      <p:pic>
        <p:nvPicPr>
          <p:cNvPr id="16" name="Graphic 15" descr="Close">
            <a:extLst>
              <a:ext uri="{FF2B5EF4-FFF2-40B4-BE49-F238E27FC236}">
                <a16:creationId xmlns:a16="http://schemas.microsoft.com/office/drawing/2014/main" id="{5598739E-AE12-B964-4FDE-11242EB1E7A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69858" y="2125469"/>
            <a:ext cx="337127" cy="337127"/>
          </a:xfrm>
          <a:prstGeom prst="rect">
            <a:avLst/>
          </a:prstGeom>
        </p:spPr>
      </p:pic>
      <p:pic>
        <p:nvPicPr>
          <p:cNvPr id="17" name="Graphic 16" descr="Close">
            <a:extLst>
              <a:ext uri="{FF2B5EF4-FFF2-40B4-BE49-F238E27FC236}">
                <a16:creationId xmlns:a16="http://schemas.microsoft.com/office/drawing/2014/main" id="{64713ECB-9A9E-C5AC-C62E-BA8965E2A9A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71484" y="2125469"/>
            <a:ext cx="337127" cy="337127"/>
          </a:xfrm>
          <a:prstGeom prst="rect">
            <a:avLst/>
          </a:prstGeom>
        </p:spPr>
      </p:pic>
      <p:pic>
        <p:nvPicPr>
          <p:cNvPr id="18" name="Graphic 17" descr="Close">
            <a:extLst>
              <a:ext uri="{FF2B5EF4-FFF2-40B4-BE49-F238E27FC236}">
                <a16:creationId xmlns:a16="http://schemas.microsoft.com/office/drawing/2014/main" id="{527CA37E-1A92-A9B1-08CF-D1573C06745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84292" y="2125469"/>
            <a:ext cx="337127" cy="337127"/>
          </a:xfrm>
          <a:prstGeom prst="rect">
            <a:avLst/>
          </a:prstGeom>
        </p:spPr>
      </p:pic>
      <p:pic>
        <p:nvPicPr>
          <p:cNvPr id="19" name="Graphic 18" descr="Checkmark">
            <a:extLst>
              <a:ext uri="{FF2B5EF4-FFF2-40B4-BE49-F238E27FC236}">
                <a16:creationId xmlns:a16="http://schemas.microsoft.com/office/drawing/2014/main" id="{3EED9B96-1874-1D4C-1447-CC436793BF0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57968" y="2100486"/>
            <a:ext cx="370840" cy="370840"/>
          </a:xfrm>
          <a:prstGeom prst="rect">
            <a:avLst/>
          </a:prstGeom>
        </p:spPr>
      </p:pic>
      <p:pic>
        <p:nvPicPr>
          <p:cNvPr id="20" name="Graphic 19" descr="Checkmark">
            <a:extLst>
              <a:ext uri="{FF2B5EF4-FFF2-40B4-BE49-F238E27FC236}">
                <a16:creationId xmlns:a16="http://schemas.microsoft.com/office/drawing/2014/main" id="{9CB1BBF0-DBAC-D4F3-2553-F8C3CD85BA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0194" y="3484853"/>
            <a:ext cx="370840" cy="370840"/>
          </a:xfrm>
          <a:prstGeom prst="rect">
            <a:avLst/>
          </a:prstGeom>
        </p:spPr>
      </p:pic>
      <p:pic>
        <p:nvPicPr>
          <p:cNvPr id="21" name="Graphic 20" descr="Close">
            <a:extLst>
              <a:ext uri="{FF2B5EF4-FFF2-40B4-BE49-F238E27FC236}">
                <a16:creationId xmlns:a16="http://schemas.microsoft.com/office/drawing/2014/main" id="{61BD4C1B-3F2C-BA9E-9039-C16CB41597E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69857" y="3501710"/>
            <a:ext cx="337127" cy="337127"/>
          </a:xfrm>
          <a:prstGeom prst="rect">
            <a:avLst/>
          </a:prstGeom>
        </p:spPr>
      </p:pic>
      <p:pic>
        <p:nvPicPr>
          <p:cNvPr id="22" name="Graphic 21" descr="Checkmark">
            <a:extLst>
              <a:ext uri="{FF2B5EF4-FFF2-40B4-BE49-F238E27FC236}">
                <a16:creationId xmlns:a16="http://schemas.microsoft.com/office/drawing/2014/main" id="{BA9DE1D5-69BC-D3BB-6D4F-47DCBC0480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72329" y="2487344"/>
            <a:ext cx="370840" cy="370840"/>
          </a:xfrm>
          <a:prstGeom prst="rect">
            <a:avLst/>
          </a:prstGeom>
        </p:spPr>
      </p:pic>
      <p:pic>
        <p:nvPicPr>
          <p:cNvPr id="23" name="Graphic 22" descr="Checkmark">
            <a:extLst>
              <a:ext uri="{FF2B5EF4-FFF2-40B4-BE49-F238E27FC236}">
                <a16:creationId xmlns:a16="http://schemas.microsoft.com/office/drawing/2014/main" id="{6A9ED827-0344-A02A-2907-83F15CDED99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5903" y="2487344"/>
            <a:ext cx="370840" cy="370840"/>
          </a:xfrm>
          <a:prstGeom prst="rect">
            <a:avLst/>
          </a:prstGeom>
        </p:spPr>
      </p:pic>
      <p:pic>
        <p:nvPicPr>
          <p:cNvPr id="24" name="Graphic 23" descr="Close">
            <a:extLst>
              <a:ext uri="{FF2B5EF4-FFF2-40B4-BE49-F238E27FC236}">
                <a16:creationId xmlns:a16="http://schemas.microsoft.com/office/drawing/2014/main" id="{E1D83D09-9AEC-816B-0C10-301641AFA51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78323" y="3002806"/>
            <a:ext cx="337127" cy="337127"/>
          </a:xfrm>
          <a:prstGeom prst="rect">
            <a:avLst/>
          </a:prstGeom>
        </p:spPr>
      </p:pic>
      <p:pic>
        <p:nvPicPr>
          <p:cNvPr id="27" name="Graphic 26" descr="Checkmark">
            <a:extLst>
              <a:ext uri="{FF2B5EF4-FFF2-40B4-BE49-F238E27FC236}">
                <a16:creationId xmlns:a16="http://schemas.microsoft.com/office/drawing/2014/main" id="{2FE7BA53-43FC-B2DC-DD55-E359967D9A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9539" y="2987148"/>
            <a:ext cx="370840" cy="370840"/>
          </a:xfrm>
          <a:prstGeom prst="rect">
            <a:avLst/>
          </a:prstGeom>
        </p:spPr>
      </p:pic>
      <p:pic>
        <p:nvPicPr>
          <p:cNvPr id="29" name="Graphic 28" descr="Close">
            <a:extLst>
              <a:ext uri="{FF2B5EF4-FFF2-40B4-BE49-F238E27FC236}">
                <a16:creationId xmlns:a16="http://schemas.microsoft.com/office/drawing/2014/main" id="{BB92CA51-A41C-7BA2-509A-824EA45654E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71483" y="3513177"/>
            <a:ext cx="337127" cy="337127"/>
          </a:xfrm>
          <a:prstGeom prst="rect">
            <a:avLst/>
          </a:prstGeom>
        </p:spPr>
      </p:pic>
      <p:pic>
        <p:nvPicPr>
          <p:cNvPr id="30" name="Graphic 29" descr="Close">
            <a:extLst>
              <a:ext uri="{FF2B5EF4-FFF2-40B4-BE49-F238E27FC236}">
                <a16:creationId xmlns:a16="http://schemas.microsoft.com/office/drawing/2014/main" id="{D5A5E89D-858F-B061-A8D1-3754DA568E2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67435" y="3500507"/>
            <a:ext cx="337127" cy="337127"/>
          </a:xfrm>
          <a:prstGeom prst="rect">
            <a:avLst/>
          </a:prstGeom>
        </p:spPr>
      </p:pic>
      <p:pic>
        <p:nvPicPr>
          <p:cNvPr id="31" name="Graphic 30" descr="Checkmark">
            <a:extLst>
              <a:ext uri="{FF2B5EF4-FFF2-40B4-BE49-F238E27FC236}">
                <a16:creationId xmlns:a16="http://schemas.microsoft.com/office/drawing/2014/main" id="{DD46A902-96BA-D7C7-7AAB-8A62A490E01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1621" y="2470190"/>
            <a:ext cx="370840" cy="370840"/>
          </a:xfrm>
          <a:prstGeom prst="rect">
            <a:avLst/>
          </a:prstGeom>
        </p:spPr>
      </p:pic>
      <p:pic>
        <p:nvPicPr>
          <p:cNvPr id="32" name="Graphic 31" descr="Checkmark">
            <a:extLst>
              <a:ext uri="{FF2B5EF4-FFF2-40B4-BE49-F238E27FC236}">
                <a16:creationId xmlns:a16="http://schemas.microsoft.com/office/drawing/2014/main" id="{F724168E-43DC-988F-E322-ABA4DDC152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57968" y="2499584"/>
            <a:ext cx="370840" cy="370840"/>
          </a:xfrm>
          <a:prstGeom prst="rect">
            <a:avLst/>
          </a:prstGeom>
        </p:spPr>
      </p:pic>
      <p:pic>
        <p:nvPicPr>
          <p:cNvPr id="33" name="Graphic 32" descr="Checkmark">
            <a:extLst>
              <a:ext uri="{FF2B5EF4-FFF2-40B4-BE49-F238E27FC236}">
                <a16:creationId xmlns:a16="http://schemas.microsoft.com/office/drawing/2014/main" id="{A91A8C16-284D-4FF5-735D-D245AEAFC1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80796" y="2944547"/>
            <a:ext cx="370840" cy="370840"/>
          </a:xfrm>
          <a:prstGeom prst="rect">
            <a:avLst/>
          </a:prstGeom>
        </p:spPr>
      </p:pic>
      <p:pic>
        <p:nvPicPr>
          <p:cNvPr id="34" name="Graphic 33" descr="Checkmark">
            <a:extLst>
              <a:ext uri="{FF2B5EF4-FFF2-40B4-BE49-F238E27FC236}">
                <a16:creationId xmlns:a16="http://schemas.microsoft.com/office/drawing/2014/main" id="{AD54E3CB-1AC6-3389-6CF4-B60CE99276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84370" y="2944547"/>
            <a:ext cx="370840" cy="370840"/>
          </a:xfrm>
          <a:prstGeom prst="rect">
            <a:avLst/>
          </a:prstGeom>
        </p:spPr>
      </p:pic>
      <p:pic>
        <p:nvPicPr>
          <p:cNvPr id="35" name="Graphic 34" descr="Checkmark">
            <a:extLst>
              <a:ext uri="{FF2B5EF4-FFF2-40B4-BE49-F238E27FC236}">
                <a16:creationId xmlns:a16="http://schemas.microsoft.com/office/drawing/2014/main" id="{70864BAC-EB1B-FF5E-5259-F466AF0ED35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72331" y="3867411"/>
            <a:ext cx="370840" cy="370840"/>
          </a:xfrm>
          <a:prstGeom prst="rect">
            <a:avLst/>
          </a:prstGeom>
        </p:spPr>
      </p:pic>
      <p:pic>
        <p:nvPicPr>
          <p:cNvPr id="36" name="Graphic 35" descr="Checkmark">
            <a:extLst>
              <a:ext uri="{FF2B5EF4-FFF2-40B4-BE49-F238E27FC236}">
                <a16:creationId xmlns:a16="http://schemas.microsoft.com/office/drawing/2014/main" id="{FB66A4CB-EBFA-A36F-B40B-630991D4EF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5905" y="3867411"/>
            <a:ext cx="370840" cy="370840"/>
          </a:xfrm>
          <a:prstGeom prst="rect">
            <a:avLst/>
          </a:prstGeom>
        </p:spPr>
      </p:pic>
      <p:pic>
        <p:nvPicPr>
          <p:cNvPr id="37" name="Graphic 36" descr="Checkmark">
            <a:extLst>
              <a:ext uri="{FF2B5EF4-FFF2-40B4-BE49-F238E27FC236}">
                <a16:creationId xmlns:a16="http://schemas.microsoft.com/office/drawing/2014/main" id="{3C634DB3-B1DC-7BD3-D7D5-B238E7C56DB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1623" y="3850257"/>
            <a:ext cx="370840" cy="370840"/>
          </a:xfrm>
          <a:prstGeom prst="rect">
            <a:avLst/>
          </a:prstGeom>
        </p:spPr>
      </p:pic>
      <p:pic>
        <p:nvPicPr>
          <p:cNvPr id="38" name="Graphic 37" descr="Checkmark">
            <a:extLst>
              <a:ext uri="{FF2B5EF4-FFF2-40B4-BE49-F238E27FC236}">
                <a16:creationId xmlns:a16="http://schemas.microsoft.com/office/drawing/2014/main" id="{90EE2523-E244-B788-DF58-3536DA7773F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57970" y="3879651"/>
            <a:ext cx="370840" cy="370840"/>
          </a:xfrm>
          <a:prstGeom prst="rect">
            <a:avLst/>
          </a:prstGeom>
        </p:spPr>
      </p:pic>
      <p:pic>
        <p:nvPicPr>
          <p:cNvPr id="39" name="Graphic 38" descr="Checkmark">
            <a:extLst>
              <a:ext uri="{FF2B5EF4-FFF2-40B4-BE49-F238E27FC236}">
                <a16:creationId xmlns:a16="http://schemas.microsoft.com/office/drawing/2014/main" id="{26A22F0B-A532-C731-2CF8-EA0A74397F8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74058" y="4229924"/>
            <a:ext cx="370840" cy="370840"/>
          </a:xfrm>
          <a:prstGeom prst="rect">
            <a:avLst/>
          </a:prstGeom>
        </p:spPr>
      </p:pic>
      <p:pic>
        <p:nvPicPr>
          <p:cNvPr id="40" name="Graphic 39" descr="Close">
            <a:extLst>
              <a:ext uri="{FF2B5EF4-FFF2-40B4-BE49-F238E27FC236}">
                <a16:creationId xmlns:a16="http://schemas.microsoft.com/office/drawing/2014/main" id="{3D7B5DE0-DA32-DE6E-8764-FA55F9A94D3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03721" y="4246781"/>
            <a:ext cx="337127" cy="337127"/>
          </a:xfrm>
          <a:prstGeom prst="rect">
            <a:avLst/>
          </a:prstGeom>
        </p:spPr>
      </p:pic>
      <p:pic>
        <p:nvPicPr>
          <p:cNvPr id="41" name="Graphic 40" descr="Close">
            <a:extLst>
              <a:ext uri="{FF2B5EF4-FFF2-40B4-BE49-F238E27FC236}">
                <a16:creationId xmlns:a16="http://schemas.microsoft.com/office/drawing/2014/main" id="{1B0EB911-911E-8CF5-80E6-09BA9FAAF96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05347" y="4258248"/>
            <a:ext cx="337127" cy="337127"/>
          </a:xfrm>
          <a:prstGeom prst="rect">
            <a:avLst/>
          </a:prstGeom>
        </p:spPr>
      </p:pic>
      <p:pic>
        <p:nvPicPr>
          <p:cNvPr id="42" name="Graphic 41" descr="Close">
            <a:extLst>
              <a:ext uri="{FF2B5EF4-FFF2-40B4-BE49-F238E27FC236}">
                <a16:creationId xmlns:a16="http://schemas.microsoft.com/office/drawing/2014/main" id="{B8EAFFFE-A117-304D-037E-BB228A928C9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01299" y="4245578"/>
            <a:ext cx="337127" cy="337127"/>
          </a:xfrm>
          <a:prstGeom prst="rect">
            <a:avLst/>
          </a:prstGeom>
        </p:spPr>
      </p:pic>
      <p:pic>
        <p:nvPicPr>
          <p:cNvPr id="43" name="Graphic 42" descr="Checkmark">
            <a:extLst>
              <a:ext uri="{FF2B5EF4-FFF2-40B4-BE49-F238E27FC236}">
                <a16:creationId xmlns:a16="http://schemas.microsoft.com/office/drawing/2014/main" id="{5B78D331-6572-E09A-6E28-763A4B6DEE0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82524" y="4577058"/>
            <a:ext cx="370840" cy="370840"/>
          </a:xfrm>
          <a:prstGeom prst="rect">
            <a:avLst/>
          </a:prstGeom>
        </p:spPr>
      </p:pic>
      <p:pic>
        <p:nvPicPr>
          <p:cNvPr id="44" name="Graphic 43" descr="Close">
            <a:extLst>
              <a:ext uri="{FF2B5EF4-FFF2-40B4-BE49-F238E27FC236}">
                <a16:creationId xmlns:a16="http://schemas.microsoft.com/office/drawing/2014/main" id="{59F379E5-58B0-8027-E5F1-A093C98CA33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12187" y="4593915"/>
            <a:ext cx="337127" cy="337127"/>
          </a:xfrm>
          <a:prstGeom prst="rect">
            <a:avLst/>
          </a:prstGeom>
        </p:spPr>
      </p:pic>
      <p:pic>
        <p:nvPicPr>
          <p:cNvPr id="45" name="Graphic 44" descr="Close">
            <a:extLst>
              <a:ext uri="{FF2B5EF4-FFF2-40B4-BE49-F238E27FC236}">
                <a16:creationId xmlns:a16="http://schemas.microsoft.com/office/drawing/2014/main" id="{F31833A1-E570-0E04-F2AD-811347B6D90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13813" y="4605382"/>
            <a:ext cx="337127" cy="337127"/>
          </a:xfrm>
          <a:prstGeom prst="rect">
            <a:avLst/>
          </a:prstGeom>
        </p:spPr>
      </p:pic>
      <p:pic>
        <p:nvPicPr>
          <p:cNvPr id="46" name="Graphic 45" descr="Close">
            <a:extLst>
              <a:ext uri="{FF2B5EF4-FFF2-40B4-BE49-F238E27FC236}">
                <a16:creationId xmlns:a16="http://schemas.microsoft.com/office/drawing/2014/main" id="{6D897AA1-EC46-8E45-F908-68EEB4CE7A3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09765" y="4592712"/>
            <a:ext cx="337127" cy="337127"/>
          </a:xfrm>
          <a:prstGeom prst="rect">
            <a:avLst/>
          </a:prstGeom>
        </p:spPr>
      </p:pic>
    </p:spTree>
    <p:extLst>
      <p:ext uri="{BB962C8B-B14F-4D97-AF65-F5344CB8AC3E}">
        <p14:creationId xmlns:p14="http://schemas.microsoft.com/office/powerpoint/2010/main" val="663661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4C09C-70CA-882C-BDDE-AD4A940083E4}"/>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9399C97-809C-D45B-DFAB-8F6C11FBD61F}"/>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Login Screen</a:t>
            </a:r>
          </a:p>
        </p:txBody>
      </p:sp>
      <p:graphicFrame>
        <p:nvGraphicFramePr>
          <p:cNvPr id="6" name="Table 5">
            <a:extLst>
              <a:ext uri="{FF2B5EF4-FFF2-40B4-BE49-F238E27FC236}">
                <a16:creationId xmlns:a16="http://schemas.microsoft.com/office/drawing/2014/main" id="{B63746CE-48E5-FAE8-005A-B4FB6AEC71E8}"/>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pic>
        <p:nvPicPr>
          <p:cNvPr id="8" name="Picture 7">
            <a:extLst>
              <a:ext uri="{FF2B5EF4-FFF2-40B4-BE49-F238E27FC236}">
                <a16:creationId xmlns:a16="http://schemas.microsoft.com/office/drawing/2014/main" id="{490F0BFE-0C62-D19F-7E8A-0C495C61AA62}"/>
              </a:ext>
            </a:extLst>
          </p:cNvPr>
          <p:cNvPicPr>
            <a:picLocks noChangeAspect="1"/>
          </p:cNvPicPr>
          <p:nvPr/>
        </p:nvPicPr>
        <p:blipFill>
          <a:blip r:embed="rId2"/>
          <a:srcRect t="9989"/>
          <a:stretch>
            <a:fillRect/>
          </a:stretch>
        </p:blipFill>
        <p:spPr>
          <a:xfrm>
            <a:off x="1057983" y="878181"/>
            <a:ext cx="10076033" cy="5101637"/>
          </a:xfrm>
          <a:prstGeom prst="rect">
            <a:avLst/>
          </a:prstGeom>
        </p:spPr>
      </p:pic>
      <p:sp>
        <p:nvSpPr>
          <p:cNvPr id="10" name="Callout: Up Arrow 9">
            <a:extLst>
              <a:ext uri="{FF2B5EF4-FFF2-40B4-BE49-F238E27FC236}">
                <a16:creationId xmlns:a16="http://schemas.microsoft.com/office/drawing/2014/main" id="{AB44ECEA-5D7D-8697-8904-7AF2AB4F4E50}"/>
              </a:ext>
            </a:extLst>
          </p:cNvPr>
          <p:cNvSpPr/>
          <p:nvPr/>
        </p:nvSpPr>
        <p:spPr>
          <a:xfrm>
            <a:off x="6392410" y="1300294"/>
            <a:ext cx="3414319" cy="3070370"/>
          </a:xfrm>
          <a:prstGeom prst="upArrowCallou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noFill/>
            </a:endParaRPr>
          </a:p>
        </p:txBody>
      </p:sp>
      <p:sp>
        <p:nvSpPr>
          <p:cNvPr id="11" name="TextBox 10">
            <a:extLst>
              <a:ext uri="{FF2B5EF4-FFF2-40B4-BE49-F238E27FC236}">
                <a16:creationId xmlns:a16="http://schemas.microsoft.com/office/drawing/2014/main" id="{6E4D22E4-751A-7C71-6BE7-921735AF6855}"/>
              </a:ext>
            </a:extLst>
          </p:cNvPr>
          <p:cNvSpPr txBox="1"/>
          <p:nvPr/>
        </p:nvSpPr>
        <p:spPr>
          <a:xfrm>
            <a:off x="5763238" y="904572"/>
            <a:ext cx="4800545" cy="369332"/>
          </a:xfrm>
          <a:prstGeom prst="rect">
            <a:avLst/>
          </a:prstGeom>
          <a:noFill/>
          <a:ln>
            <a:solidFill>
              <a:schemeClr val="tx1"/>
            </a:solidFill>
          </a:ln>
        </p:spPr>
        <p:txBody>
          <a:bodyPr wrap="none" rtlCol="0">
            <a:spAutoFit/>
          </a:bodyPr>
          <a:lstStyle/>
          <a:p>
            <a:r>
              <a:rPr lang="en-US" dirty="0">
                <a:latin typeface="Cambria" panose="02040503050406030204" pitchFamily="18" charset="0"/>
                <a:ea typeface="Cambria" panose="02040503050406030204" pitchFamily="18" charset="0"/>
              </a:rPr>
              <a:t>Login via Email and Password and click Submit</a:t>
            </a:r>
          </a:p>
        </p:txBody>
      </p:sp>
    </p:spTree>
    <p:extLst>
      <p:ext uri="{BB962C8B-B14F-4D97-AF65-F5344CB8AC3E}">
        <p14:creationId xmlns:p14="http://schemas.microsoft.com/office/powerpoint/2010/main" val="1400714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CA086A2-8700-A4DA-6BE6-16055D7E07CF}"/>
              </a:ext>
            </a:extLst>
          </p:cNvPr>
          <p:cNvSpPr>
            <a:spLocks noGrp="1"/>
          </p:cNvSpPr>
          <p:nvPr>
            <p:ph type="ftr" sz="quarter" idx="11"/>
          </p:nvPr>
        </p:nvSpPr>
        <p:spPr/>
        <p:txBody>
          <a:bodyPr/>
          <a:lstStyle/>
          <a:p>
            <a:r>
              <a:rPr lang="en-US"/>
              <a:t>UNITGLO SOLUTIONS PVT LTD</a:t>
            </a:r>
            <a:endParaRPr lang="en-US" dirty="0"/>
          </a:p>
        </p:txBody>
      </p:sp>
      <p:sp>
        <p:nvSpPr>
          <p:cNvPr id="3" name="TextBox 2">
            <a:extLst>
              <a:ext uri="{FF2B5EF4-FFF2-40B4-BE49-F238E27FC236}">
                <a16:creationId xmlns:a16="http://schemas.microsoft.com/office/drawing/2014/main" id="{151B70F6-EB6F-443E-7FE5-6AC7D27C79A8}"/>
              </a:ext>
            </a:extLst>
          </p:cNvPr>
          <p:cNvSpPr txBox="1"/>
          <p:nvPr/>
        </p:nvSpPr>
        <p:spPr>
          <a:xfrm>
            <a:off x="2937426" y="1843950"/>
            <a:ext cx="6317148" cy="3170099"/>
          </a:xfrm>
          <a:prstGeom prst="rect">
            <a:avLst/>
          </a:prstGeom>
          <a:noFill/>
        </p:spPr>
        <p:txBody>
          <a:bodyPr wrap="square" rtlCol="0">
            <a:spAutoFit/>
          </a:bodyPr>
          <a:lstStyle/>
          <a:p>
            <a:pPr algn="ctr"/>
            <a:r>
              <a:rPr lang="en-US" sz="10000" dirty="0" err="1"/>
              <a:t>qHSE</a:t>
            </a:r>
            <a:r>
              <a:rPr lang="en-US" sz="10000" dirty="0"/>
              <a:t> Dashboard</a:t>
            </a:r>
          </a:p>
        </p:txBody>
      </p:sp>
    </p:spTree>
    <p:extLst>
      <p:ext uri="{BB962C8B-B14F-4D97-AF65-F5344CB8AC3E}">
        <p14:creationId xmlns:p14="http://schemas.microsoft.com/office/powerpoint/2010/main" val="1005969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B8711-0F8A-69AB-4066-AEE7566711DC}"/>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BF0BC59-A36C-BFCC-67EA-31BE4D966523}"/>
              </a:ext>
            </a:extLst>
          </p:cNvPr>
          <p:cNvPicPr>
            <a:picLocks noChangeAspect="1"/>
          </p:cNvPicPr>
          <p:nvPr/>
        </p:nvPicPr>
        <p:blipFill>
          <a:blip r:embed="rId2"/>
          <a:srcRect t="14328"/>
          <a:stretch>
            <a:fillRect/>
          </a:stretch>
        </p:blipFill>
        <p:spPr>
          <a:xfrm>
            <a:off x="1138697" y="868680"/>
            <a:ext cx="10625804" cy="5120640"/>
          </a:xfrm>
          <a:prstGeom prst="rect">
            <a:avLst/>
          </a:prstGeom>
        </p:spPr>
      </p:pic>
      <p:sp>
        <p:nvSpPr>
          <p:cNvPr id="13" name="TextBox 12">
            <a:extLst>
              <a:ext uri="{FF2B5EF4-FFF2-40B4-BE49-F238E27FC236}">
                <a16:creationId xmlns:a16="http://schemas.microsoft.com/office/drawing/2014/main" id="{60AD44E9-DBC7-9E8F-E436-FC5974BBC2EC}"/>
              </a:ext>
            </a:extLst>
          </p:cNvPr>
          <p:cNvSpPr txBox="1"/>
          <p:nvPr/>
        </p:nvSpPr>
        <p:spPr>
          <a:xfrm>
            <a:off x="0" y="5216"/>
            <a:ext cx="12192000" cy="461665"/>
          </a:xfrm>
          <a:prstGeom prst="rect">
            <a:avLst/>
          </a:prstGeom>
          <a:noFill/>
        </p:spPr>
        <p:txBody>
          <a:bodyPr wrap="square" rtlCol="0">
            <a:spAutoFit/>
          </a:bodyPr>
          <a:lstStyle/>
          <a:p>
            <a:pPr algn="ctr"/>
            <a:r>
              <a:rPr lang="en-US" sz="2400" b="1" dirty="0" err="1">
                <a:ea typeface="Cambria Math" panose="02040503050406030204" pitchFamily="18" charset="0"/>
                <a:cs typeface="Times New Roman" pitchFamily="18" charset="0"/>
              </a:rPr>
              <a:t>qHSE</a:t>
            </a:r>
            <a:r>
              <a:rPr lang="en-US" sz="2400" b="1" dirty="0">
                <a:ea typeface="Cambria Math" panose="02040503050406030204" pitchFamily="18" charset="0"/>
                <a:cs typeface="Times New Roman" pitchFamily="18" charset="0"/>
              </a:rPr>
              <a:t> Audit Dashboard - 1 </a:t>
            </a:r>
          </a:p>
        </p:txBody>
      </p:sp>
      <p:graphicFrame>
        <p:nvGraphicFramePr>
          <p:cNvPr id="6" name="Table 5">
            <a:extLst>
              <a:ext uri="{FF2B5EF4-FFF2-40B4-BE49-F238E27FC236}">
                <a16:creationId xmlns:a16="http://schemas.microsoft.com/office/drawing/2014/main" id="{ECB5F1D0-46F2-EAAC-4AE1-65872B08A538}"/>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18" name="Rectangle: Rounded Corners 17">
            <a:extLst>
              <a:ext uri="{FF2B5EF4-FFF2-40B4-BE49-F238E27FC236}">
                <a16:creationId xmlns:a16="http://schemas.microsoft.com/office/drawing/2014/main" id="{C87C78F4-3794-FD91-16B6-C5131AF8E35C}"/>
              </a:ext>
            </a:extLst>
          </p:cNvPr>
          <p:cNvSpPr/>
          <p:nvPr/>
        </p:nvSpPr>
        <p:spPr>
          <a:xfrm>
            <a:off x="7004807" y="4105738"/>
            <a:ext cx="3523842" cy="168842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2BF5E1F-3A87-3A94-3A0A-80C6E34D1D9B}"/>
              </a:ext>
            </a:extLst>
          </p:cNvPr>
          <p:cNvSpPr txBox="1"/>
          <p:nvPr/>
        </p:nvSpPr>
        <p:spPr>
          <a:xfrm>
            <a:off x="6789179" y="5954453"/>
            <a:ext cx="4344487" cy="338554"/>
          </a:xfrm>
          <a:prstGeom prst="rect">
            <a:avLst/>
          </a:prstGeom>
          <a:noFill/>
          <a:ln>
            <a:solidFill>
              <a:srgbClr val="FF0000"/>
            </a:solidFill>
          </a:ln>
        </p:spPr>
        <p:txBody>
          <a:bodyPr wrap="square" rtlCol="0">
            <a:spAutoFit/>
          </a:bodyPr>
          <a:lstStyle/>
          <a:p>
            <a:pPr algn="ctr"/>
            <a:r>
              <a:rPr lang="en-US" sz="1600" dirty="0"/>
              <a:t>CAPA Wise point distribution with export option</a:t>
            </a:r>
          </a:p>
        </p:txBody>
      </p:sp>
      <p:cxnSp>
        <p:nvCxnSpPr>
          <p:cNvPr id="14" name="Straight Arrow Connector 13">
            <a:extLst>
              <a:ext uri="{FF2B5EF4-FFF2-40B4-BE49-F238E27FC236}">
                <a16:creationId xmlns:a16="http://schemas.microsoft.com/office/drawing/2014/main" id="{863680C1-97EF-2A66-A282-72762236DF83}"/>
              </a:ext>
            </a:extLst>
          </p:cNvPr>
          <p:cNvCxnSpPr>
            <a:stCxn id="18" idx="2"/>
          </p:cNvCxnSpPr>
          <p:nvPr/>
        </p:nvCxnSpPr>
        <p:spPr>
          <a:xfrm>
            <a:off x="8766728" y="5794165"/>
            <a:ext cx="0" cy="22563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Arrow: Left 16">
            <a:extLst>
              <a:ext uri="{FF2B5EF4-FFF2-40B4-BE49-F238E27FC236}">
                <a16:creationId xmlns:a16="http://schemas.microsoft.com/office/drawing/2014/main" id="{35FDBB89-7246-4E8E-7990-62D29949BFA9}"/>
              </a:ext>
            </a:extLst>
          </p:cNvPr>
          <p:cNvSpPr/>
          <p:nvPr/>
        </p:nvSpPr>
        <p:spPr>
          <a:xfrm>
            <a:off x="2345267" y="3996267"/>
            <a:ext cx="4351866" cy="1797898"/>
          </a:xfrm>
          <a:prstGeom prst="leftArrow">
            <a:avLst>
              <a:gd name="adj1" fmla="val 73546"/>
              <a:gd name="adj2" fmla="val 48587"/>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3876DED-B646-7794-47C7-F9D0C690443F}"/>
              </a:ext>
            </a:extLst>
          </p:cNvPr>
          <p:cNvSpPr txBox="1"/>
          <p:nvPr/>
        </p:nvSpPr>
        <p:spPr>
          <a:xfrm>
            <a:off x="1087316" y="4525884"/>
            <a:ext cx="1309333" cy="738664"/>
          </a:xfrm>
          <a:prstGeom prst="rect">
            <a:avLst/>
          </a:prstGeom>
          <a:noFill/>
          <a:ln>
            <a:solidFill>
              <a:srgbClr val="FF0000"/>
            </a:solidFill>
          </a:ln>
        </p:spPr>
        <p:txBody>
          <a:bodyPr wrap="none" rtlCol="0">
            <a:spAutoFit/>
          </a:bodyPr>
          <a:lstStyle/>
          <a:p>
            <a:pPr algn="ctr"/>
            <a:r>
              <a:rPr lang="en-US" sz="1400" dirty="0">
                <a:solidFill>
                  <a:srgbClr val="FF0000"/>
                </a:solidFill>
              </a:rPr>
              <a:t>HSE region </a:t>
            </a:r>
          </a:p>
          <a:p>
            <a:pPr algn="ctr"/>
            <a:r>
              <a:rPr lang="en-US" sz="1400" dirty="0">
                <a:solidFill>
                  <a:srgbClr val="FF0000"/>
                </a:solidFill>
              </a:rPr>
              <a:t>wise score with</a:t>
            </a:r>
          </a:p>
          <a:p>
            <a:pPr algn="ctr"/>
            <a:r>
              <a:rPr lang="en-US" sz="1400" dirty="0">
                <a:solidFill>
                  <a:srgbClr val="FF0000"/>
                </a:solidFill>
              </a:rPr>
              <a:t>Export option</a:t>
            </a:r>
          </a:p>
        </p:txBody>
      </p:sp>
      <p:sp>
        <p:nvSpPr>
          <p:cNvPr id="21" name="Callout: Up Arrow 20">
            <a:extLst>
              <a:ext uri="{FF2B5EF4-FFF2-40B4-BE49-F238E27FC236}">
                <a16:creationId xmlns:a16="http://schemas.microsoft.com/office/drawing/2014/main" id="{CF257916-7FD3-B72B-B8BC-0C115132C1ED}"/>
              </a:ext>
            </a:extLst>
          </p:cNvPr>
          <p:cNvSpPr/>
          <p:nvPr/>
        </p:nvSpPr>
        <p:spPr>
          <a:xfrm>
            <a:off x="2345267" y="1947333"/>
            <a:ext cx="8627533" cy="882992"/>
          </a:xfrm>
          <a:prstGeom prst="upArrowCallou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82E3115-83F7-43D4-B945-319B7AE05222}"/>
              </a:ext>
            </a:extLst>
          </p:cNvPr>
          <p:cNvSpPr txBox="1"/>
          <p:nvPr/>
        </p:nvSpPr>
        <p:spPr>
          <a:xfrm>
            <a:off x="5795687" y="1547521"/>
            <a:ext cx="1726691" cy="369332"/>
          </a:xfrm>
          <a:prstGeom prst="rect">
            <a:avLst/>
          </a:prstGeom>
          <a:noFill/>
          <a:ln>
            <a:solidFill>
              <a:srgbClr val="FF0000"/>
            </a:solidFill>
          </a:ln>
        </p:spPr>
        <p:txBody>
          <a:bodyPr wrap="none" rtlCol="0">
            <a:spAutoFit/>
          </a:bodyPr>
          <a:lstStyle/>
          <a:p>
            <a:pPr algn="ctr"/>
            <a:r>
              <a:rPr lang="en-US" dirty="0"/>
              <a:t>HSE Audit Filters</a:t>
            </a:r>
          </a:p>
        </p:txBody>
      </p:sp>
      <p:sp>
        <p:nvSpPr>
          <p:cNvPr id="23" name="Arrow: Right 22">
            <a:extLst>
              <a:ext uri="{FF2B5EF4-FFF2-40B4-BE49-F238E27FC236}">
                <a16:creationId xmlns:a16="http://schemas.microsoft.com/office/drawing/2014/main" id="{47014A88-F83C-8DCD-D883-1442DE3A450A}"/>
              </a:ext>
            </a:extLst>
          </p:cNvPr>
          <p:cNvSpPr/>
          <p:nvPr/>
        </p:nvSpPr>
        <p:spPr>
          <a:xfrm>
            <a:off x="2345266" y="2683933"/>
            <a:ext cx="8932333" cy="1039127"/>
          </a:xfrm>
          <a:prstGeom prst="righ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8E571C2-B28C-2A25-7F00-7220EE586107}"/>
              </a:ext>
            </a:extLst>
          </p:cNvPr>
          <p:cNvSpPr txBox="1"/>
          <p:nvPr/>
        </p:nvSpPr>
        <p:spPr>
          <a:xfrm>
            <a:off x="10348422" y="2967808"/>
            <a:ext cx="781752" cy="461665"/>
          </a:xfrm>
          <a:prstGeom prst="rect">
            <a:avLst/>
          </a:prstGeom>
          <a:noFill/>
          <a:ln>
            <a:solidFill>
              <a:srgbClr val="FF0000"/>
            </a:solidFill>
          </a:ln>
        </p:spPr>
        <p:txBody>
          <a:bodyPr wrap="none" rtlCol="0">
            <a:spAutoFit/>
          </a:bodyPr>
          <a:lstStyle/>
          <a:p>
            <a:pPr algn="ctr"/>
            <a:r>
              <a:rPr lang="en-US" sz="1200" dirty="0"/>
              <a:t>Brief </a:t>
            </a:r>
          </a:p>
          <a:p>
            <a:pPr algn="ctr"/>
            <a:r>
              <a:rPr lang="en-US" sz="1200" dirty="0"/>
              <a:t>Summery</a:t>
            </a:r>
          </a:p>
        </p:txBody>
      </p:sp>
    </p:spTree>
    <p:extLst>
      <p:ext uri="{BB962C8B-B14F-4D97-AF65-F5344CB8AC3E}">
        <p14:creationId xmlns:p14="http://schemas.microsoft.com/office/powerpoint/2010/main" val="325031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47D3D-EFCF-AD51-F82D-3D455497911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6C1F58E-91FB-676B-59D8-9F3E374DC0D3}"/>
              </a:ext>
            </a:extLst>
          </p:cNvPr>
          <p:cNvPicPr>
            <a:picLocks noChangeAspect="1"/>
          </p:cNvPicPr>
          <p:nvPr/>
        </p:nvPicPr>
        <p:blipFill>
          <a:blip r:embed="rId2"/>
          <a:srcRect t="14197"/>
          <a:stretch>
            <a:fillRect/>
          </a:stretch>
        </p:blipFill>
        <p:spPr>
          <a:xfrm>
            <a:off x="1484341" y="868680"/>
            <a:ext cx="10609675" cy="5120640"/>
          </a:xfrm>
          <a:prstGeom prst="rect">
            <a:avLst/>
          </a:prstGeom>
        </p:spPr>
      </p:pic>
      <p:sp>
        <p:nvSpPr>
          <p:cNvPr id="13" name="TextBox 12">
            <a:extLst>
              <a:ext uri="{FF2B5EF4-FFF2-40B4-BE49-F238E27FC236}">
                <a16:creationId xmlns:a16="http://schemas.microsoft.com/office/drawing/2014/main" id="{0171B087-9EDD-84F9-9285-AA2046117E1F}"/>
              </a:ext>
            </a:extLst>
          </p:cNvPr>
          <p:cNvSpPr txBox="1"/>
          <p:nvPr/>
        </p:nvSpPr>
        <p:spPr>
          <a:xfrm>
            <a:off x="0" y="5216"/>
            <a:ext cx="12192000" cy="461665"/>
          </a:xfrm>
          <a:prstGeom prst="rect">
            <a:avLst/>
          </a:prstGeom>
          <a:noFill/>
        </p:spPr>
        <p:txBody>
          <a:bodyPr wrap="square" rtlCol="0">
            <a:spAutoFit/>
          </a:bodyPr>
          <a:lstStyle/>
          <a:p>
            <a:pPr algn="ctr"/>
            <a:r>
              <a:rPr lang="en-US" sz="2400" b="1" dirty="0" err="1">
                <a:ea typeface="Cambria Math" panose="02040503050406030204" pitchFamily="18" charset="0"/>
                <a:cs typeface="Times New Roman" pitchFamily="18" charset="0"/>
              </a:rPr>
              <a:t>qHSE</a:t>
            </a:r>
            <a:r>
              <a:rPr lang="en-US" sz="2400" b="1" dirty="0">
                <a:ea typeface="Cambria Math" panose="02040503050406030204" pitchFamily="18" charset="0"/>
                <a:cs typeface="Times New Roman" pitchFamily="18" charset="0"/>
              </a:rPr>
              <a:t> Audit Dashboard - 1 </a:t>
            </a:r>
          </a:p>
        </p:txBody>
      </p:sp>
      <p:graphicFrame>
        <p:nvGraphicFramePr>
          <p:cNvPr id="6" name="Table 5">
            <a:extLst>
              <a:ext uri="{FF2B5EF4-FFF2-40B4-BE49-F238E27FC236}">
                <a16:creationId xmlns:a16="http://schemas.microsoft.com/office/drawing/2014/main" id="{257645C7-15E6-F865-C81C-7268E0DA7D33}"/>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4" name="Callout: Up Arrow 3">
            <a:extLst>
              <a:ext uri="{FF2B5EF4-FFF2-40B4-BE49-F238E27FC236}">
                <a16:creationId xmlns:a16="http://schemas.microsoft.com/office/drawing/2014/main" id="{6DE25052-45E4-3E09-42FC-A4004C95BB85}"/>
              </a:ext>
            </a:extLst>
          </p:cNvPr>
          <p:cNvSpPr/>
          <p:nvPr/>
        </p:nvSpPr>
        <p:spPr>
          <a:xfrm>
            <a:off x="2573867" y="1312333"/>
            <a:ext cx="5799666" cy="3937000"/>
          </a:xfrm>
          <a:prstGeom prst="upArrowCallout">
            <a:avLst>
              <a:gd name="adj1" fmla="val 20269"/>
              <a:gd name="adj2" fmla="val 28441"/>
              <a:gd name="adj3" fmla="val 25000"/>
              <a:gd name="adj4" fmla="val 68203"/>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B1A5FAD-618F-1203-4D53-8879773D8923}"/>
              </a:ext>
            </a:extLst>
          </p:cNvPr>
          <p:cNvSpPr txBox="1"/>
          <p:nvPr/>
        </p:nvSpPr>
        <p:spPr>
          <a:xfrm>
            <a:off x="4321974" y="943001"/>
            <a:ext cx="2303451" cy="369332"/>
          </a:xfrm>
          <a:prstGeom prst="rect">
            <a:avLst/>
          </a:prstGeom>
          <a:noFill/>
          <a:ln>
            <a:solidFill>
              <a:srgbClr val="FF0000"/>
            </a:solidFill>
          </a:ln>
        </p:spPr>
        <p:txBody>
          <a:bodyPr wrap="none" rtlCol="0">
            <a:spAutoFit/>
          </a:bodyPr>
          <a:lstStyle/>
          <a:p>
            <a:r>
              <a:rPr lang="en-US" dirty="0"/>
              <a:t>HSC Open by Location</a:t>
            </a:r>
          </a:p>
        </p:txBody>
      </p:sp>
      <p:sp>
        <p:nvSpPr>
          <p:cNvPr id="7" name="Rectangle: Rounded Corners 6">
            <a:extLst>
              <a:ext uri="{FF2B5EF4-FFF2-40B4-BE49-F238E27FC236}">
                <a16:creationId xmlns:a16="http://schemas.microsoft.com/office/drawing/2014/main" id="{F3FCBB0E-D895-2F3F-91FC-015204EF1745}"/>
              </a:ext>
            </a:extLst>
          </p:cNvPr>
          <p:cNvSpPr/>
          <p:nvPr/>
        </p:nvSpPr>
        <p:spPr>
          <a:xfrm>
            <a:off x="8559800" y="2582333"/>
            <a:ext cx="2743200" cy="26670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E40044A-E9CE-4792-674D-7DE431095A70}"/>
              </a:ext>
            </a:extLst>
          </p:cNvPr>
          <p:cNvSpPr txBox="1"/>
          <p:nvPr/>
        </p:nvSpPr>
        <p:spPr>
          <a:xfrm>
            <a:off x="5473699" y="5505837"/>
            <a:ext cx="4223464" cy="369332"/>
          </a:xfrm>
          <a:prstGeom prst="rect">
            <a:avLst/>
          </a:prstGeom>
          <a:noFill/>
          <a:ln>
            <a:solidFill>
              <a:srgbClr val="FF0000"/>
            </a:solidFill>
          </a:ln>
        </p:spPr>
        <p:txBody>
          <a:bodyPr wrap="none" rtlCol="0">
            <a:spAutoFit/>
          </a:bodyPr>
          <a:lstStyle/>
          <a:p>
            <a:r>
              <a:rPr lang="en-US" dirty="0"/>
              <a:t>NC vs Recommendation with export option</a:t>
            </a:r>
          </a:p>
        </p:txBody>
      </p:sp>
      <p:cxnSp>
        <p:nvCxnSpPr>
          <p:cNvPr id="11" name="Connector: Elbow 10">
            <a:extLst>
              <a:ext uri="{FF2B5EF4-FFF2-40B4-BE49-F238E27FC236}">
                <a16:creationId xmlns:a16="http://schemas.microsoft.com/office/drawing/2014/main" id="{8219BD63-88DF-CC1D-D7F5-EEDD1E9BE01F}"/>
              </a:ext>
            </a:extLst>
          </p:cNvPr>
          <p:cNvCxnSpPr/>
          <p:nvPr/>
        </p:nvCxnSpPr>
        <p:spPr>
          <a:xfrm rot="5400000" flipH="1" flipV="1">
            <a:off x="9627626" y="5360427"/>
            <a:ext cx="446681" cy="296333"/>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4888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ED54D-4B61-BEEE-6F28-52C7D3A2A2C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3C8AC77-4E86-EFE2-F2D1-0877A8BD15C4}"/>
              </a:ext>
            </a:extLst>
          </p:cNvPr>
          <p:cNvPicPr>
            <a:picLocks noChangeAspect="1"/>
          </p:cNvPicPr>
          <p:nvPr/>
        </p:nvPicPr>
        <p:blipFill>
          <a:blip r:embed="rId2"/>
          <a:srcRect t="14445"/>
          <a:stretch>
            <a:fillRect/>
          </a:stretch>
        </p:blipFill>
        <p:spPr>
          <a:xfrm>
            <a:off x="1007538" y="533400"/>
            <a:ext cx="10640292" cy="5120640"/>
          </a:xfrm>
          <a:prstGeom prst="rect">
            <a:avLst/>
          </a:prstGeom>
        </p:spPr>
      </p:pic>
      <p:sp>
        <p:nvSpPr>
          <p:cNvPr id="13" name="TextBox 12">
            <a:extLst>
              <a:ext uri="{FF2B5EF4-FFF2-40B4-BE49-F238E27FC236}">
                <a16:creationId xmlns:a16="http://schemas.microsoft.com/office/drawing/2014/main" id="{39AE10A5-BA4E-338F-5C3E-48B0D9CF8267}"/>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HSE Audit Dashboard - 3</a:t>
            </a:r>
          </a:p>
        </p:txBody>
      </p:sp>
      <p:graphicFrame>
        <p:nvGraphicFramePr>
          <p:cNvPr id="6" name="Table 5">
            <a:extLst>
              <a:ext uri="{FF2B5EF4-FFF2-40B4-BE49-F238E27FC236}">
                <a16:creationId xmlns:a16="http://schemas.microsoft.com/office/drawing/2014/main" id="{0B1D9DC9-75F8-624B-796F-CBF524EFF519}"/>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B80F9700-C624-CE0B-C347-F4B6F0B80266}"/>
              </a:ext>
            </a:extLst>
          </p:cNvPr>
          <p:cNvSpPr/>
          <p:nvPr/>
        </p:nvSpPr>
        <p:spPr>
          <a:xfrm>
            <a:off x="855677" y="2476206"/>
            <a:ext cx="1761688" cy="461665"/>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FF00"/>
                </a:solidFill>
              </a:ln>
            </a:endParaRPr>
          </a:p>
        </p:txBody>
      </p:sp>
      <p:sp>
        <p:nvSpPr>
          <p:cNvPr id="10" name="TextBox 9">
            <a:extLst>
              <a:ext uri="{FF2B5EF4-FFF2-40B4-BE49-F238E27FC236}">
                <a16:creationId xmlns:a16="http://schemas.microsoft.com/office/drawing/2014/main" id="{51814055-4CEE-5655-ABF9-7ADA5B6C0C68}"/>
              </a:ext>
            </a:extLst>
          </p:cNvPr>
          <p:cNvSpPr txBox="1"/>
          <p:nvPr/>
        </p:nvSpPr>
        <p:spPr>
          <a:xfrm>
            <a:off x="41945" y="2414650"/>
            <a:ext cx="763398" cy="584775"/>
          </a:xfrm>
          <a:prstGeom prst="rect">
            <a:avLst/>
          </a:prstGeom>
          <a:noFill/>
          <a:ln>
            <a:solidFill>
              <a:srgbClr val="002060"/>
            </a:solidFill>
          </a:ln>
        </p:spPr>
        <p:txBody>
          <a:bodyPr wrap="square" rtlCol="0">
            <a:spAutoFit/>
          </a:bodyPr>
          <a:lstStyle/>
          <a:p>
            <a:pPr algn="ctr"/>
            <a:r>
              <a:rPr lang="en-US" sz="1600" dirty="0">
                <a:latin typeface="Cambria" panose="02040503050406030204" pitchFamily="18" charset="0"/>
                <a:ea typeface="Cambria" panose="02040503050406030204" pitchFamily="18" charset="0"/>
              </a:rPr>
              <a:t>Active</a:t>
            </a:r>
          </a:p>
          <a:p>
            <a:pPr algn="ctr"/>
            <a:r>
              <a:rPr lang="en-US" sz="1600" dirty="0"/>
              <a:t>Tab</a:t>
            </a:r>
          </a:p>
        </p:txBody>
      </p:sp>
      <p:sp>
        <p:nvSpPr>
          <p:cNvPr id="11" name="Callout: Up Arrow 10">
            <a:extLst>
              <a:ext uri="{FF2B5EF4-FFF2-40B4-BE49-F238E27FC236}">
                <a16:creationId xmlns:a16="http://schemas.microsoft.com/office/drawing/2014/main" id="{8055F0F5-F657-5940-1A0F-5B057B2AB888}"/>
              </a:ext>
            </a:extLst>
          </p:cNvPr>
          <p:cNvSpPr/>
          <p:nvPr/>
        </p:nvSpPr>
        <p:spPr>
          <a:xfrm>
            <a:off x="2995783" y="1786855"/>
            <a:ext cx="8340540" cy="3473042"/>
          </a:xfrm>
          <a:prstGeom prst="upArrowCallout">
            <a:avLst>
              <a:gd name="adj1" fmla="val 23176"/>
              <a:gd name="adj2" fmla="val 19848"/>
              <a:gd name="adj3" fmla="val 16514"/>
              <a:gd name="adj4" fmla="val 7677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C65B63E-39EE-A766-8F3D-18E85E7A42D3}"/>
              </a:ext>
            </a:extLst>
          </p:cNvPr>
          <p:cNvSpPr txBox="1"/>
          <p:nvPr/>
        </p:nvSpPr>
        <p:spPr>
          <a:xfrm>
            <a:off x="4603228" y="1381415"/>
            <a:ext cx="4654929" cy="369332"/>
          </a:xfrm>
          <a:prstGeom prst="rect">
            <a:avLst/>
          </a:prstGeom>
          <a:noFill/>
          <a:ln>
            <a:solidFill>
              <a:srgbClr val="FF0000"/>
            </a:solidFill>
          </a:ln>
        </p:spPr>
        <p:txBody>
          <a:bodyPr wrap="none" rtlCol="0">
            <a:spAutoFit/>
          </a:bodyPr>
          <a:lstStyle/>
          <a:p>
            <a:r>
              <a:rPr lang="en-US" dirty="0"/>
              <a:t>Open Point Summary with Accounts and point</a:t>
            </a:r>
          </a:p>
        </p:txBody>
      </p:sp>
      <p:sp>
        <p:nvSpPr>
          <p:cNvPr id="17" name="Callout: Left Arrow 16">
            <a:extLst>
              <a:ext uri="{FF2B5EF4-FFF2-40B4-BE49-F238E27FC236}">
                <a16:creationId xmlns:a16="http://schemas.microsoft.com/office/drawing/2014/main" id="{585521D8-AA38-6640-E5A8-F83AF9285623}"/>
              </a:ext>
            </a:extLst>
          </p:cNvPr>
          <p:cNvSpPr/>
          <p:nvPr/>
        </p:nvSpPr>
        <p:spPr>
          <a:xfrm>
            <a:off x="10146949" y="1269066"/>
            <a:ext cx="1073791" cy="352338"/>
          </a:xfrm>
          <a:prstGeom prst="leftArrowCallout">
            <a:avLst>
              <a:gd name="adj1" fmla="val 25000"/>
              <a:gd name="adj2" fmla="val 25000"/>
              <a:gd name="adj3" fmla="val 25000"/>
              <a:gd name="adj4" fmla="val 8450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4D0FF7B-F0FA-6F60-4D7A-AC45853986B9}"/>
              </a:ext>
            </a:extLst>
          </p:cNvPr>
          <p:cNvSpPr txBox="1"/>
          <p:nvPr/>
        </p:nvSpPr>
        <p:spPr>
          <a:xfrm>
            <a:off x="9368338" y="1193256"/>
            <a:ext cx="778611" cy="523220"/>
          </a:xfrm>
          <a:prstGeom prst="rect">
            <a:avLst/>
          </a:prstGeom>
          <a:noFill/>
          <a:ln>
            <a:solidFill>
              <a:srgbClr val="FF0000"/>
            </a:solidFill>
          </a:ln>
        </p:spPr>
        <p:txBody>
          <a:bodyPr wrap="none" rtlCol="0">
            <a:spAutoFit/>
          </a:bodyPr>
          <a:lstStyle/>
          <a:p>
            <a:pPr algn="ctr"/>
            <a:r>
              <a:rPr lang="en-US" sz="1400" dirty="0">
                <a:latin typeface="Cambria" panose="02040503050406030204" pitchFamily="18" charset="0"/>
                <a:ea typeface="Cambria" panose="02040503050406030204" pitchFamily="18" charset="0"/>
              </a:rPr>
              <a:t>Export </a:t>
            </a:r>
          </a:p>
          <a:p>
            <a:pPr algn="ctr"/>
            <a:r>
              <a:rPr lang="en-US" sz="1400" dirty="0">
                <a:latin typeface="Cambria" panose="02040503050406030204" pitchFamily="18" charset="0"/>
                <a:ea typeface="Cambria" panose="02040503050406030204" pitchFamily="18" charset="0"/>
              </a:rPr>
              <a:t>to Excel</a:t>
            </a:r>
          </a:p>
        </p:txBody>
      </p:sp>
    </p:spTree>
    <p:extLst>
      <p:ext uri="{BB962C8B-B14F-4D97-AF65-F5344CB8AC3E}">
        <p14:creationId xmlns:p14="http://schemas.microsoft.com/office/powerpoint/2010/main" val="352774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57572-F839-EEB7-8536-E56B3DF7271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C401303-71C9-31E1-29F9-46943D035C9E}"/>
              </a:ext>
            </a:extLst>
          </p:cNvPr>
          <p:cNvPicPr>
            <a:picLocks noChangeAspect="1"/>
          </p:cNvPicPr>
          <p:nvPr/>
        </p:nvPicPr>
        <p:blipFill>
          <a:blip r:embed="rId2"/>
          <a:srcRect t="13827"/>
          <a:stretch>
            <a:fillRect/>
          </a:stretch>
        </p:blipFill>
        <p:spPr>
          <a:xfrm>
            <a:off x="855677" y="550332"/>
            <a:ext cx="10564073" cy="5120640"/>
          </a:xfrm>
          <a:prstGeom prst="rect">
            <a:avLst/>
          </a:prstGeom>
        </p:spPr>
      </p:pic>
      <p:sp>
        <p:nvSpPr>
          <p:cNvPr id="13" name="TextBox 12">
            <a:extLst>
              <a:ext uri="{FF2B5EF4-FFF2-40B4-BE49-F238E27FC236}">
                <a16:creationId xmlns:a16="http://schemas.microsoft.com/office/drawing/2014/main" id="{DA15FC54-EB4F-5BF6-5899-3C95283CE662}"/>
              </a:ext>
            </a:extLst>
          </p:cNvPr>
          <p:cNvSpPr txBox="1"/>
          <p:nvPr/>
        </p:nvSpPr>
        <p:spPr>
          <a:xfrm>
            <a:off x="0" y="5216"/>
            <a:ext cx="12192000" cy="461665"/>
          </a:xfrm>
          <a:prstGeom prst="rect">
            <a:avLst/>
          </a:prstGeom>
          <a:noFill/>
        </p:spPr>
        <p:txBody>
          <a:bodyPr wrap="square" rtlCol="0">
            <a:spAutoFit/>
          </a:bodyPr>
          <a:lstStyle/>
          <a:p>
            <a:pPr algn="ctr"/>
            <a:r>
              <a:rPr lang="en-US" sz="2400" b="1" dirty="0" err="1">
                <a:ea typeface="Cambria Math" panose="02040503050406030204" pitchFamily="18" charset="0"/>
                <a:cs typeface="Times New Roman" pitchFamily="18" charset="0"/>
              </a:rPr>
              <a:t>qHSE</a:t>
            </a:r>
            <a:r>
              <a:rPr lang="en-US" sz="2400" b="1" dirty="0">
                <a:ea typeface="Cambria Math" panose="02040503050406030204" pitchFamily="18" charset="0"/>
                <a:cs typeface="Times New Roman" pitchFamily="18" charset="0"/>
              </a:rPr>
              <a:t> Audit Dashboard -3 </a:t>
            </a:r>
          </a:p>
        </p:txBody>
      </p:sp>
      <p:graphicFrame>
        <p:nvGraphicFramePr>
          <p:cNvPr id="6" name="Table 5">
            <a:extLst>
              <a:ext uri="{FF2B5EF4-FFF2-40B4-BE49-F238E27FC236}">
                <a16:creationId xmlns:a16="http://schemas.microsoft.com/office/drawing/2014/main" id="{04C4AB08-7072-AC32-5060-0B8310E995E0}"/>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327A81F7-B879-C600-E0F5-F7983C899BB9}"/>
              </a:ext>
            </a:extLst>
          </p:cNvPr>
          <p:cNvSpPr/>
          <p:nvPr/>
        </p:nvSpPr>
        <p:spPr>
          <a:xfrm>
            <a:off x="855677" y="2476206"/>
            <a:ext cx="1761688" cy="461665"/>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FF00"/>
                </a:solidFill>
              </a:ln>
            </a:endParaRPr>
          </a:p>
        </p:txBody>
      </p:sp>
      <p:sp>
        <p:nvSpPr>
          <p:cNvPr id="10" name="TextBox 9">
            <a:extLst>
              <a:ext uri="{FF2B5EF4-FFF2-40B4-BE49-F238E27FC236}">
                <a16:creationId xmlns:a16="http://schemas.microsoft.com/office/drawing/2014/main" id="{AC97EDDE-9321-D84C-C1C7-FCA1C2726A97}"/>
              </a:ext>
            </a:extLst>
          </p:cNvPr>
          <p:cNvSpPr txBox="1"/>
          <p:nvPr/>
        </p:nvSpPr>
        <p:spPr>
          <a:xfrm>
            <a:off x="41945" y="2414650"/>
            <a:ext cx="763398" cy="584775"/>
          </a:xfrm>
          <a:prstGeom prst="rect">
            <a:avLst/>
          </a:prstGeom>
          <a:noFill/>
          <a:ln>
            <a:solidFill>
              <a:srgbClr val="002060"/>
            </a:solidFill>
          </a:ln>
        </p:spPr>
        <p:txBody>
          <a:bodyPr wrap="square" rtlCol="0">
            <a:spAutoFit/>
          </a:bodyPr>
          <a:lstStyle/>
          <a:p>
            <a:pPr algn="ctr"/>
            <a:r>
              <a:rPr lang="en-US" sz="1600" dirty="0">
                <a:latin typeface="Cambria" panose="02040503050406030204" pitchFamily="18" charset="0"/>
                <a:ea typeface="Cambria" panose="02040503050406030204" pitchFamily="18" charset="0"/>
              </a:rPr>
              <a:t>Active</a:t>
            </a:r>
          </a:p>
          <a:p>
            <a:pPr algn="ctr"/>
            <a:r>
              <a:rPr lang="en-US" sz="1600" dirty="0"/>
              <a:t>Tab</a:t>
            </a:r>
          </a:p>
        </p:txBody>
      </p:sp>
      <p:sp>
        <p:nvSpPr>
          <p:cNvPr id="11" name="Callout: Up Arrow 10">
            <a:extLst>
              <a:ext uri="{FF2B5EF4-FFF2-40B4-BE49-F238E27FC236}">
                <a16:creationId xmlns:a16="http://schemas.microsoft.com/office/drawing/2014/main" id="{7609F606-4072-9572-F832-987BAD1D8E42}"/>
              </a:ext>
            </a:extLst>
          </p:cNvPr>
          <p:cNvSpPr/>
          <p:nvPr/>
        </p:nvSpPr>
        <p:spPr>
          <a:xfrm>
            <a:off x="2995783" y="1031306"/>
            <a:ext cx="7817626" cy="4228591"/>
          </a:xfrm>
          <a:prstGeom prst="upArrowCallout">
            <a:avLst>
              <a:gd name="adj1" fmla="val 23176"/>
              <a:gd name="adj2" fmla="val 19848"/>
              <a:gd name="adj3" fmla="val 16514"/>
              <a:gd name="adj4" fmla="val 7677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1F49989-F9BF-7FB0-5740-E2A67B5C8985}"/>
              </a:ext>
            </a:extLst>
          </p:cNvPr>
          <p:cNvSpPr txBox="1"/>
          <p:nvPr/>
        </p:nvSpPr>
        <p:spPr>
          <a:xfrm>
            <a:off x="5331184" y="661974"/>
            <a:ext cx="3146823" cy="369332"/>
          </a:xfrm>
          <a:prstGeom prst="rect">
            <a:avLst/>
          </a:prstGeom>
          <a:noFill/>
          <a:ln>
            <a:solidFill>
              <a:srgbClr val="FF0000"/>
            </a:solidFill>
          </a:ln>
        </p:spPr>
        <p:txBody>
          <a:bodyPr wrap="none" rtlCol="0">
            <a:spAutoFit/>
          </a:bodyPr>
          <a:lstStyle/>
          <a:p>
            <a:r>
              <a:rPr lang="en-US" dirty="0"/>
              <a:t>Month Summary with Accounts</a:t>
            </a:r>
          </a:p>
        </p:txBody>
      </p:sp>
      <p:sp>
        <p:nvSpPr>
          <p:cNvPr id="17" name="Callout: Left Arrow 16">
            <a:extLst>
              <a:ext uri="{FF2B5EF4-FFF2-40B4-BE49-F238E27FC236}">
                <a16:creationId xmlns:a16="http://schemas.microsoft.com/office/drawing/2014/main" id="{E0D20581-1008-B7D0-1A08-6C8A6585AC72}"/>
              </a:ext>
            </a:extLst>
          </p:cNvPr>
          <p:cNvSpPr/>
          <p:nvPr/>
        </p:nvSpPr>
        <p:spPr>
          <a:xfrm>
            <a:off x="9919127" y="1442984"/>
            <a:ext cx="1073791" cy="352338"/>
          </a:xfrm>
          <a:prstGeom prst="leftArrowCallout">
            <a:avLst>
              <a:gd name="adj1" fmla="val 25000"/>
              <a:gd name="adj2" fmla="val 25000"/>
              <a:gd name="adj3" fmla="val 25000"/>
              <a:gd name="adj4" fmla="val 8450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E1C88B0-8729-8A9E-F0F2-8E0148E04658}"/>
              </a:ext>
            </a:extLst>
          </p:cNvPr>
          <p:cNvSpPr txBox="1"/>
          <p:nvPr/>
        </p:nvSpPr>
        <p:spPr>
          <a:xfrm>
            <a:off x="9140516" y="1367174"/>
            <a:ext cx="778611" cy="523220"/>
          </a:xfrm>
          <a:prstGeom prst="rect">
            <a:avLst/>
          </a:prstGeom>
          <a:noFill/>
          <a:ln>
            <a:solidFill>
              <a:srgbClr val="FF0000"/>
            </a:solidFill>
          </a:ln>
        </p:spPr>
        <p:txBody>
          <a:bodyPr wrap="none" rtlCol="0">
            <a:spAutoFit/>
          </a:bodyPr>
          <a:lstStyle/>
          <a:p>
            <a:pPr algn="ctr"/>
            <a:r>
              <a:rPr lang="en-US" sz="1400" dirty="0">
                <a:latin typeface="Cambria" panose="02040503050406030204" pitchFamily="18" charset="0"/>
                <a:ea typeface="Cambria" panose="02040503050406030204" pitchFamily="18" charset="0"/>
              </a:rPr>
              <a:t>Export </a:t>
            </a:r>
          </a:p>
          <a:p>
            <a:pPr algn="ctr"/>
            <a:r>
              <a:rPr lang="en-US" sz="1400" dirty="0">
                <a:latin typeface="Cambria" panose="02040503050406030204" pitchFamily="18" charset="0"/>
                <a:ea typeface="Cambria" panose="02040503050406030204" pitchFamily="18" charset="0"/>
              </a:rPr>
              <a:t>to Excel</a:t>
            </a:r>
          </a:p>
        </p:txBody>
      </p:sp>
      <p:sp>
        <p:nvSpPr>
          <p:cNvPr id="5" name="Callout: Up Arrow 4">
            <a:extLst>
              <a:ext uri="{FF2B5EF4-FFF2-40B4-BE49-F238E27FC236}">
                <a16:creationId xmlns:a16="http://schemas.microsoft.com/office/drawing/2014/main" id="{D084DB63-0A55-7AA3-F1F9-86955C6B185F}"/>
              </a:ext>
            </a:extLst>
          </p:cNvPr>
          <p:cNvSpPr/>
          <p:nvPr/>
        </p:nvSpPr>
        <p:spPr>
          <a:xfrm>
            <a:off x="2995783" y="1226399"/>
            <a:ext cx="2973217" cy="523220"/>
          </a:xfrm>
          <a:prstGeom prst="upArrowCallou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06C740A-7B64-D356-28DA-3B52EE209D61}"/>
              </a:ext>
            </a:extLst>
          </p:cNvPr>
          <p:cNvSpPr txBox="1"/>
          <p:nvPr/>
        </p:nvSpPr>
        <p:spPr>
          <a:xfrm>
            <a:off x="3734686" y="550332"/>
            <a:ext cx="1495409" cy="738664"/>
          </a:xfrm>
          <a:prstGeom prst="rect">
            <a:avLst/>
          </a:prstGeom>
          <a:noFill/>
          <a:ln>
            <a:solidFill>
              <a:srgbClr val="FF0000"/>
            </a:solidFill>
          </a:ln>
        </p:spPr>
        <p:txBody>
          <a:bodyPr wrap="none" rtlCol="0">
            <a:spAutoFit/>
          </a:bodyPr>
          <a:lstStyle/>
          <a:p>
            <a:pPr algn="ctr"/>
            <a:r>
              <a:rPr lang="en-US" sz="1400" dirty="0">
                <a:latin typeface="Cambria" panose="02040503050406030204" pitchFamily="18" charset="0"/>
                <a:ea typeface="Cambria" panose="02040503050406030204" pitchFamily="18" charset="0"/>
              </a:rPr>
              <a:t>Option to Switch </a:t>
            </a:r>
          </a:p>
          <a:p>
            <a:pPr algn="ctr"/>
            <a:r>
              <a:rPr lang="en-US" sz="1400" dirty="0">
                <a:latin typeface="Cambria" panose="02040503050406030204" pitchFamily="18" charset="0"/>
                <a:ea typeface="Cambria" panose="02040503050406030204" pitchFamily="18" charset="0"/>
              </a:rPr>
              <a:t>between </a:t>
            </a:r>
          </a:p>
          <a:p>
            <a:pPr algn="ctr"/>
            <a:r>
              <a:rPr lang="en-US" sz="1400" dirty="0">
                <a:latin typeface="Cambria" panose="02040503050406030204" pitchFamily="18" charset="0"/>
                <a:ea typeface="Cambria" panose="02040503050406030204" pitchFamily="18" charset="0"/>
              </a:rPr>
              <a:t>type of report</a:t>
            </a:r>
          </a:p>
        </p:txBody>
      </p:sp>
    </p:spTree>
    <p:extLst>
      <p:ext uri="{BB962C8B-B14F-4D97-AF65-F5344CB8AC3E}">
        <p14:creationId xmlns:p14="http://schemas.microsoft.com/office/powerpoint/2010/main" val="2488384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3C3D9-068F-CB57-2390-273E74024A9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7CEBE9C-9899-07D3-848D-BAAD1409E079}"/>
              </a:ext>
            </a:extLst>
          </p:cNvPr>
          <p:cNvPicPr>
            <a:picLocks noChangeAspect="1"/>
          </p:cNvPicPr>
          <p:nvPr/>
        </p:nvPicPr>
        <p:blipFill>
          <a:blip r:embed="rId2"/>
          <a:srcRect t="13950"/>
          <a:stretch>
            <a:fillRect/>
          </a:stretch>
        </p:blipFill>
        <p:spPr>
          <a:xfrm>
            <a:off x="845373" y="868680"/>
            <a:ext cx="10579225" cy="5120640"/>
          </a:xfrm>
          <a:prstGeom prst="rect">
            <a:avLst/>
          </a:prstGeom>
        </p:spPr>
      </p:pic>
      <p:sp>
        <p:nvSpPr>
          <p:cNvPr id="13" name="TextBox 12">
            <a:extLst>
              <a:ext uri="{FF2B5EF4-FFF2-40B4-BE49-F238E27FC236}">
                <a16:creationId xmlns:a16="http://schemas.microsoft.com/office/drawing/2014/main" id="{3B576673-9441-F27A-BC4E-8AA78D496DC7}"/>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HSE Audit Dashboard - 4 </a:t>
            </a:r>
          </a:p>
        </p:txBody>
      </p:sp>
      <p:graphicFrame>
        <p:nvGraphicFramePr>
          <p:cNvPr id="6" name="Table 5">
            <a:extLst>
              <a:ext uri="{FF2B5EF4-FFF2-40B4-BE49-F238E27FC236}">
                <a16:creationId xmlns:a16="http://schemas.microsoft.com/office/drawing/2014/main" id="{5D81A505-16D2-9154-CF5E-1568888BA01E}"/>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4B047BE7-3737-F759-250F-4901ECD2E19A}"/>
              </a:ext>
            </a:extLst>
          </p:cNvPr>
          <p:cNvSpPr/>
          <p:nvPr/>
        </p:nvSpPr>
        <p:spPr>
          <a:xfrm>
            <a:off x="813342" y="2831807"/>
            <a:ext cx="1761688" cy="461665"/>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FF00"/>
                </a:solidFill>
              </a:ln>
            </a:endParaRPr>
          </a:p>
        </p:txBody>
      </p:sp>
      <p:sp>
        <p:nvSpPr>
          <p:cNvPr id="10" name="TextBox 9">
            <a:extLst>
              <a:ext uri="{FF2B5EF4-FFF2-40B4-BE49-F238E27FC236}">
                <a16:creationId xmlns:a16="http://schemas.microsoft.com/office/drawing/2014/main" id="{5FA9794C-7EB5-EAEA-9E03-DC2F532F28D7}"/>
              </a:ext>
            </a:extLst>
          </p:cNvPr>
          <p:cNvSpPr txBox="1"/>
          <p:nvPr/>
        </p:nvSpPr>
        <p:spPr>
          <a:xfrm>
            <a:off x="41945" y="2753320"/>
            <a:ext cx="763398" cy="584775"/>
          </a:xfrm>
          <a:prstGeom prst="rect">
            <a:avLst/>
          </a:prstGeom>
          <a:noFill/>
          <a:ln>
            <a:solidFill>
              <a:srgbClr val="002060"/>
            </a:solidFill>
          </a:ln>
        </p:spPr>
        <p:txBody>
          <a:bodyPr wrap="square" rtlCol="0">
            <a:spAutoFit/>
          </a:bodyPr>
          <a:lstStyle/>
          <a:p>
            <a:pPr algn="ctr"/>
            <a:r>
              <a:rPr lang="en-US" sz="1600" dirty="0">
                <a:latin typeface="Cambria" panose="02040503050406030204" pitchFamily="18" charset="0"/>
                <a:ea typeface="Cambria" panose="02040503050406030204" pitchFamily="18" charset="0"/>
              </a:rPr>
              <a:t>Active</a:t>
            </a:r>
          </a:p>
          <a:p>
            <a:pPr algn="ctr"/>
            <a:r>
              <a:rPr lang="en-US" sz="1600" dirty="0"/>
              <a:t>Tab</a:t>
            </a:r>
          </a:p>
        </p:txBody>
      </p:sp>
      <p:sp>
        <p:nvSpPr>
          <p:cNvPr id="11" name="Callout: Up Arrow 10">
            <a:extLst>
              <a:ext uri="{FF2B5EF4-FFF2-40B4-BE49-F238E27FC236}">
                <a16:creationId xmlns:a16="http://schemas.microsoft.com/office/drawing/2014/main" id="{759DB3F8-B29C-18E8-C2A2-7E8D55D2AE97}"/>
              </a:ext>
            </a:extLst>
          </p:cNvPr>
          <p:cNvSpPr/>
          <p:nvPr/>
        </p:nvSpPr>
        <p:spPr>
          <a:xfrm>
            <a:off x="2895600" y="1786855"/>
            <a:ext cx="4707467" cy="3689678"/>
          </a:xfrm>
          <a:prstGeom prst="upArrowCallout">
            <a:avLst>
              <a:gd name="adj1" fmla="val 23176"/>
              <a:gd name="adj2" fmla="val 19848"/>
              <a:gd name="adj3" fmla="val 13132"/>
              <a:gd name="adj4" fmla="val 8305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4CD2857-EDA3-5433-E551-F2D20A8A6F88}"/>
              </a:ext>
            </a:extLst>
          </p:cNvPr>
          <p:cNvSpPr txBox="1"/>
          <p:nvPr/>
        </p:nvSpPr>
        <p:spPr>
          <a:xfrm>
            <a:off x="3426558" y="1345685"/>
            <a:ext cx="3645550" cy="369332"/>
          </a:xfrm>
          <a:prstGeom prst="rect">
            <a:avLst/>
          </a:prstGeom>
          <a:noFill/>
          <a:ln>
            <a:solidFill>
              <a:srgbClr val="FF0000"/>
            </a:solidFill>
          </a:ln>
        </p:spPr>
        <p:txBody>
          <a:bodyPr wrap="none" rtlCol="0">
            <a:spAutoFit/>
          </a:bodyPr>
          <a:lstStyle/>
          <a:p>
            <a:pPr algn="ctr"/>
            <a:r>
              <a:rPr lang="en-US" dirty="0"/>
              <a:t>Upcoming Audits with export option</a:t>
            </a:r>
          </a:p>
        </p:txBody>
      </p:sp>
      <p:sp>
        <p:nvSpPr>
          <p:cNvPr id="5" name="Callout: Up Arrow 4">
            <a:extLst>
              <a:ext uri="{FF2B5EF4-FFF2-40B4-BE49-F238E27FC236}">
                <a16:creationId xmlns:a16="http://schemas.microsoft.com/office/drawing/2014/main" id="{6BE06E70-FCF9-179E-51B0-38C064F2648D}"/>
              </a:ext>
            </a:extLst>
          </p:cNvPr>
          <p:cNvSpPr/>
          <p:nvPr/>
        </p:nvSpPr>
        <p:spPr>
          <a:xfrm>
            <a:off x="7840147" y="1812253"/>
            <a:ext cx="3276586" cy="3689678"/>
          </a:xfrm>
          <a:prstGeom prst="upArrowCallout">
            <a:avLst>
              <a:gd name="adj1" fmla="val 23176"/>
              <a:gd name="adj2" fmla="val 19848"/>
              <a:gd name="adj3" fmla="val 13132"/>
              <a:gd name="adj4" fmla="val 8305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D75E3CF-598A-6638-B326-1B5991BD1E7E}"/>
              </a:ext>
            </a:extLst>
          </p:cNvPr>
          <p:cNvSpPr txBox="1"/>
          <p:nvPr/>
        </p:nvSpPr>
        <p:spPr>
          <a:xfrm>
            <a:off x="8720059" y="1383141"/>
            <a:ext cx="1516762" cy="369332"/>
          </a:xfrm>
          <a:prstGeom prst="rect">
            <a:avLst/>
          </a:prstGeom>
          <a:noFill/>
          <a:ln>
            <a:solidFill>
              <a:srgbClr val="FF0000"/>
            </a:solidFill>
          </a:ln>
        </p:spPr>
        <p:txBody>
          <a:bodyPr wrap="none" rtlCol="0">
            <a:spAutoFit/>
          </a:bodyPr>
          <a:lstStyle/>
          <a:p>
            <a:pPr algn="ctr"/>
            <a:r>
              <a:rPr lang="en-US" dirty="0"/>
              <a:t>Quick Actions</a:t>
            </a:r>
          </a:p>
        </p:txBody>
      </p:sp>
    </p:spTree>
    <p:extLst>
      <p:ext uri="{BB962C8B-B14F-4D97-AF65-F5344CB8AC3E}">
        <p14:creationId xmlns:p14="http://schemas.microsoft.com/office/powerpoint/2010/main" val="15314100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026FD25-A584-BABD-D060-92116F86E6DC}"/>
              </a:ext>
            </a:extLst>
          </p:cNvPr>
          <p:cNvSpPr>
            <a:spLocks noGrp="1"/>
          </p:cNvSpPr>
          <p:nvPr>
            <p:ph type="ftr" sz="quarter" idx="11"/>
          </p:nvPr>
        </p:nvSpPr>
        <p:spPr/>
        <p:txBody>
          <a:bodyPr/>
          <a:lstStyle/>
          <a:p>
            <a:r>
              <a:rPr lang="en-US"/>
              <a:t>UNITGLO SOLUTIONS PVT LTD</a:t>
            </a:r>
            <a:endParaRPr lang="en-US" dirty="0"/>
          </a:p>
        </p:txBody>
      </p:sp>
      <p:sp>
        <p:nvSpPr>
          <p:cNvPr id="3" name="TextBox 2">
            <a:extLst>
              <a:ext uri="{FF2B5EF4-FFF2-40B4-BE49-F238E27FC236}">
                <a16:creationId xmlns:a16="http://schemas.microsoft.com/office/drawing/2014/main" id="{FEF556AE-9B2E-EADF-6913-974660FFC43D}"/>
              </a:ext>
            </a:extLst>
          </p:cNvPr>
          <p:cNvSpPr txBox="1"/>
          <p:nvPr/>
        </p:nvSpPr>
        <p:spPr>
          <a:xfrm>
            <a:off x="2937426" y="2613392"/>
            <a:ext cx="6317148" cy="1631216"/>
          </a:xfrm>
          <a:prstGeom prst="rect">
            <a:avLst/>
          </a:prstGeom>
          <a:noFill/>
        </p:spPr>
        <p:txBody>
          <a:bodyPr wrap="square" rtlCol="0">
            <a:spAutoFit/>
          </a:bodyPr>
          <a:lstStyle/>
          <a:p>
            <a:pPr algn="ctr"/>
            <a:r>
              <a:rPr lang="en-US" sz="10000" dirty="0" err="1"/>
              <a:t>qHSE</a:t>
            </a:r>
            <a:r>
              <a:rPr lang="en-US" sz="10000" dirty="0"/>
              <a:t> Audit</a:t>
            </a:r>
          </a:p>
        </p:txBody>
      </p:sp>
    </p:spTree>
    <p:extLst>
      <p:ext uri="{BB962C8B-B14F-4D97-AF65-F5344CB8AC3E}">
        <p14:creationId xmlns:p14="http://schemas.microsoft.com/office/powerpoint/2010/main" val="10769862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709AF-6A6A-8DF0-B2A1-7D9CAED9D94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70B4802-B45D-4C3B-0DC7-F23287AB370E}"/>
              </a:ext>
            </a:extLst>
          </p:cNvPr>
          <p:cNvPicPr>
            <a:picLocks noChangeAspect="1"/>
          </p:cNvPicPr>
          <p:nvPr/>
        </p:nvPicPr>
        <p:blipFill>
          <a:blip r:embed="rId2"/>
          <a:srcRect t="13780" r="1320" b="6234"/>
          <a:stretch>
            <a:fillRect/>
          </a:stretch>
        </p:blipFill>
        <p:spPr>
          <a:xfrm>
            <a:off x="818514" y="945054"/>
            <a:ext cx="10829923" cy="4937760"/>
          </a:xfrm>
          <a:prstGeom prst="rect">
            <a:avLst/>
          </a:prstGeom>
        </p:spPr>
      </p:pic>
      <p:sp>
        <p:nvSpPr>
          <p:cNvPr id="13" name="TextBox 12">
            <a:extLst>
              <a:ext uri="{FF2B5EF4-FFF2-40B4-BE49-F238E27FC236}">
                <a16:creationId xmlns:a16="http://schemas.microsoft.com/office/drawing/2014/main" id="{77E826B9-3BFA-3052-3277-454B95E87587}"/>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Structure Audit -&gt; HSE Audit Template</a:t>
            </a:r>
          </a:p>
        </p:txBody>
      </p:sp>
      <p:graphicFrame>
        <p:nvGraphicFramePr>
          <p:cNvPr id="6" name="Table 5">
            <a:extLst>
              <a:ext uri="{FF2B5EF4-FFF2-40B4-BE49-F238E27FC236}">
                <a16:creationId xmlns:a16="http://schemas.microsoft.com/office/drawing/2014/main" id="{F89E5B4D-FB80-02B3-BA80-643361F72FB8}"/>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447DC407-3DDE-4827-F393-4124059DE7D0}"/>
              </a:ext>
            </a:extLst>
          </p:cNvPr>
          <p:cNvSpPr/>
          <p:nvPr/>
        </p:nvSpPr>
        <p:spPr>
          <a:xfrm>
            <a:off x="723147" y="4126740"/>
            <a:ext cx="1761688" cy="461665"/>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FF00"/>
                </a:solidFill>
              </a:ln>
            </a:endParaRPr>
          </a:p>
        </p:txBody>
      </p:sp>
      <p:sp>
        <p:nvSpPr>
          <p:cNvPr id="10" name="TextBox 9">
            <a:extLst>
              <a:ext uri="{FF2B5EF4-FFF2-40B4-BE49-F238E27FC236}">
                <a16:creationId xmlns:a16="http://schemas.microsoft.com/office/drawing/2014/main" id="{B6B0EC7C-CCAA-39B4-09B4-A636271B5FCE}"/>
              </a:ext>
            </a:extLst>
          </p:cNvPr>
          <p:cNvSpPr txBox="1"/>
          <p:nvPr/>
        </p:nvSpPr>
        <p:spPr>
          <a:xfrm>
            <a:off x="23575" y="4126740"/>
            <a:ext cx="794939" cy="461665"/>
          </a:xfrm>
          <a:prstGeom prst="rect">
            <a:avLst/>
          </a:prstGeom>
          <a:noFill/>
          <a:ln>
            <a:solidFill>
              <a:srgbClr val="002060"/>
            </a:solidFill>
          </a:ln>
        </p:spPr>
        <p:txBody>
          <a:bodyPr wrap="square" rtlCol="0">
            <a:spAutoFit/>
          </a:bodyPr>
          <a:lstStyle/>
          <a:p>
            <a:pPr algn="ctr"/>
            <a:r>
              <a:rPr lang="en-US" sz="1200" dirty="0">
                <a:latin typeface="Cambria" panose="02040503050406030204" pitchFamily="18" charset="0"/>
                <a:ea typeface="Cambria" panose="02040503050406030204" pitchFamily="18" charset="0"/>
              </a:rPr>
              <a:t>Audit Template</a:t>
            </a:r>
          </a:p>
        </p:txBody>
      </p:sp>
      <p:sp>
        <p:nvSpPr>
          <p:cNvPr id="11" name="Callout: Up Arrow 10">
            <a:extLst>
              <a:ext uri="{FF2B5EF4-FFF2-40B4-BE49-F238E27FC236}">
                <a16:creationId xmlns:a16="http://schemas.microsoft.com/office/drawing/2014/main" id="{86C3C3ED-7A6B-D419-8C48-A3C71E161BF5}"/>
              </a:ext>
            </a:extLst>
          </p:cNvPr>
          <p:cNvSpPr/>
          <p:nvPr/>
        </p:nvSpPr>
        <p:spPr>
          <a:xfrm>
            <a:off x="2995783" y="3122603"/>
            <a:ext cx="6475388" cy="2707746"/>
          </a:xfrm>
          <a:prstGeom prst="upArrowCallout">
            <a:avLst>
              <a:gd name="adj1" fmla="val 23176"/>
              <a:gd name="adj2" fmla="val 16736"/>
              <a:gd name="adj3" fmla="val 9057"/>
              <a:gd name="adj4" fmla="val 86866"/>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F98DE3D3-23AB-B855-9CDC-B4F8E599EB35}"/>
              </a:ext>
            </a:extLst>
          </p:cNvPr>
          <p:cNvSpPr txBox="1"/>
          <p:nvPr/>
        </p:nvSpPr>
        <p:spPr>
          <a:xfrm>
            <a:off x="5411382" y="2701452"/>
            <a:ext cx="1784591" cy="338554"/>
          </a:xfrm>
          <a:prstGeom prst="rect">
            <a:avLst/>
          </a:prstGeom>
          <a:noFill/>
          <a:ln>
            <a:solidFill>
              <a:srgbClr val="FF0000"/>
            </a:solidFill>
          </a:ln>
        </p:spPr>
        <p:txBody>
          <a:bodyPr wrap="none" rtlCol="0">
            <a:spAutoFit/>
          </a:bodyPr>
          <a:lstStyle/>
          <a:p>
            <a:pPr algn="ctr"/>
            <a:r>
              <a:rPr lang="en-US" sz="1600" dirty="0"/>
              <a:t>All Audit Templates</a:t>
            </a:r>
          </a:p>
        </p:txBody>
      </p:sp>
      <p:sp>
        <p:nvSpPr>
          <p:cNvPr id="7" name="Oval 6">
            <a:extLst>
              <a:ext uri="{FF2B5EF4-FFF2-40B4-BE49-F238E27FC236}">
                <a16:creationId xmlns:a16="http://schemas.microsoft.com/office/drawing/2014/main" id="{A5A1059C-F671-6812-376F-3818E8FDC04C}"/>
              </a:ext>
            </a:extLst>
          </p:cNvPr>
          <p:cNvSpPr/>
          <p:nvPr/>
        </p:nvSpPr>
        <p:spPr>
          <a:xfrm>
            <a:off x="9865453" y="4867090"/>
            <a:ext cx="1117678" cy="46139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Connector: Curved 17">
            <a:extLst>
              <a:ext uri="{FF2B5EF4-FFF2-40B4-BE49-F238E27FC236}">
                <a16:creationId xmlns:a16="http://schemas.microsoft.com/office/drawing/2014/main" id="{17226B2F-C7BE-2D2B-E654-C41696973ADB}"/>
              </a:ext>
            </a:extLst>
          </p:cNvPr>
          <p:cNvCxnSpPr>
            <a:cxnSpLocks/>
            <a:stCxn id="7" idx="6"/>
            <a:endCxn id="21" idx="2"/>
          </p:cNvCxnSpPr>
          <p:nvPr/>
        </p:nvCxnSpPr>
        <p:spPr>
          <a:xfrm flipH="1" flipV="1">
            <a:off x="9865453" y="3094219"/>
            <a:ext cx="1117678" cy="2003568"/>
          </a:xfrm>
          <a:prstGeom prst="curvedConnector4">
            <a:avLst>
              <a:gd name="adj1" fmla="val -20453"/>
              <a:gd name="adj2" fmla="val 55757"/>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B2A34FE6-82F5-ADFB-990C-FA90F1582499}"/>
              </a:ext>
            </a:extLst>
          </p:cNvPr>
          <p:cNvSpPr txBox="1"/>
          <p:nvPr/>
        </p:nvSpPr>
        <p:spPr>
          <a:xfrm>
            <a:off x="8747775" y="2817220"/>
            <a:ext cx="2235356" cy="276999"/>
          </a:xfrm>
          <a:prstGeom prst="rect">
            <a:avLst/>
          </a:prstGeom>
          <a:noFill/>
          <a:ln>
            <a:solidFill>
              <a:srgbClr val="FF0000"/>
            </a:solidFill>
          </a:ln>
        </p:spPr>
        <p:txBody>
          <a:bodyPr wrap="none" rtlCol="0">
            <a:spAutoFit/>
          </a:bodyPr>
          <a:lstStyle/>
          <a:p>
            <a:r>
              <a:rPr lang="en-US" sz="1200" b="1" dirty="0">
                <a:solidFill>
                  <a:srgbClr val="FF0000"/>
                </a:solidFill>
              </a:rPr>
              <a:t>Perform a New Audit From Here</a:t>
            </a:r>
          </a:p>
        </p:txBody>
      </p:sp>
      <p:sp>
        <p:nvSpPr>
          <p:cNvPr id="22" name="Callout: Up Arrow 21">
            <a:extLst>
              <a:ext uri="{FF2B5EF4-FFF2-40B4-BE49-F238E27FC236}">
                <a16:creationId xmlns:a16="http://schemas.microsoft.com/office/drawing/2014/main" id="{ED39ED0B-5FEC-7419-4DDE-3C868E1F1B73}"/>
              </a:ext>
            </a:extLst>
          </p:cNvPr>
          <p:cNvSpPr/>
          <p:nvPr/>
        </p:nvSpPr>
        <p:spPr>
          <a:xfrm>
            <a:off x="2785533" y="1342239"/>
            <a:ext cx="8862904" cy="1272059"/>
          </a:xfrm>
          <a:prstGeom prst="upArrowCallou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3" name="TextBox 22">
            <a:extLst>
              <a:ext uri="{FF2B5EF4-FFF2-40B4-BE49-F238E27FC236}">
                <a16:creationId xmlns:a16="http://schemas.microsoft.com/office/drawing/2014/main" id="{65D9B314-C482-7D33-32AF-296213B7CFA1}"/>
              </a:ext>
            </a:extLst>
          </p:cNvPr>
          <p:cNvSpPr txBox="1"/>
          <p:nvPr/>
        </p:nvSpPr>
        <p:spPr>
          <a:xfrm>
            <a:off x="5500343" y="945054"/>
            <a:ext cx="3558731" cy="369332"/>
          </a:xfrm>
          <a:prstGeom prst="rect">
            <a:avLst/>
          </a:prstGeom>
          <a:noFill/>
          <a:ln>
            <a:solidFill>
              <a:srgbClr val="FF0000"/>
            </a:solidFill>
          </a:ln>
        </p:spPr>
        <p:txBody>
          <a:bodyPr wrap="none" rtlCol="0">
            <a:spAutoFit/>
          </a:bodyPr>
          <a:lstStyle/>
          <a:p>
            <a:r>
              <a:rPr lang="en-US" dirty="0">
                <a:solidFill>
                  <a:srgbClr val="FF0000"/>
                </a:solidFill>
              </a:rPr>
              <a:t>Filter for Audit Template Categories</a:t>
            </a:r>
          </a:p>
        </p:txBody>
      </p:sp>
    </p:spTree>
    <p:extLst>
      <p:ext uri="{BB962C8B-B14F-4D97-AF65-F5344CB8AC3E}">
        <p14:creationId xmlns:p14="http://schemas.microsoft.com/office/powerpoint/2010/main" val="2714143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390AA-A4FF-2ED9-CDDF-3D8C2D3C364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3D10CF5-054B-7CC8-AD87-5461FF570902}"/>
              </a:ext>
            </a:extLst>
          </p:cNvPr>
          <p:cNvPicPr>
            <a:picLocks noChangeAspect="1"/>
          </p:cNvPicPr>
          <p:nvPr/>
        </p:nvPicPr>
        <p:blipFill>
          <a:blip r:embed="rId2"/>
          <a:srcRect t="14445" r="1388"/>
          <a:stretch>
            <a:fillRect/>
          </a:stretch>
        </p:blipFill>
        <p:spPr>
          <a:xfrm>
            <a:off x="849744" y="868680"/>
            <a:ext cx="10492511" cy="5120640"/>
          </a:xfrm>
          <a:prstGeom prst="rect">
            <a:avLst/>
          </a:prstGeom>
        </p:spPr>
      </p:pic>
      <p:sp>
        <p:nvSpPr>
          <p:cNvPr id="13" name="TextBox 12">
            <a:extLst>
              <a:ext uri="{FF2B5EF4-FFF2-40B4-BE49-F238E27FC236}">
                <a16:creationId xmlns:a16="http://schemas.microsoft.com/office/drawing/2014/main" id="{FD3343A0-03B6-15A6-70AD-6B4F5F653968}"/>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Structure Audit -&gt; Perform Audit Part 1</a:t>
            </a:r>
          </a:p>
        </p:txBody>
      </p:sp>
      <p:graphicFrame>
        <p:nvGraphicFramePr>
          <p:cNvPr id="6" name="Table 5">
            <a:extLst>
              <a:ext uri="{FF2B5EF4-FFF2-40B4-BE49-F238E27FC236}">
                <a16:creationId xmlns:a16="http://schemas.microsoft.com/office/drawing/2014/main" id="{79546AC8-1ACE-86B6-6656-46480A656C98}"/>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28" name="Callout: Up Arrow 27">
            <a:extLst>
              <a:ext uri="{FF2B5EF4-FFF2-40B4-BE49-F238E27FC236}">
                <a16:creationId xmlns:a16="http://schemas.microsoft.com/office/drawing/2014/main" id="{D2068C60-9834-FE66-11E4-EAED4382FB65}"/>
              </a:ext>
            </a:extLst>
          </p:cNvPr>
          <p:cNvSpPr/>
          <p:nvPr/>
        </p:nvSpPr>
        <p:spPr>
          <a:xfrm>
            <a:off x="7061200" y="1388533"/>
            <a:ext cx="4064000" cy="2386677"/>
          </a:xfrm>
          <a:prstGeom prst="upArrowCallout">
            <a:avLst>
              <a:gd name="adj1" fmla="val 25000"/>
              <a:gd name="adj2" fmla="val 26173"/>
              <a:gd name="adj3" fmla="val 25000"/>
              <a:gd name="adj4" fmla="val 64977"/>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37F5D710-6E63-3353-71EA-1CBE2AA6BBC8}"/>
              </a:ext>
            </a:extLst>
          </p:cNvPr>
          <p:cNvSpPr txBox="1"/>
          <p:nvPr/>
        </p:nvSpPr>
        <p:spPr>
          <a:xfrm>
            <a:off x="7650789" y="914314"/>
            <a:ext cx="2834021" cy="307777"/>
          </a:xfrm>
          <a:prstGeom prst="rect">
            <a:avLst/>
          </a:prstGeom>
          <a:noFill/>
          <a:ln>
            <a:solidFill>
              <a:srgbClr val="FF0000"/>
            </a:solidFill>
          </a:ln>
        </p:spPr>
        <p:txBody>
          <a:bodyPr wrap="square" rtlCol="0">
            <a:spAutoFit/>
          </a:bodyPr>
          <a:lstStyle/>
          <a:p>
            <a:pPr algn="ctr"/>
            <a:r>
              <a:rPr lang="en-US" sz="1400" dirty="0">
                <a:solidFill>
                  <a:srgbClr val="FF0000"/>
                </a:solidFill>
                <a:latin typeface="Cambria" panose="02040503050406030204" pitchFamily="18" charset="0"/>
                <a:ea typeface="Cambria" panose="02040503050406030204" pitchFamily="18" charset="0"/>
              </a:rPr>
              <a:t>Select the clients' details from here</a:t>
            </a:r>
          </a:p>
        </p:txBody>
      </p:sp>
      <p:sp>
        <p:nvSpPr>
          <p:cNvPr id="32" name="Callout: Down Arrow 31">
            <a:extLst>
              <a:ext uri="{FF2B5EF4-FFF2-40B4-BE49-F238E27FC236}">
                <a16:creationId xmlns:a16="http://schemas.microsoft.com/office/drawing/2014/main" id="{D28BFDE8-6BC2-D99D-42B5-7291BFD37148}"/>
              </a:ext>
            </a:extLst>
          </p:cNvPr>
          <p:cNvSpPr/>
          <p:nvPr/>
        </p:nvSpPr>
        <p:spPr>
          <a:xfrm>
            <a:off x="8748335" y="4274116"/>
            <a:ext cx="2265027" cy="461665"/>
          </a:xfrm>
          <a:prstGeom prst="downArrowCallou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76420592-8561-9B74-04EC-DB873C445089}"/>
              </a:ext>
            </a:extLst>
          </p:cNvPr>
          <p:cNvSpPr txBox="1"/>
          <p:nvPr/>
        </p:nvSpPr>
        <p:spPr>
          <a:xfrm>
            <a:off x="9105063" y="4760889"/>
            <a:ext cx="1551580" cy="276999"/>
          </a:xfrm>
          <a:prstGeom prst="rect">
            <a:avLst/>
          </a:prstGeom>
          <a:noFill/>
          <a:ln>
            <a:solidFill>
              <a:srgbClr val="FF0000"/>
            </a:solidFill>
          </a:ln>
        </p:spPr>
        <p:txBody>
          <a:bodyPr wrap="none" rtlCol="0">
            <a:spAutoFit/>
          </a:bodyPr>
          <a:lstStyle/>
          <a:p>
            <a:pPr algn="ctr"/>
            <a:r>
              <a:rPr lang="en-US" sz="1200" dirty="0">
                <a:solidFill>
                  <a:srgbClr val="FF0000"/>
                </a:solidFill>
              </a:rPr>
              <a:t>Live Audit Score Here</a:t>
            </a:r>
          </a:p>
        </p:txBody>
      </p:sp>
      <p:sp>
        <p:nvSpPr>
          <p:cNvPr id="8" name="Callout: Down Arrow 7">
            <a:extLst>
              <a:ext uri="{FF2B5EF4-FFF2-40B4-BE49-F238E27FC236}">
                <a16:creationId xmlns:a16="http://schemas.microsoft.com/office/drawing/2014/main" id="{EEBDA133-B91B-BCF1-AEE6-226C3786D075}"/>
              </a:ext>
            </a:extLst>
          </p:cNvPr>
          <p:cNvSpPr/>
          <p:nvPr/>
        </p:nvSpPr>
        <p:spPr>
          <a:xfrm>
            <a:off x="4709726" y="3562916"/>
            <a:ext cx="2265027" cy="1172866"/>
          </a:xfrm>
          <a:prstGeom prst="downArrowCallou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9DF5CC-7A8A-8D12-91CB-DA5AEFBBC0A9}"/>
              </a:ext>
            </a:extLst>
          </p:cNvPr>
          <p:cNvSpPr txBox="1"/>
          <p:nvPr/>
        </p:nvSpPr>
        <p:spPr>
          <a:xfrm>
            <a:off x="2908808" y="4743765"/>
            <a:ext cx="5866862" cy="276999"/>
          </a:xfrm>
          <a:prstGeom prst="rect">
            <a:avLst/>
          </a:prstGeom>
          <a:noFill/>
          <a:ln>
            <a:solidFill>
              <a:srgbClr val="FF0000"/>
            </a:solidFill>
          </a:ln>
        </p:spPr>
        <p:txBody>
          <a:bodyPr wrap="none" rtlCol="0">
            <a:spAutoFit/>
          </a:bodyPr>
          <a:lstStyle/>
          <a:p>
            <a:pPr algn="ctr"/>
            <a:r>
              <a:rPr lang="en-US" sz="1200" dirty="0">
                <a:solidFill>
                  <a:srgbClr val="FF0000"/>
                </a:solidFill>
              </a:rPr>
              <a:t>Enter Auditee Name here, Like account Manager or cluster Managers also select Audit date</a:t>
            </a:r>
          </a:p>
        </p:txBody>
      </p:sp>
    </p:spTree>
    <p:extLst>
      <p:ext uri="{BB962C8B-B14F-4D97-AF65-F5344CB8AC3E}">
        <p14:creationId xmlns:p14="http://schemas.microsoft.com/office/powerpoint/2010/main" val="3172607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C8154-1DF8-4600-988C-2DD2774A1AD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824B907-0BDA-144E-C9BB-717B3802F96E}"/>
              </a:ext>
            </a:extLst>
          </p:cNvPr>
          <p:cNvPicPr>
            <a:picLocks noChangeAspect="1"/>
          </p:cNvPicPr>
          <p:nvPr/>
        </p:nvPicPr>
        <p:blipFill>
          <a:blip r:embed="rId2"/>
          <a:srcRect t="14140"/>
          <a:stretch>
            <a:fillRect/>
          </a:stretch>
        </p:blipFill>
        <p:spPr>
          <a:xfrm>
            <a:off x="922870" y="701437"/>
            <a:ext cx="10602508" cy="5120640"/>
          </a:xfrm>
          <a:prstGeom prst="rect">
            <a:avLst/>
          </a:prstGeom>
        </p:spPr>
      </p:pic>
      <p:sp>
        <p:nvSpPr>
          <p:cNvPr id="13" name="TextBox 12">
            <a:extLst>
              <a:ext uri="{FF2B5EF4-FFF2-40B4-BE49-F238E27FC236}">
                <a16:creationId xmlns:a16="http://schemas.microsoft.com/office/drawing/2014/main" id="{5696C603-2ED5-084F-2A6F-85DCCEBEE0B3}"/>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Structure Audit -&gt; Perform Audit Part 2</a:t>
            </a:r>
          </a:p>
        </p:txBody>
      </p:sp>
      <p:graphicFrame>
        <p:nvGraphicFramePr>
          <p:cNvPr id="6" name="Table 5">
            <a:extLst>
              <a:ext uri="{FF2B5EF4-FFF2-40B4-BE49-F238E27FC236}">
                <a16:creationId xmlns:a16="http://schemas.microsoft.com/office/drawing/2014/main" id="{1DE0FC59-7006-C6B1-DE4D-C713290EE678}"/>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18" name="Rectangle: Rounded Corners 17">
            <a:extLst>
              <a:ext uri="{FF2B5EF4-FFF2-40B4-BE49-F238E27FC236}">
                <a16:creationId xmlns:a16="http://schemas.microsoft.com/office/drawing/2014/main" id="{3FB347F5-D470-402F-40C0-9F4CC726F240}"/>
              </a:ext>
            </a:extLst>
          </p:cNvPr>
          <p:cNvSpPr/>
          <p:nvPr/>
        </p:nvSpPr>
        <p:spPr>
          <a:xfrm>
            <a:off x="5757333" y="2768599"/>
            <a:ext cx="4986868" cy="189653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4F3F34D3-8397-EFF8-EAD6-55ABA5039621}"/>
              </a:ext>
            </a:extLst>
          </p:cNvPr>
          <p:cNvSpPr/>
          <p:nvPr/>
        </p:nvSpPr>
        <p:spPr>
          <a:xfrm>
            <a:off x="2133600" y="2768600"/>
            <a:ext cx="3513668" cy="189653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6B28394-C42F-A335-CA60-FE9C1C29F6B6}"/>
              </a:ext>
            </a:extLst>
          </p:cNvPr>
          <p:cNvSpPr txBox="1"/>
          <p:nvPr/>
        </p:nvSpPr>
        <p:spPr>
          <a:xfrm>
            <a:off x="2987019" y="3726836"/>
            <a:ext cx="1849161" cy="369332"/>
          </a:xfrm>
          <a:prstGeom prst="rect">
            <a:avLst/>
          </a:prstGeom>
          <a:noFill/>
          <a:ln>
            <a:solidFill>
              <a:schemeClr val="tx1"/>
            </a:solidFill>
          </a:ln>
        </p:spPr>
        <p:txBody>
          <a:bodyPr wrap="none" rtlCol="0">
            <a:spAutoFit/>
          </a:bodyPr>
          <a:lstStyle/>
          <a:p>
            <a:r>
              <a:rPr lang="en-US" dirty="0"/>
              <a:t>Overall Summery</a:t>
            </a:r>
          </a:p>
        </p:txBody>
      </p:sp>
      <p:sp>
        <p:nvSpPr>
          <p:cNvPr id="14" name="Callout: Up Arrow 13">
            <a:extLst>
              <a:ext uri="{FF2B5EF4-FFF2-40B4-BE49-F238E27FC236}">
                <a16:creationId xmlns:a16="http://schemas.microsoft.com/office/drawing/2014/main" id="{C322A706-88B4-AEA5-232C-B27CBB802DD4}"/>
              </a:ext>
            </a:extLst>
          </p:cNvPr>
          <p:cNvSpPr/>
          <p:nvPr/>
        </p:nvSpPr>
        <p:spPr>
          <a:xfrm>
            <a:off x="2133600" y="1972733"/>
            <a:ext cx="8576733" cy="626534"/>
          </a:xfrm>
          <a:prstGeom prst="upArrowCallou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3D74C45-805D-8128-D45F-325823EB4444}"/>
              </a:ext>
            </a:extLst>
          </p:cNvPr>
          <p:cNvSpPr txBox="1"/>
          <p:nvPr/>
        </p:nvSpPr>
        <p:spPr>
          <a:xfrm>
            <a:off x="5687502" y="1483861"/>
            <a:ext cx="1468928" cy="369332"/>
          </a:xfrm>
          <a:prstGeom prst="rect">
            <a:avLst/>
          </a:prstGeom>
          <a:noFill/>
          <a:ln>
            <a:solidFill>
              <a:srgbClr val="FF0000"/>
            </a:solidFill>
          </a:ln>
        </p:spPr>
        <p:txBody>
          <a:bodyPr wrap="none" rtlCol="0">
            <a:spAutoFit/>
          </a:bodyPr>
          <a:lstStyle/>
          <a:p>
            <a:r>
              <a:rPr lang="en-US" dirty="0"/>
              <a:t>Client Details</a:t>
            </a:r>
          </a:p>
        </p:txBody>
      </p:sp>
      <p:sp>
        <p:nvSpPr>
          <p:cNvPr id="16" name="TextBox 15">
            <a:extLst>
              <a:ext uri="{FF2B5EF4-FFF2-40B4-BE49-F238E27FC236}">
                <a16:creationId xmlns:a16="http://schemas.microsoft.com/office/drawing/2014/main" id="{4CF1220B-81CE-72A0-A381-BAD92D2C349C}"/>
              </a:ext>
            </a:extLst>
          </p:cNvPr>
          <p:cNvSpPr txBox="1"/>
          <p:nvPr/>
        </p:nvSpPr>
        <p:spPr>
          <a:xfrm>
            <a:off x="8250767" y="3393699"/>
            <a:ext cx="1550168" cy="646331"/>
          </a:xfrm>
          <a:prstGeom prst="rect">
            <a:avLst/>
          </a:prstGeom>
          <a:noFill/>
          <a:ln>
            <a:solidFill>
              <a:srgbClr val="FF0000"/>
            </a:solidFill>
          </a:ln>
        </p:spPr>
        <p:txBody>
          <a:bodyPr wrap="none" rtlCol="0">
            <a:spAutoFit/>
          </a:bodyPr>
          <a:lstStyle/>
          <a:p>
            <a:pPr algn="ctr"/>
            <a:r>
              <a:rPr lang="en-US" dirty="0"/>
              <a:t>Category wise </a:t>
            </a:r>
          </a:p>
          <a:p>
            <a:pPr algn="ctr"/>
            <a:r>
              <a:rPr lang="en-US" dirty="0"/>
              <a:t>summery</a:t>
            </a:r>
          </a:p>
        </p:txBody>
      </p:sp>
    </p:spTree>
    <p:extLst>
      <p:ext uri="{BB962C8B-B14F-4D97-AF65-F5344CB8AC3E}">
        <p14:creationId xmlns:p14="http://schemas.microsoft.com/office/powerpoint/2010/main" val="2136644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8C81D-C975-B4D5-81C0-EDF602B983F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D09233E-8C24-AAE6-8A31-B4D6DC3C1892}"/>
              </a:ext>
            </a:extLst>
          </p:cNvPr>
          <p:cNvPicPr>
            <a:picLocks noChangeAspect="1"/>
          </p:cNvPicPr>
          <p:nvPr/>
        </p:nvPicPr>
        <p:blipFill>
          <a:blip r:embed="rId2"/>
          <a:srcRect t="14310"/>
          <a:stretch>
            <a:fillRect/>
          </a:stretch>
        </p:blipFill>
        <p:spPr>
          <a:xfrm>
            <a:off x="784214" y="833379"/>
            <a:ext cx="10623572" cy="5120640"/>
          </a:xfrm>
          <a:prstGeom prst="rect">
            <a:avLst/>
          </a:prstGeom>
        </p:spPr>
      </p:pic>
      <p:sp>
        <p:nvSpPr>
          <p:cNvPr id="13" name="TextBox 12">
            <a:extLst>
              <a:ext uri="{FF2B5EF4-FFF2-40B4-BE49-F238E27FC236}">
                <a16:creationId xmlns:a16="http://schemas.microsoft.com/office/drawing/2014/main" id="{CC693F80-8AFA-ABF9-4BF6-847D00A26A57}"/>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Structure Audit -&gt; Perform Audit Part 3</a:t>
            </a:r>
          </a:p>
        </p:txBody>
      </p:sp>
      <p:graphicFrame>
        <p:nvGraphicFramePr>
          <p:cNvPr id="6" name="Table 5">
            <a:extLst>
              <a:ext uri="{FF2B5EF4-FFF2-40B4-BE49-F238E27FC236}">
                <a16:creationId xmlns:a16="http://schemas.microsoft.com/office/drawing/2014/main" id="{9473054C-C7EB-9C2C-C8F9-772DBBE54E62}"/>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7" name="Rectangle: Rounded Corners 6">
            <a:extLst>
              <a:ext uri="{FF2B5EF4-FFF2-40B4-BE49-F238E27FC236}">
                <a16:creationId xmlns:a16="http://schemas.microsoft.com/office/drawing/2014/main" id="{388290C4-09E9-7467-3DF0-CAF64A7DB637}"/>
              </a:ext>
            </a:extLst>
          </p:cNvPr>
          <p:cNvSpPr/>
          <p:nvPr/>
        </p:nvSpPr>
        <p:spPr>
          <a:xfrm>
            <a:off x="2133600" y="1882814"/>
            <a:ext cx="3886200" cy="407120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allout: Up Arrow 13">
            <a:extLst>
              <a:ext uri="{FF2B5EF4-FFF2-40B4-BE49-F238E27FC236}">
                <a16:creationId xmlns:a16="http://schemas.microsoft.com/office/drawing/2014/main" id="{96CB3806-7CC8-D738-9237-42C5CD5B5EF2}"/>
              </a:ext>
            </a:extLst>
          </p:cNvPr>
          <p:cNvSpPr/>
          <p:nvPr/>
        </p:nvSpPr>
        <p:spPr>
          <a:xfrm>
            <a:off x="2065867" y="1117599"/>
            <a:ext cx="5757334" cy="626534"/>
          </a:xfrm>
          <a:prstGeom prst="upArrowCallou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EE05C41-EC1E-82C9-D21A-32E67EC8D04B}"/>
              </a:ext>
            </a:extLst>
          </p:cNvPr>
          <p:cNvSpPr txBox="1"/>
          <p:nvPr/>
        </p:nvSpPr>
        <p:spPr>
          <a:xfrm>
            <a:off x="3259393" y="694698"/>
            <a:ext cx="3370282" cy="369332"/>
          </a:xfrm>
          <a:prstGeom prst="rect">
            <a:avLst/>
          </a:prstGeom>
          <a:noFill/>
          <a:ln>
            <a:solidFill>
              <a:srgbClr val="FF0000"/>
            </a:solidFill>
          </a:ln>
        </p:spPr>
        <p:txBody>
          <a:bodyPr wrap="none" rtlCol="0">
            <a:spAutoFit/>
          </a:bodyPr>
          <a:lstStyle/>
          <a:p>
            <a:r>
              <a:rPr lang="en-US" dirty="0"/>
              <a:t>Category and Selection wise filter</a:t>
            </a:r>
          </a:p>
        </p:txBody>
      </p:sp>
      <p:sp>
        <p:nvSpPr>
          <p:cNvPr id="5" name="TextBox 4">
            <a:extLst>
              <a:ext uri="{FF2B5EF4-FFF2-40B4-BE49-F238E27FC236}">
                <a16:creationId xmlns:a16="http://schemas.microsoft.com/office/drawing/2014/main" id="{B825FE7A-DDE7-2886-91EC-52FC6A1DA655}"/>
              </a:ext>
            </a:extLst>
          </p:cNvPr>
          <p:cNvSpPr txBox="1"/>
          <p:nvPr/>
        </p:nvSpPr>
        <p:spPr>
          <a:xfrm>
            <a:off x="4380220" y="2025533"/>
            <a:ext cx="1417247" cy="461665"/>
          </a:xfrm>
          <a:prstGeom prst="rect">
            <a:avLst/>
          </a:prstGeom>
          <a:noFill/>
          <a:ln>
            <a:solidFill>
              <a:srgbClr val="FF0000"/>
            </a:solidFill>
          </a:ln>
        </p:spPr>
        <p:txBody>
          <a:bodyPr wrap="none" rtlCol="0">
            <a:spAutoFit/>
          </a:bodyPr>
          <a:lstStyle/>
          <a:p>
            <a:pPr algn="ctr"/>
            <a:r>
              <a:rPr lang="en-US" sz="1200" dirty="0"/>
              <a:t>Audit Category and </a:t>
            </a:r>
          </a:p>
          <a:p>
            <a:pPr algn="ctr"/>
            <a:r>
              <a:rPr lang="en-US" sz="1200" dirty="0"/>
              <a:t>Questions</a:t>
            </a:r>
          </a:p>
        </p:txBody>
      </p:sp>
      <p:sp>
        <p:nvSpPr>
          <p:cNvPr id="8" name="Oval 7">
            <a:extLst>
              <a:ext uri="{FF2B5EF4-FFF2-40B4-BE49-F238E27FC236}">
                <a16:creationId xmlns:a16="http://schemas.microsoft.com/office/drawing/2014/main" id="{169E8E67-526F-64CD-614B-B41A1D83E7BF}"/>
              </a:ext>
            </a:extLst>
          </p:cNvPr>
          <p:cNvSpPr/>
          <p:nvPr/>
        </p:nvSpPr>
        <p:spPr>
          <a:xfrm>
            <a:off x="6134986" y="2396066"/>
            <a:ext cx="533676" cy="56726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cxnSp>
        <p:nvCxnSpPr>
          <p:cNvPr id="10" name="Connector: Curved 9">
            <a:extLst>
              <a:ext uri="{FF2B5EF4-FFF2-40B4-BE49-F238E27FC236}">
                <a16:creationId xmlns:a16="http://schemas.microsoft.com/office/drawing/2014/main" id="{41AE869A-29F7-FA27-44F1-37409907F739}"/>
              </a:ext>
            </a:extLst>
          </p:cNvPr>
          <p:cNvCxnSpPr>
            <a:cxnSpLocks/>
            <a:stCxn id="8" idx="7"/>
            <a:endCxn id="12" idx="1"/>
          </p:cNvCxnSpPr>
          <p:nvPr/>
        </p:nvCxnSpPr>
        <p:spPr>
          <a:xfrm rot="5400000" flipH="1" flipV="1">
            <a:off x="7115633" y="1136574"/>
            <a:ext cx="817441" cy="1867693"/>
          </a:xfrm>
          <a:prstGeom prst="curved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50BC535-C3E6-B8BF-E7D7-5B22F6AB92B5}"/>
              </a:ext>
            </a:extLst>
          </p:cNvPr>
          <p:cNvSpPr txBox="1"/>
          <p:nvPr/>
        </p:nvSpPr>
        <p:spPr>
          <a:xfrm>
            <a:off x="8458200" y="1430866"/>
            <a:ext cx="1181157" cy="461665"/>
          </a:xfrm>
          <a:prstGeom prst="rect">
            <a:avLst/>
          </a:prstGeom>
          <a:noFill/>
          <a:ln>
            <a:solidFill>
              <a:srgbClr val="FF0000"/>
            </a:solidFill>
          </a:ln>
        </p:spPr>
        <p:txBody>
          <a:bodyPr wrap="none" rtlCol="0">
            <a:spAutoFit/>
          </a:bodyPr>
          <a:lstStyle/>
          <a:p>
            <a:pPr algn="ctr"/>
            <a:r>
              <a:rPr lang="en-US" sz="1200" dirty="0"/>
              <a:t>Option to Mark </a:t>
            </a:r>
          </a:p>
          <a:p>
            <a:pPr algn="ctr"/>
            <a:r>
              <a:rPr lang="en-US" sz="1200" dirty="0"/>
              <a:t>Yes/No/NA</a:t>
            </a:r>
          </a:p>
        </p:txBody>
      </p:sp>
      <p:sp>
        <p:nvSpPr>
          <p:cNvPr id="19" name="Rectangle: Rounded Corners 18">
            <a:extLst>
              <a:ext uri="{FF2B5EF4-FFF2-40B4-BE49-F238E27FC236}">
                <a16:creationId xmlns:a16="http://schemas.microsoft.com/office/drawing/2014/main" id="{42FB433B-3721-33B3-919B-B44EFFC64816}"/>
              </a:ext>
            </a:extLst>
          </p:cNvPr>
          <p:cNvSpPr/>
          <p:nvPr/>
        </p:nvSpPr>
        <p:spPr>
          <a:xfrm>
            <a:off x="6668662" y="3547533"/>
            <a:ext cx="1671005" cy="56726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56687C8-3BEF-BE2B-0A0D-1B950246FE41}"/>
              </a:ext>
            </a:extLst>
          </p:cNvPr>
          <p:cNvSpPr txBox="1"/>
          <p:nvPr/>
        </p:nvSpPr>
        <p:spPr>
          <a:xfrm>
            <a:off x="6757453" y="3710576"/>
            <a:ext cx="1493422" cy="276999"/>
          </a:xfrm>
          <a:prstGeom prst="rect">
            <a:avLst/>
          </a:prstGeom>
          <a:noFill/>
          <a:ln>
            <a:solidFill>
              <a:srgbClr val="FF0000"/>
            </a:solidFill>
          </a:ln>
        </p:spPr>
        <p:txBody>
          <a:bodyPr wrap="none" rtlCol="0">
            <a:spAutoFit/>
          </a:bodyPr>
          <a:lstStyle/>
          <a:p>
            <a:r>
              <a:rPr lang="en-US" sz="1200" dirty="0"/>
              <a:t>Can add remark here</a:t>
            </a:r>
          </a:p>
        </p:txBody>
      </p:sp>
      <p:sp>
        <p:nvSpPr>
          <p:cNvPr id="21" name="Rectangle: Rounded Corners 20">
            <a:extLst>
              <a:ext uri="{FF2B5EF4-FFF2-40B4-BE49-F238E27FC236}">
                <a16:creationId xmlns:a16="http://schemas.microsoft.com/office/drawing/2014/main" id="{D9C878D0-A7E9-11B9-BB8F-62CA1F695C27}"/>
              </a:ext>
            </a:extLst>
          </p:cNvPr>
          <p:cNvSpPr/>
          <p:nvPr/>
        </p:nvSpPr>
        <p:spPr>
          <a:xfrm>
            <a:off x="8387395" y="2396066"/>
            <a:ext cx="1671005" cy="56726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B4E25D6-DB48-9299-8B34-91CA311A1BC2}"/>
              </a:ext>
            </a:extLst>
          </p:cNvPr>
          <p:cNvSpPr txBox="1"/>
          <p:nvPr/>
        </p:nvSpPr>
        <p:spPr>
          <a:xfrm>
            <a:off x="10287285" y="2294978"/>
            <a:ext cx="891615" cy="769441"/>
          </a:xfrm>
          <a:prstGeom prst="rect">
            <a:avLst/>
          </a:prstGeom>
          <a:noFill/>
          <a:ln>
            <a:solidFill>
              <a:srgbClr val="FF0000"/>
            </a:solidFill>
          </a:ln>
        </p:spPr>
        <p:txBody>
          <a:bodyPr wrap="square" rtlCol="0">
            <a:spAutoFit/>
          </a:bodyPr>
          <a:lstStyle/>
          <a:p>
            <a:pPr algn="ctr"/>
            <a:r>
              <a:rPr lang="en-US" sz="1100" dirty="0"/>
              <a:t>Add attachment </a:t>
            </a:r>
          </a:p>
          <a:p>
            <a:pPr algn="ctr"/>
            <a:r>
              <a:rPr lang="en-US" sz="1100" dirty="0"/>
              <a:t>for a point from here </a:t>
            </a:r>
          </a:p>
        </p:txBody>
      </p:sp>
      <p:cxnSp>
        <p:nvCxnSpPr>
          <p:cNvPr id="24" name="Straight Arrow Connector 23">
            <a:extLst>
              <a:ext uri="{FF2B5EF4-FFF2-40B4-BE49-F238E27FC236}">
                <a16:creationId xmlns:a16="http://schemas.microsoft.com/office/drawing/2014/main" id="{0850D1D1-6261-4BAA-7A10-BF178CF1DC32}"/>
              </a:ext>
            </a:extLst>
          </p:cNvPr>
          <p:cNvCxnSpPr>
            <a:stCxn id="21" idx="3"/>
            <a:endCxn id="22" idx="1"/>
          </p:cNvCxnSpPr>
          <p:nvPr/>
        </p:nvCxnSpPr>
        <p:spPr>
          <a:xfrm flipV="1">
            <a:off x="10058400" y="2679699"/>
            <a:ext cx="228885"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8476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333D7-CF10-2D83-B1F5-A79FC6D4C95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00FA0BC-CF88-0F6E-ED33-23D905F6A476}"/>
              </a:ext>
            </a:extLst>
          </p:cNvPr>
          <p:cNvPicPr>
            <a:picLocks noChangeAspect="1"/>
          </p:cNvPicPr>
          <p:nvPr/>
        </p:nvPicPr>
        <p:blipFill>
          <a:blip r:embed="rId2"/>
          <a:srcRect t="14445"/>
          <a:stretch>
            <a:fillRect/>
          </a:stretch>
        </p:blipFill>
        <p:spPr>
          <a:xfrm>
            <a:off x="775854" y="987213"/>
            <a:ext cx="10640292" cy="5120640"/>
          </a:xfrm>
          <a:prstGeom prst="rect">
            <a:avLst/>
          </a:prstGeom>
        </p:spPr>
      </p:pic>
      <p:sp>
        <p:nvSpPr>
          <p:cNvPr id="13" name="TextBox 12">
            <a:extLst>
              <a:ext uri="{FF2B5EF4-FFF2-40B4-BE49-F238E27FC236}">
                <a16:creationId xmlns:a16="http://schemas.microsoft.com/office/drawing/2014/main" id="{DDE5498A-89BE-092B-67F2-3D7AF06F3A9E}"/>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Structure Audit -&gt; Perform Audit Part 4</a:t>
            </a:r>
          </a:p>
        </p:txBody>
      </p:sp>
      <p:graphicFrame>
        <p:nvGraphicFramePr>
          <p:cNvPr id="6" name="Table 5">
            <a:extLst>
              <a:ext uri="{FF2B5EF4-FFF2-40B4-BE49-F238E27FC236}">
                <a16:creationId xmlns:a16="http://schemas.microsoft.com/office/drawing/2014/main" id="{45E44B32-35A3-ACB5-6AB4-A59E02620BFC}"/>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7" name="Rectangle: Rounded Corners 6">
            <a:extLst>
              <a:ext uri="{FF2B5EF4-FFF2-40B4-BE49-F238E27FC236}">
                <a16:creationId xmlns:a16="http://schemas.microsoft.com/office/drawing/2014/main" id="{65295A34-BBC9-262A-3BF6-946DB141D00B}"/>
              </a:ext>
            </a:extLst>
          </p:cNvPr>
          <p:cNvSpPr/>
          <p:nvPr/>
        </p:nvSpPr>
        <p:spPr>
          <a:xfrm>
            <a:off x="2133600" y="1882815"/>
            <a:ext cx="7924800" cy="262991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4810AD1-265C-7E8D-CD66-B9B5B3C58204}"/>
              </a:ext>
            </a:extLst>
          </p:cNvPr>
          <p:cNvSpPr txBox="1"/>
          <p:nvPr/>
        </p:nvSpPr>
        <p:spPr>
          <a:xfrm>
            <a:off x="3008620" y="1479705"/>
            <a:ext cx="6392263" cy="338554"/>
          </a:xfrm>
          <a:prstGeom prst="rect">
            <a:avLst/>
          </a:prstGeom>
          <a:noFill/>
          <a:ln>
            <a:solidFill>
              <a:srgbClr val="FF0000"/>
            </a:solidFill>
          </a:ln>
        </p:spPr>
        <p:txBody>
          <a:bodyPr wrap="none" rtlCol="0">
            <a:spAutoFit/>
          </a:bodyPr>
          <a:lstStyle/>
          <a:p>
            <a:r>
              <a:rPr lang="en-US" sz="1600" dirty="0"/>
              <a:t>On click of No for any point, the CAPA information can be edited from here</a:t>
            </a:r>
          </a:p>
        </p:txBody>
      </p:sp>
      <p:sp>
        <p:nvSpPr>
          <p:cNvPr id="9" name="Rectangle: Rounded Corners 8">
            <a:extLst>
              <a:ext uri="{FF2B5EF4-FFF2-40B4-BE49-F238E27FC236}">
                <a16:creationId xmlns:a16="http://schemas.microsoft.com/office/drawing/2014/main" id="{57F8E4B7-2075-F51C-934C-163B5AC2319A}"/>
              </a:ext>
            </a:extLst>
          </p:cNvPr>
          <p:cNvSpPr/>
          <p:nvPr/>
        </p:nvSpPr>
        <p:spPr>
          <a:xfrm>
            <a:off x="2235200" y="4555068"/>
            <a:ext cx="1329267" cy="2794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97448E8-6EA0-4C34-CE3C-357BDE9A5ACC}"/>
              </a:ext>
            </a:extLst>
          </p:cNvPr>
          <p:cNvSpPr txBox="1"/>
          <p:nvPr/>
        </p:nvSpPr>
        <p:spPr>
          <a:xfrm>
            <a:off x="3702541" y="4879176"/>
            <a:ext cx="3137847" cy="307777"/>
          </a:xfrm>
          <a:prstGeom prst="rect">
            <a:avLst/>
          </a:prstGeom>
          <a:noFill/>
          <a:ln>
            <a:solidFill>
              <a:srgbClr val="FF0000"/>
            </a:solidFill>
          </a:ln>
        </p:spPr>
        <p:txBody>
          <a:bodyPr wrap="none" rtlCol="0">
            <a:spAutoFit/>
          </a:bodyPr>
          <a:lstStyle/>
          <a:p>
            <a:pPr algn="ctr"/>
            <a:r>
              <a:rPr lang="en-US" sz="1400" dirty="0"/>
              <a:t>Can mark as recommendation from here</a:t>
            </a:r>
          </a:p>
        </p:txBody>
      </p:sp>
      <p:cxnSp>
        <p:nvCxnSpPr>
          <p:cNvPr id="17" name="Connector: Curved 16">
            <a:extLst>
              <a:ext uri="{FF2B5EF4-FFF2-40B4-BE49-F238E27FC236}">
                <a16:creationId xmlns:a16="http://schemas.microsoft.com/office/drawing/2014/main" id="{2EC30BB8-CD39-E2FF-5BAF-15839965CCB1}"/>
              </a:ext>
            </a:extLst>
          </p:cNvPr>
          <p:cNvCxnSpPr>
            <a:stCxn id="9" idx="2"/>
            <a:endCxn id="11" idx="1"/>
          </p:cNvCxnSpPr>
          <p:nvPr/>
        </p:nvCxnSpPr>
        <p:spPr>
          <a:xfrm rot="16200000" flipH="1">
            <a:off x="3201889" y="4532412"/>
            <a:ext cx="198597" cy="802707"/>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70779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10B15-01A7-60DC-EAB2-95BE6BFCD7C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68C5BC8-F750-AA4D-DA2F-F9F0F4754643}"/>
              </a:ext>
            </a:extLst>
          </p:cNvPr>
          <p:cNvPicPr>
            <a:picLocks noChangeAspect="1"/>
          </p:cNvPicPr>
          <p:nvPr/>
        </p:nvPicPr>
        <p:blipFill>
          <a:blip r:embed="rId2"/>
          <a:srcRect t="14985"/>
          <a:stretch>
            <a:fillRect/>
          </a:stretch>
        </p:blipFill>
        <p:spPr>
          <a:xfrm>
            <a:off x="879524" y="627497"/>
            <a:ext cx="10707906" cy="5120640"/>
          </a:xfrm>
          <a:prstGeom prst="rect">
            <a:avLst/>
          </a:prstGeom>
        </p:spPr>
      </p:pic>
      <p:sp>
        <p:nvSpPr>
          <p:cNvPr id="13" name="TextBox 12">
            <a:extLst>
              <a:ext uri="{FF2B5EF4-FFF2-40B4-BE49-F238E27FC236}">
                <a16:creationId xmlns:a16="http://schemas.microsoft.com/office/drawing/2014/main" id="{501A3C24-92DF-3CC2-1011-1742C328EC7B}"/>
              </a:ext>
            </a:extLst>
          </p:cNvPr>
          <p:cNvSpPr txBox="1"/>
          <p:nvPr/>
        </p:nvSpPr>
        <p:spPr>
          <a:xfrm>
            <a:off x="0" y="5216"/>
            <a:ext cx="12192000" cy="707886"/>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Structure Audit -&gt; HSE Audit 1</a:t>
            </a:r>
          </a:p>
          <a:p>
            <a:pPr algn="ctr"/>
            <a:r>
              <a:rPr lang="en-US" sz="1600" b="1" dirty="0">
                <a:solidFill>
                  <a:srgbClr val="DA0000"/>
                </a:solidFill>
                <a:ea typeface="Cambria Math" panose="02040503050406030204" pitchFamily="18" charset="0"/>
                <a:cs typeface="Times New Roman" pitchFamily="18" charset="0"/>
              </a:rPr>
              <a:t>In this list only the latest audit will be shown</a:t>
            </a:r>
          </a:p>
        </p:txBody>
      </p:sp>
      <p:graphicFrame>
        <p:nvGraphicFramePr>
          <p:cNvPr id="6" name="Table 5">
            <a:extLst>
              <a:ext uri="{FF2B5EF4-FFF2-40B4-BE49-F238E27FC236}">
                <a16:creationId xmlns:a16="http://schemas.microsoft.com/office/drawing/2014/main" id="{B90DE169-F226-315D-8703-6D83146FDC09}"/>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05B71A40-2F3F-D8DD-8B36-3033D429E139}"/>
              </a:ext>
            </a:extLst>
          </p:cNvPr>
          <p:cNvSpPr/>
          <p:nvPr/>
        </p:nvSpPr>
        <p:spPr>
          <a:xfrm>
            <a:off x="855677" y="4204340"/>
            <a:ext cx="1761688" cy="461665"/>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FF00"/>
                </a:solidFill>
              </a:ln>
            </a:endParaRPr>
          </a:p>
        </p:txBody>
      </p:sp>
      <p:sp>
        <p:nvSpPr>
          <p:cNvPr id="10" name="TextBox 9">
            <a:extLst>
              <a:ext uri="{FF2B5EF4-FFF2-40B4-BE49-F238E27FC236}">
                <a16:creationId xmlns:a16="http://schemas.microsoft.com/office/drawing/2014/main" id="{B11E21F7-1E6D-1C59-2D84-C50B48D89F0E}"/>
              </a:ext>
            </a:extLst>
          </p:cNvPr>
          <p:cNvSpPr txBox="1"/>
          <p:nvPr/>
        </p:nvSpPr>
        <p:spPr>
          <a:xfrm>
            <a:off x="-1" y="4142784"/>
            <a:ext cx="1057984" cy="584775"/>
          </a:xfrm>
          <a:prstGeom prst="rect">
            <a:avLst/>
          </a:prstGeom>
          <a:noFill/>
          <a:ln>
            <a:solidFill>
              <a:srgbClr val="002060"/>
            </a:solidFill>
          </a:ln>
        </p:spPr>
        <p:txBody>
          <a:bodyPr wrap="square" rtlCol="0">
            <a:spAutoFit/>
          </a:bodyPr>
          <a:lstStyle/>
          <a:p>
            <a:pPr algn="ctr"/>
            <a:r>
              <a:rPr lang="en-US" sz="1600" dirty="0">
                <a:latin typeface="Cambria" panose="02040503050406030204" pitchFamily="18" charset="0"/>
                <a:ea typeface="Cambria" panose="02040503050406030204" pitchFamily="18" charset="0"/>
              </a:rPr>
              <a:t>HSE </a:t>
            </a:r>
          </a:p>
          <a:p>
            <a:pPr algn="ctr"/>
            <a:r>
              <a:rPr lang="en-US" sz="1600" dirty="0">
                <a:latin typeface="Cambria" panose="02040503050406030204" pitchFamily="18" charset="0"/>
                <a:ea typeface="Cambria" panose="02040503050406030204" pitchFamily="18" charset="0"/>
              </a:rPr>
              <a:t>Audit</a:t>
            </a:r>
          </a:p>
        </p:txBody>
      </p:sp>
      <p:sp>
        <p:nvSpPr>
          <p:cNvPr id="11" name="Callout: Up Arrow 10">
            <a:extLst>
              <a:ext uri="{FF2B5EF4-FFF2-40B4-BE49-F238E27FC236}">
                <a16:creationId xmlns:a16="http://schemas.microsoft.com/office/drawing/2014/main" id="{1058A896-7C1C-D2E5-2E90-5EABE7E50F7D}"/>
              </a:ext>
            </a:extLst>
          </p:cNvPr>
          <p:cNvSpPr/>
          <p:nvPr/>
        </p:nvSpPr>
        <p:spPr>
          <a:xfrm>
            <a:off x="2995783" y="1815871"/>
            <a:ext cx="6475388" cy="3746729"/>
          </a:xfrm>
          <a:prstGeom prst="upArrowCallout">
            <a:avLst>
              <a:gd name="adj1" fmla="val 23176"/>
              <a:gd name="adj2" fmla="val 16736"/>
              <a:gd name="adj3" fmla="val 13896"/>
              <a:gd name="adj4" fmla="val 77722"/>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A562C4EE-68BD-494D-075A-B787A6E91BE5}"/>
              </a:ext>
            </a:extLst>
          </p:cNvPr>
          <p:cNvSpPr txBox="1"/>
          <p:nvPr/>
        </p:nvSpPr>
        <p:spPr>
          <a:xfrm>
            <a:off x="5535016" y="1477317"/>
            <a:ext cx="1396922" cy="338554"/>
          </a:xfrm>
          <a:prstGeom prst="rect">
            <a:avLst/>
          </a:prstGeom>
          <a:noFill/>
          <a:ln>
            <a:solidFill>
              <a:srgbClr val="FF0000"/>
            </a:solidFill>
          </a:ln>
        </p:spPr>
        <p:txBody>
          <a:bodyPr wrap="none" rtlCol="0">
            <a:spAutoFit/>
          </a:bodyPr>
          <a:lstStyle/>
          <a:p>
            <a:pPr algn="ctr"/>
            <a:r>
              <a:rPr lang="en-US" sz="1600" dirty="0"/>
              <a:t>OE Audit Data</a:t>
            </a:r>
          </a:p>
        </p:txBody>
      </p:sp>
      <p:sp>
        <p:nvSpPr>
          <p:cNvPr id="5" name="Callout: Up Arrow 4">
            <a:extLst>
              <a:ext uri="{FF2B5EF4-FFF2-40B4-BE49-F238E27FC236}">
                <a16:creationId xmlns:a16="http://schemas.microsoft.com/office/drawing/2014/main" id="{98B7611A-16E9-3696-9919-8B1B63EFE7C9}"/>
              </a:ext>
            </a:extLst>
          </p:cNvPr>
          <p:cNvSpPr/>
          <p:nvPr/>
        </p:nvSpPr>
        <p:spPr>
          <a:xfrm>
            <a:off x="9373457" y="2005417"/>
            <a:ext cx="1870745" cy="547398"/>
          </a:xfrm>
          <a:prstGeom prst="upArrowCallou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AB9F41A-A7AC-5969-FF34-C428DF2E9712}"/>
              </a:ext>
            </a:extLst>
          </p:cNvPr>
          <p:cNvSpPr txBox="1"/>
          <p:nvPr/>
        </p:nvSpPr>
        <p:spPr>
          <a:xfrm>
            <a:off x="9700425" y="1661983"/>
            <a:ext cx="1216808" cy="307777"/>
          </a:xfrm>
          <a:prstGeom prst="rect">
            <a:avLst/>
          </a:prstGeom>
          <a:noFill/>
          <a:ln>
            <a:solidFill>
              <a:srgbClr val="FF0000"/>
            </a:solidFill>
          </a:ln>
        </p:spPr>
        <p:txBody>
          <a:bodyPr wrap="none" rtlCol="0">
            <a:spAutoFit/>
          </a:bodyPr>
          <a:lstStyle/>
          <a:p>
            <a:pPr algn="ctr"/>
            <a:r>
              <a:rPr lang="en-US" sz="1400" dirty="0"/>
              <a:t>Search Option</a:t>
            </a:r>
          </a:p>
        </p:txBody>
      </p:sp>
      <p:sp>
        <p:nvSpPr>
          <p:cNvPr id="19" name="Oval 18">
            <a:extLst>
              <a:ext uri="{FF2B5EF4-FFF2-40B4-BE49-F238E27FC236}">
                <a16:creationId xmlns:a16="http://schemas.microsoft.com/office/drawing/2014/main" id="{959ABB95-969F-BFF7-6ECA-B4F6CEE99CAF}"/>
              </a:ext>
            </a:extLst>
          </p:cNvPr>
          <p:cNvSpPr/>
          <p:nvPr/>
        </p:nvSpPr>
        <p:spPr>
          <a:xfrm>
            <a:off x="4770228" y="2684753"/>
            <a:ext cx="268448" cy="2516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Connector: Curved 23">
            <a:extLst>
              <a:ext uri="{FF2B5EF4-FFF2-40B4-BE49-F238E27FC236}">
                <a16:creationId xmlns:a16="http://schemas.microsoft.com/office/drawing/2014/main" id="{3943A0F5-E0EA-F23C-8932-EB94E799489B}"/>
              </a:ext>
            </a:extLst>
          </p:cNvPr>
          <p:cNvCxnSpPr>
            <a:cxnSpLocks/>
            <a:endCxn id="26" idx="2"/>
          </p:cNvCxnSpPr>
          <p:nvPr/>
        </p:nvCxnSpPr>
        <p:spPr>
          <a:xfrm rot="16200000" flipV="1">
            <a:off x="4182876" y="1974887"/>
            <a:ext cx="886927" cy="556233"/>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269D0D1-B794-05BB-33E2-1A0F1E9CFBE1}"/>
              </a:ext>
            </a:extLst>
          </p:cNvPr>
          <p:cNvSpPr txBox="1"/>
          <p:nvPr/>
        </p:nvSpPr>
        <p:spPr>
          <a:xfrm>
            <a:off x="3601190" y="1286320"/>
            <a:ext cx="1494063" cy="523220"/>
          </a:xfrm>
          <a:prstGeom prst="rect">
            <a:avLst/>
          </a:prstGeom>
          <a:noFill/>
          <a:ln>
            <a:solidFill>
              <a:srgbClr val="FF0000"/>
            </a:solidFill>
          </a:ln>
        </p:spPr>
        <p:txBody>
          <a:bodyPr wrap="none" rtlCol="0">
            <a:spAutoFit/>
          </a:bodyPr>
          <a:lstStyle/>
          <a:p>
            <a:r>
              <a:rPr lang="en-US" sz="1400" b="1" dirty="0">
                <a:latin typeface="Cambria" panose="02040503050406030204" pitchFamily="18" charset="0"/>
                <a:ea typeface="Cambria" panose="02040503050406030204" pitchFamily="18" charset="0"/>
              </a:rPr>
              <a:t>Order Filter for </a:t>
            </a:r>
          </a:p>
          <a:p>
            <a:pPr algn="ctr"/>
            <a:r>
              <a:rPr lang="en-US" sz="1400" b="1" dirty="0">
                <a:latin typeface="Cambria" panose="02040503050406030204" pitchFamily="18" charset="0"/>
                <a:ea typeface="Cambria" panose="02040503050406030204" pitchFamily="18" charset="0"/>
              </a:rPr>
              <a:t>each column</a:t>
            </a:r>
          </a:p>
        </p:txBody>
      </p:sp>
    </p:spTree>
    <p:extLst>
      <p:ext uri="{BB962C8B-B14F-4D97-AF65-F5344CB8AC3E}">
        <p14:creationId xmlns:p14="http://schemas.microsoft.com/office/powerpoint/2010/main" val="5232942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58BED-AF82-7D5A-D3E9-AD37AB21F73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788A9C5-9297-5C08-7416-531C5D2560B7}"/>
              </a:ext>
            </a:extLst>
          </p:cNvPr>
          <p:cNvPicPr>
            <a:picLocks noChangeAspect="1"/>
          </p:cNvPicPr>
          <p:nvPr/>
        </p:nvPicPr>
        <p:blipFill>
          <a:blip r:embed="rId2"/>
          <a:srcRect t="14985"/>
          <a:stretch>
            <a:fillRect/>
          </a:stretch>
        </p:blipFill>
        <p:spPr>
          <a:xfrm>
            <a:off x="855677" y="633389"/>
            <a:ext cx="10707906" cy="5120640"/>
          </a:xfrm>
          <a:prstGeom prst="rect">
            <a:avLst/>
          </a:prstGeom>
        </p:spPr>
      </p:pic>
      <p:sp>
        <p:nvSpPr>
          <p:cNvPr id="13" name="TextBox 12">
            <a:extLst>
              <a:ext uri="{FF2B5EF4-FFF2-40B4-BE49-F238E27FC236}">
                <a16:creationId xmlns:a16="http://schemas.microsoft.com/office/drawing/2014/main" id="{27A1A478-2EA0-356B-2EEF-CA793D5F9614}"/>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Structure Audit -&gt; HSE Audit 2</a:t>
            </a:r>
          </a:p>
        </p:txBody>
      </p:sp>
      <p:graphicFrame>
        <p:nvGraphicFramePr>
          <p:cNvPr id="6" name="Table 5">
            <a:extLst>
              <a:ext uri="{FF2B5EF4-FFF2-40B4-BE49-F238E27FC236}">
                <a16:creationId xmlns:a16="http://schemas.microsoft.com/office/drawing/2014/main" id="{A419019B-CE02-6C52-F460-45CF35A4E62A}"/>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24B1F9DB-DA3D-C342-EAD9-981B94E1F207}"/>
              </a:ext>
            </a:extLst>
          </p:cNvPr>
          <p:cNvSpPr/>
          <p:nvPr/>
        </p:nvSpPr>
        <p:spPr>
          <a:xfrm>
            <a:off x="855677" y="4204340"/>
            <a:ext cx="1761688" cy="461665"/>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FF00"/>
                </a:solidFill>
              </a:ln>
            </a:endParaRPr>
          </a:p>
        </p:txBody>
      </p:sp>
      <p:sp>
        <p:nvSpPr>
          <p:cNvPr id="10" name="TextBox 9">
            <a:extLst>
              <a:ext uri="{FF2B5EF4-FFF2-40B4-BE49-F238E27FC236}">
                <a16:creationId xmlns:a16="http://schemas.microsoft.com/office/drawing/2014/main" id="{A35482B9-14EF-614F-5292-6E284A868A09}"/>
              </a:ext>
            </a:extLst>
          </p:cNvPr>
          <p:cNvSpPr txBox="1"/>
          <p:nvPr/>
        </p:nvSpPr>
        <p:spPr>
          <a:xfrm>
            <a:off x="-1" y="4142784"/>
            <a:ext cx="1057984" cy="584775"/>
          </a:xfrm>
          <a:prstGeom prst="rect">
            <a:avLst/>
          </a:prstGeom>
          <a:noFill/>
          <a:ln>
            <a:solidFill>
              <a:srgbClr val="002060"/>
            </a:solidFill>
          </a:ln>
        </p:spPr>
        <p:txBody>
          <a:bodyPr wrap="square" rtlCol="0">
            <a:spAutoFit/>
          </a:bodyPr>
          <a:lstStyle/>
          <a:p>
            <a:pPr algn="ctr"/>
            <a:r>
              <a:rPr lang="en-US" sz="1600" dirty="0">
                <a:latin typeface="Cambria" panose="02040503050406030204" pitchFamily="18" charset="0"/>
                <a:ea typeface="Cambria" panose="02040503050406030204" pitchFamily="18" charset="0"/>
              </a:rPr>
              <a:t>HSE </a:t>
            </a:r>
          </a:p>
          <a:p>
            <a:pPr algn="ctr"/>
            <a:r>
              <a:rPr lang="en-US" sz="1600" dirty="0">
                <a:latin typeface="Cambria" panose="02040503050406030204" pitchFamily="18" charset="0"/>
                <a:ea typeface="Cambria" panose="02040503050406030204" pitchFamily="18" charset="0"/>
              </a:rPr>
              <a:t>Audit</a:t>
            </a:r>
          </a:p>
        </p:txBody>
      </p:sp>
      <p:sp>
        <p:nvSpPr>
          <p:cNvPr id="11" name="Callout: Up Arrow 10">
            <a:extLst>
              <a:ext uri="{FF2B5EF4-FFF2-40B4-BE49-F238E27FC236}">
                <a16:creationId xmlns:a16="http://schemas.microsoft.com/office/drawing/2014/main" id="{C5031172-D075-5167-422D-7481D4F4EE4E}"/>
              </a:ext>
            </a:extLst>
          </p:cNvPr>
          <p:cNvSpPr/>
          <p:nvPr/>
        </p:nvSpPr>
        <p:spPr>
          <a:xfrm>
            <a:off x="2995783" y="2027457"/>
            <a:ext cx="6266750" cy="3526676"/>
          </a:xfrm>
          <a:prstGeom prst="upArrowCallout">
            <a:avLst>
              <a:gd name="adj1" fmla="val 23176"/>
              <a:gd name="adj2" fmla="val 16736"/>
              <a:gd name="adj3" fmla="val 13896"/>
              <a:gd name="adj4" fmla="val 83371"/>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AEAD99D-562B-CD06-9400-FDCB5B63FEBA}"/>
              </a:ext>
            </a:extLst>
          </p:cNvPr>
          <p:cNvSpPr txBox="1"/>
          <p:nvPr/>
        </p:nvSpPr>
        <p:spPr>
          <a:xfrm>
            <a:off x="5514979" y="1688903"/>
            <a:ext cx="1436996" cy="338554"/>
          </a:xfrm>
          <a:prstGeom prst="rect">
            <a:avLst/>
          </a:prstGeom>
          <a:noFill/>
          <a:ln>
            <a:solidFill>
              <a:srgbClr val="FF0000"/>
            </a:solidFill>
          </a:ln>
        </p:spPr>
        <p:txBody>
          <a:bodyPr wrap="none" rtlCol="0">
            <a:spAutoFit/>
          </a:bodyPr>
          <a:lstStyle/>
          <a:p>
            <a:pPr algn="ctr"/>
            <a:r>
              <a:rPr lang="en-US" sz="1600" dirty="0"/>
              <a:t>HSE Audit Data</a:t>
            </a:r>
          </a:p>
        </p:txBody>
      </p:sp>
      <p:cxnSp>
        <p:nvCxnSpPr>
          <p:cNvPr id="9" name="Connector: Curved 8">
            <a:extLst>
              <a:ext uri="{FF2B5EF4-FFF2-40B4-BE49-F238E27FC236}">
                <a16:creationId xmlns:a16="http://schemas.microsoft.com/office/drawing/2014/main" id="{20036C8C-0495-099D-D15D-D8E9773BD10D}"/>
              </a:ext>
            </a:extLst>
          </p:cNvPr>
          <p:cNvCxnSpPr>
            <a:cxnSpLocks/>
            <a:stCxn id="18" idx="0"/>
            <a:endCxn id="12" idx="2"/>
          </p:cNvCxnSpPr>
          <p:nvPr/>
        </p:nvCxnSpPr>
        <p:spPr>
          <a:xfrm rot="16200000" flipV="1">
            <a:off x="8842748" y="2056899"/>
            <a:ext cx="859927" cy="969876"/>
          </a:xfrm>
          <a:prstGeom prst="curvedConnector3">
            <a:avLst>
              <a:gd name="adj1" fmla="val 50000"/>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7F77B2FF-E678-39A9-C0AB-8FE97DF27AA1}"/>
              </a:ext>
            </a:extLst>
          </p:cNvPr>
          <p:cNvSpPr txBox="1"/>
          <p:nvPr/>
        </p:nvSpPr>
        <p:spPr>
          <a:xfrm>
            <a:off x="7857582" y="1650208"/>
            <a:ext cx="1860381" cy="461665"/>
          </a:xfrm>
          <a:prstGeom prst="rect">
            <a:avLst/>
          </a:prstGeom>
          <a:noFill/>
          <a:ln>
            <a:solidFill>
              <a:srgbClr val="FF0000"/>
            </a:solidFill>
          </a:ln>
        </p:spPr>
        <p:txBody>
          <a:bodyPr wrap="none" rtlCol="0">
            <a:spAutoFit/>
          </a:bodyPr>
          <a:lstStyle/>
          <a:p>
            <a:pPr algn="ctr"/>
            <a:r>
              <a:rPr lang="en-US" sz="1200" b="1" dirty="0">
                <a:solidFill>
                  <a:srgbClr val="FF0000"/>
                </a:solidFill>
              </a:rPr>
              <a:t>Download Normal and </a:t>
            </a:r>
          </a:p>
          <a:p>
            <a:pPr algn="ctr"/>
            <a:r>
              <a:rPr lang="en-US" sz="1200" b="1" dirty="0" err="1">
                <a:solidFill>
                  <a:srgbClr val="FF0000"/>
                </a:solidFill>
              </a:rPr>
              <a:t>Autogrid</a:t>
            </a:r>
            <a:r>
              <a:rPr lang="en-US" sz="1200" b="1" dirty="0">
                <a:solidFill>
                  <a:srgbClr val="FF0000"/>
                </a:solidFill>
              </a:rPr>
              <a:t> In PDF and excel</a:t>
            </a:r>
          </a:p>
        </p:txBody>
      </p:sp>
      <p:sp>
        <p:nvSpPr>
          <p:cNvPr id="20" name="Oval 19">
            <a:extLst>
              <a:ext uri="{FF2B5EF4-FFF2-40B4-BE49-F238E27FC236}">
                <a16:creationId xmlns:a16="http://schemas.microsoft.com/office/drawing/2014/main" id="{1BF0995F-C054-EE5F-BB0A-476904DD8A35}"/>
              </a:ext>
            </a:extLst>
          </p:cNvPr>
          <p:cNvSpPr/>
          <p:nvPr/>
        </p:nvSpPr>
        <p:spPr>
          <a:xfrm>
            <a:off x="10659415" y="3003970"/>
            <a:ext cx="319715" cy="31513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Connector: Curved 20">
            <a:extLst>
              <a:ext uri="{FF2B5EF4-FFF2-40B4-BE49-F238E27FC236}">
                <a16:creationId xmlns:a16="http://schemas.microsoft.com/office/drawing/2014/main" id="{EE66A8E4-3E5F-DDD8-9433-5AF17BEFADD4}"/>
              </a:ext>
            </a:extLst>
          </p:cNvPr>
          <p:cNvCxnSpPr>
            <a:cxnSpLocks/>
            <a:stCxn id="20" idx="0"/>
            <a:endCxn id="25" idx="2"/>
          </p:cNvCxnSpPr>
          <p:nvPr/>
        </p:nvCxnSpPr>
        <p:spPr>
          <a:xfrm rot="16200000" flipV="1">
            <a:off x="10181056" y="2365752"/>
            <a:ext cx="1071677" cy="204759"/>
          </a:xfrm>
          <a:prstGeom prst="curvedConnector3">
            <a:avLst>
              <a:gd name="adj1" fmla="val 50000"/>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3DEBDC04-E36C-67BC-0369-42F10BA32B4F}"/>
              </a:ext>
            </a:extLst>
          </p:cNvPr>
          <p:cNvSpPr txBox="1"/>
          <p:nvPr/>
        </p:nvSpPr>
        <p:spPr>
          <a:xfrm>
            <a:off x="9979885" y="1655294"/>
            <a:ext cx="1269258" cy="276999"/>
          </a:xfrm>
          <a:prstGeom prst="rect">
            <a:avLst/>
          </a:prstGeom>
          <a:noFill/>
          <a:ln>
            <a:solidFill>
              <a:srgbClr val="FF0000"/>
            </a:solidFill>
          </a:ln>
        </p:spPr>
        <p:txBody>
          <a:bodyPr wrap="none" rtlCol="0">
            <a:spAutoFit/>
          </a:bodyPr>
          <a:lstStyle/>
          <a:p>
            <a:pPr algn="ctr"/>
            <a:r>
              <a:rPr lang="en-US" sz="1200" b="1" dirty="0">
                <a:solidFill>
                  <a:srgbClr val="FF0000"/>
                </a:solidFill>
              </a:rPr>
              <a:t>Perform Reaudit</a:t>
            </a:r>
          </a:p>
        </p:txBody>
      </p:sp>
      <p:sp>
        <p:nvSpPr>
          <p:cNvPr id="18" name="Rectangle: Rounded Corners 17">
            <a:extLst>
              <a:ext uri="{FF2B5EF4-FFF2-40B4-BE49-F238E27FC236}">
                <a16:creationId xmlns:a16="http://schemas.microsoft.com/office/drawing/2014/main" id="{D3BBB222-3C6E-11E1-2872-36EFFA952208}"/>
              </a:ext>
            </a:extLst>
          </p:cNvPr>
          <p:cNvSpPr/>
          <p:nvPr/>
        </p:nvSpPr>
        <p:spPr>
          <a:xfrm>
            <a:off x="9440334" y="2971800"/>
            <a:ext cx="634629" cy="37947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0D3C2D5-9587-59B5-1F62-245C1DA904A4}"/>
              </a:ext>
            </a:extLst>
          </p:cNvPr>
          <p:cNvSpPr txBox="1"/>
          <p:nvPr/>
        </p:nvSpPr>
        <p:spPr>
          <a:xfrm>
            <a:off x="8334035" y="1073034"/>
            <a:ext cx="2737417" cy="276999"/>
          </a:xfrm>
          <a:prstGeom prst="rect">
            <a:avLst/>
          </a:prstGeom>
          <a:noFill/>
          <a:ln>
            <a:solidFill>
              <a:srgbClr val="FF0000"/>
            </a:solidFill>
          </a:ln>
        </p:spPr>
        <p:txBody>
          <a:bodyPr wrap="none" rtlCol="0">
            <a:spAutoFit/>
          </a:bodyPr>
          <a:lstStyle/>
          <a:p>
            <a:pPr algn="ctr"/>
            <a:r>
              <a:rPr lang="en-US" sz="1200" b="1" dirty="0">
                <a:solidFill>
                  <a:srgbClr val="FF0000"/>
                </a:solidFill>
              </a:rPr>
              <a:t>Download CAPA report In PDF and excel</a:t>
            </a:r>
          </a:p>
        </p:txBody>
      </p:sp>
      <p:sp>
        <p:nvSpPr>
          <p:cNvPr id="27" name="Rectangle: Rounded Corners 26">
            <a:extLst>
              <a:ext uri="{FF2B5EF4-FFF2-40B4-BE49-F238E27FC236}">
                <a16:creationId xmlns:a16="http://schemas.microsoft.com/office/drawing/2014/main" id="{EFD23C82-93DD-1D29-E353-0D5BDAF73472}"/>
              </a:ext>
            </a:extLst>
          </p:cNvPr>
          <p:cNvSpPr/>
          <p:nvPr/>
        </p:nvSpPr>
        <p:spPr>
          <a:xfrm>
            <a:off x="10074964" y="3455923"/>
            <a:ext cx="584452" cy="31513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Connector: Curved 27">
            <a:extLst>
              <a:ext uri="{FF2B5EF4-FFF2-40B4-BE49-F238E27FC236}">
                <a16:creationId xmlns:a16="http://schemas.microsoft.com/office/drawing/2014/main" id="{C225E307-20F7-1F72-D565-565BD95BD4EA}"/>
              </a:ext>
            </a:extLst>
          </p:cNvPr>
          <p:cNvCxnSpPr>
            <a:cxnSpLocks/>
          </p:cNvCxnSpPr>
          <p:nvPr/>
        </p:nvCxnSpPr>
        <p:spPr>
          <a:xfrm rot="16200000" flipV="1">
            <a:off x="9060526" y="2136493"/>
            <a:ext cx="2136147" cy="563227"/>
          </a:xfrm>
          <a:prstGeom prst="curvedConnector3">
            <a:avLst>
              <a:gd name="adj1" fmla="val 50000"/>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69890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1AE81-EB78-BDA8-A458-BA58A354F6C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9112413-4860-8BF7-7D90-E21705A59AC1}"/>
              </a:ext>
            </a:extLst>
          </p:cNvPr>
          <p:cNvPicPr>
            <a:picLocks noChangeAspect="1"/>
          </p:cNvPicPr>
          <p:nvPr/>
        </p:nvPicPr>
        <p:blipFill>
          <a:blip r:embed="rId2"/>
          <a:srcRect t="13580"/>
          <a:stretch>
            <a:fillRect/>
          </a:stretch>
        </p:blipFill>
        <p:spPr>
          <a:xfrm>
            <a:off x="966533" y="868680"/>
            <a:ext cx="10533888" cy="5120640"/>
          </a:xfrm>
          <a:prstGeom prst="rect">
            <a:avLst/>
          </a:prstGeom>
        </p:spPr>
      </p:pic>
      <p:sp>
        <p:nvSpPr>
          <p:cNvPr id="13" name="TextBox 12">
            <a:extLst>
              <a:ext uri="{FF2B5EF4-FFF2-40B4-BE49-F238E27FC236}">
                <a16:creationId xmlns:a16="http://schemas.microsoft.com/office/drawing/2014/main" id="{0EEEC31F-D726-12E3-AD7F-6E0125224089}"/>
              </a:ext>
            </a:extLst>
          </p:cNvPr>
          <p:cNvSpPr txBox="1"/>
          <p:nvPr/>
        </p:nvSpPr>
        <p:spPr>
          <a:xfrm>
            <a:off x="0" y="5216"/>
            <a:ext cx="12192000" cy="707886"/>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Structure Audit -&gt; Old HSE audit 1</a:t>
            </a:r>
          </a:p>
          <a:p>
            <a:pPr algn="ctr"/>
            <a:r>
              <a:rPr lang="en-US" sz="1600" b="1" dirty="0">
                <a:solidFill>
                  <a:srgbClr val="DA0000"/>
                </a:solidFill>
                <a:ea typeface="Cambria Math" panose="02040503050406030204" pitchFamily="18" charset="0"/>
                <a:cs typeface="Times New Roman" pitchFamily="18" charset="0"/>
              </a:rPr>
              <a:t>All the old audits will be here</a:t>
            </a:r>
          </a:p>
        </p:txBody>
      </p:sp>
      <p:graphicFrame>
        <p:nvGraphicFramePr>
          <p:cNvPr id="6" name="Table 5">
            <a:extLst>
              <a:ext uri="{FF2B5EF4-FFF2-40B4-BE49-F238E27FC236}">
                <a16:creationId xmlns:a16="http://schemas.microsoft.com/office/drawing/2014/main" id="{697A755E-5B49-F2B9-90EE-5FB19D8F98E8}"/>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776922E1-9E79-312C-6EB9-2D8B7832E92B}"/>
              </a:ext>
            </a:extLst>
          </p:cNvPr>
          <p:cNvSpPr/>
          <p:nvPr/>
        </p:nvSpPr>
        <p:spPr>
          <a:xfrm>
            <a:off x="1092678" y="4988632"/>
            <a:ext cx="1295540" cy="461665"/>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FF00"/>
                </a:solidFill>
              </a:ln>
            </a:endParaRPr>
          </a:p>
        </p:txBody>
      </p:sp>
      <p:sp>
        <p:nvSpPr>
          <p:cNvPr id="10" name="TextBox 9">
            <a:extLst>
              <a:ext uri="{FF2B5EF4-FFF2-40B4-BE49-F238E27FC236}">
                <a16:creationId xmlns:a16="http://schemas.microsoft.com/office/drawing/2014/main" id="{901DFF5C-2EE4-0886-7D28-A302446B52A2}"/>
              </a:ext>
            </a:extLst>
          </p:cNvPr>
          <p:cNvSpPr txBox="1"/>
          <p:nvPr/>
        </p:nvSpPr>
        <p:spPr>
          <a:xfrm>
            <a:off x="50798" y="4927076"/>
            <a:ext cx="778038" cy="584775"/>
          </a:xfrm>
          <a:prstGeom prst="rect">
            <a:avLst/>
          </a:prstGeom>
          <a:noFill/>
          <a:ln>
            <a:solidFill>
              <a:srgbClr val="002060"/>
            </a:solidFill>
          </a:ln>
        </p:spPr>
        <p:txBody>
          <a:bodyPr wrap="square" rtlCol="0">
            <a:spAutoFit/>
          </a:bodyPr>
          <a:lstStyle/>
          <a:p>
            <a:pPr algn="ctr"/>
            <a:r>
              <a:rPr lang="en-US" sz="1600" dirty="0">
                <a:latin typeface="Cambria" panose="02040503050406030204" pitchFamily="18" charset="0"/>
                <a:ea typeface="Cambria" panose="02040503050406030204" pitchFamily="18" charset="0"/>
              </a:rPr>
              <a:t>Old</a:t>
            </a:r>
          </a:p>
          <a:p>
            <a:pPr algn="ctr"/>
            <a:r>
              <a:rPr lang="en-US" sz="1600" dirty="0">
                <a:latin typeface="Cambria" panose="02040503050406030204" pitchFamily="18" charset="0"/>
                <a:ea typeface="Cambria" panose="02040503050406030204" pitchFamily="18" charset="0"/>
              </a:rPr>
              <a:t>Audit</a:t>
            </a:r>
          </a:p>
        </p:txBody>
      </p:sp>
      <p:sp>
        <p:nvSpPr>
          <p:cNvPr id="11" name="Callout: Up Arrow 10">
            <a:extLst>
              <a:ext uri="{FF2B5EF4-FFF2-40B4-BE49-F238E27FC236}">
                <a16:creationId xmlns:a16="http://schemas.microsoft.com/office/drawing/2014/main" id="{44EB417E-7EA9-C0B0-9E20-3721DCB1C048}"/>
              </a:ext>
            </a:extLst>
          </p:cNvPr>
          <p:cNvSpPr/>
          <p:nvPr/>
        </p:nvSpPr>
        <p:spPr>
          <a:xfrm>
            <a:off x="2995783" y="2709645"/>
            <a:ext cx="6475388" cy="3120704"/>
          </a:xfrm>
          <a:prstGeom prst="upArrowCallout">
            <a:avLst>
              <a:gd name="adj1" fmla="val 23176"/>
              <a:gd name="adj2" fmla="val 16736"/>
              <a:gd name="adj3" fmla="val 13896"/>
              <a:gd name="adj4" fmla="val 83371"/>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86B14E2-A70E-302B-DF96-E9DE79824C7D}"/>
              </a:ext>
            </a:extLst>
          </p:cNvPr>
          <p:cNvSpPr txBox="1"/>
          <p:nvPr/>
        </p:nvSpPr>
        <p:spPr>
          <a:xfrm>
            <a:off x="5514981" y="2355647"/>
            <a:ext cx="1436996" cy="338554"/>
          </a:xfrm>
          <a:prstGeom prst="rect">
            <a:avLst/>
          </a:prstGeom>
          <a:noFill/>
          <a:ln>
            <a:solidFill>
              <a:srgbClr val="FF0000"/>
            </a:solidFill>
          </a:ln>
        </p:spPr>
        <p:txBody>
          <a:bodyPr wrap="none" rtlCol="0">
            <a:spAutoFit/>
          </a:bodyPr>
          <a:lstStyle/>
          <a:p>
            <a:pPr algn="ctr"/>
            <a:r>
              <a:rPr lang="en-US" sz="1600" dirty="0"/>
              <a:t>HSE Audit Data</a:t>
            </a:r>
          </a:p>
        </p:txBody>
      </p:sp>
      <p:sp>
        <p:nvSpPr>
          <p:cNvPr id="22" name="Callout: Up Arrow 21">
            <a:extLst>
              <a:ext uri="{FF2B5EF4-FFF2-40B4-BE49-F238E27FC236}">
                <a16:creationId xmlns:a16="http://schemas.microsoft.com/office/drawing/2014/main" id="{355E2BB7-080B-739A-62F4-DDCB80254E4B}"/>
              </a:ext>
            </a:extLst>
          </p:cNvPr>
          <p:cNvSpPr/>
          <p:nvPr/>
        </p:nvSpPr>
        <p:spPr>
          <a:xfrm>
            <a:off x="2910981" y="1434518"/>
            <a:ext cx="8011486" cy="812607"/>
          </a:xfrm>
          <a:prstGeom prst="upArrowCallout">
            <a:avLst>
              <a:gd name="adj1" fmla="val 25000"/>
              <a:gd name="adj2" fmla="val 25000"/>
              <a:gd name="adj3" fmla="val 25000"/>
              <a:gd name="adj4" fmla="val 56718"/>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3" name="TextBox 22">
            <a:extLst>
              <a:ext uri="{FF2B5EF4-FFF2-40B4-BE49-F238E27FC236}">
                <a16:creationId xmlns:a16="http://schemas.microsoft.com/office/drawing/2014/main" id="{0D7DDF20-6E68-15FC-F3B7-1BE592CB6838}"/>
              </a:ext>
            </a:extLst>
          </p:cNvPr>
          <p:cNvSpPr txBox="1"/>
          <p:nvPr/>
        </p:nvSpPr>
        <p:spPr>
          <a:xfrm>
            <a:off x="5889507" y="1010925"/>
            <a:ext cx="2084866" cy="369332"/>
          </a:xfrm>
          <a:prstGeom prst="rect">
            <a:avLst/>
          </a:prstGeom>
          <a:noFill/>
          <a:ln>
            <a:solidFill>
              <a:srgbClr val="FF0000"/>
            </a:solidFill>
          </a:ln>
        </p:spPr>
        <p:txBody>
          <a:bodyPr wrap="none" rtlCol="0">
            <a:spAutoFit/>
          </a:bodyPr>
          <a:lstStyle/>
          <a:p>
            <a:r>
              <a:rPr lang="en-US" dirty="0">
                <a:solidFill>
                  <a:srgbClr val="FF0000"/>
                </a:solidFill>
              </a:rPr>
              <a:t>Filter for audit types</a:t>
            </a:r>
          </a:p>
        </p:txBody>
      </p:sp>
    </p:spTree>
    <p:extLst>
      <p:ext uri="{BB962C8B-B14F-4D97-AF65-F5344CB8AC3E}">
        <p14:creationId xmlns:p14="http://schemas.microsoft.com/office/powerpoint/2010/main" val="14258222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EEEE9-58C4-54E8-CBDB-AE5A38E456D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AF45D8F-6E4C-AB39-97B0-804EE765984C}"/>
              </a:ext>
            </a:extLst>
          </p:cNvPr>
          <p:cNvPicPr>
            <a:picLocks noChangeAspect="1"/>
          </p:cNvPicPr>
          <p:nvPr/>
        </p:nvPicPr>
        <p:blipFill>
          <a:blip r:embed="rId2"/>
          <a:srcRect t="14741"/>
          <a:stretch>
            <a:fillRect/>
          </a:stretch>
        </p:blipFill>
        <p:spPr>
          <a:xfrm>
            <a:off x="757362" y="934724"/>
            <a:ext cx="10677275" cy="5120640"/>
          </a:xfrm>
          <a:prstGeom prst="rect">
            <a:avLst/>
          </a:prstGeom>
        </p:spPr>
      </p:pic>
      <p:sp>
        <p:nvSpPr>
          <p:cNvPr id="13" name="TextBox 12">
            <a:extLst>
              <a:ext uri="{FF2B5EF4-FFF2-40B4-BE49-F238E27FC236}">
                <a16:creationId xmlns:a16="http://schemas.microsoft.com/office/drawing/2014/main" id="{F6C40D84-3842-87F6-B42E-131359A59BEB}"/>
              </a:ext>
            </a:extLst>
          </p:cNvPr>
          <p:cNvSpPr txBox="1"/>
          <p:nvPr/>
        </p:nvSpPr>
        <p:spPr>
          <a:xfrm>
            <a:off x="0" y="5216"/>
            <a:ext cx="12192000" cy="707886"/>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Structure Audit -&gt; All Old HSE audit 2</a:t>
            </a:r>
          </a:p>
          <a:p>
            <a:pPr algn="ctr"/>
            <a:r>
              <a:rPr lang="en-US" sz="1600" b="1" dirty="0">
                <a:solidFill>
                  <a:srgbClr val="DA0000"/>
                </a:solidFill>
                <a:ea typeface="Cambria Math" panose="02040503050406030204" pitchFamily="18" charset="0"/>
                <a:cs typeface="Times New Roman" pitchFamily="18" charset="0"/>
              </a:rPr>
              <a:t>All the old audits will be here</a:t>
            </a:r>
          </a:p>
        </p:txBody>
      </p:sp>
      <p:graphicFrame>
        <p:nvGraphicFramePr>
          <p:cNvPr id="6" name="Table 5">
            <a:extLst>
              <a:ext uri="{FF2B5EF4-FFF2-40B4-BE49-F238E27FC236}">
                <a16:creationId xmlns:a16="http://schemas.microsoft.com/office/drawing/2014/main" id="{1136549E-0931-DF86-02A8-3027AC643E8F}"/>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889EEC75-A216-12F1-A3B4-8ABB007C2AD7}"/>
              </a:ext>
            </a:extLst>
          </p:cNvPr>
          <p:cNvSpPr/>
          <p:nvPr/>
        </p:nvSpPr>
        <p:spPr>
          <a:xfrm>
            <a:off x="667969" y="5047900"/>
            <a:ext cx="1627115" cy="461665"/>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FF00"/>
                </a:solidFill>
              </a:ln>
            </a:endParaRPr>
          </a:p>
        </p:txBody>
      </p:sp>
      <p:sp>
        <p:nvSpPr>
          <p:cNvPr id="10" name="TextBox 9">
            <a:extLst>
              <a:ext uri="{FF2B5EF4-FFF2-40B4-BE49-F238E27FC236}">
                <a16:creationId xmlns:a16="http://schemas.microsoft.com/office/drawing/2014/main" id="{D94A3085-AC42-4D9A-A8BF-A37FEB9AD602}"/>
              </a:ext>
            </a:extLst>
          </p:cNvPr>
          <p:cNvSpPr txBox="1"/>
          <p:nvPr/>
        </p:nvSpPr>
        <p:spPr>
          <a:xfrm>
            <a:off x="93133" y="5037146"/>
            <a:ext cx="574836" cy="461665"/>
          </a:xfrm>
          <a:prstGeom prst="rect">
            <a:avLst/>
          </a:prstGeom>
          <a:noFill/>
          <a:ln>
            <a:solidFill>
              <a:srgbClr val="FF0000"/>
            </a:solidFill>
          </a:ln>
        </p:spPr>
        <p:txBody>
          <a:bodyPr wrap="square" rtlCol="0">
            <a:spAutoFit/>
          </a:bodyPr>
          <a:lstStyle/>
          <a:p>
            <a:pPr algn="ctr"/>
            <a:r>
              <a:rPr lang="en-US" sz="1200" dirty="0">
                <a:latin typeface="Cambria" panose="02040503050406030204" pitchFamily="18" charset="0"/>
                <a:ea typeface="Cambria" panose="02040503050406030204" pitchFamily="18" charset="0"/>
              </a:rPr>
              <a:t>OE </a:t>
            </a:r>
          </a:p>
          <a:p>
            <a:pPr algn="ctr"/>
            <a:r>
              <a:rPr lang="en-US" sz="1200" dirty="0">
                <a:latin typeface="Cambria" panose="02040503050406030204" pitchFamily="18" charset="0"/>
                <a:ea typeface="Cambria" panose="02040503050406030204" pitchFamily="18" charset="0"/>
              </a:rPr>
              <a:t>Audit</a:t>
            </a:r>
          </a:p>
        </p:txBody>
      </p:sp>
      <p:sp>
        <p:nvSpPr>
          <p:cNvPr id="11" name="Callout: Up Arrow 10">
            <a:extLst>
              <a:ext uri="{FF2B5EF4-FFF2-40B4-BE49-F238E27FC236}">
                <a16:creationId xmlns:a16="http://schemas.microsoft.com/office/drawing/2014/main" id="{DEF72C4A-2AFB-12EC-1B32-EE69D41C731E}"/>
              </a:ext>
            </a:extLst>
          </p:cNvPr>
          <p:cNvSpPr/>
          <p:nvPr/>
        </p:nvSpPr>
        <p:spPr>
          <a:xfrm>
            <a:off x="2995783" y="2709645"/>
            <a:ext cx="6475388" cy="3120704"/>
          </a:xfrm>
          <a:prstGeom prst="upArrowCallout">
            <a:avLst>
              <a:gd name="adj1" fmla="val 23176"/>
              <a:gd name="adj2" fmla="val 16736"/>
              <a:gd name="adj3" fmla="val 13896"/>
              <a:gd name="adj4" fmla="val 83371"/>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7DDD0B0-1783-6E19-0DF0-657553803AC9}"/>
              </a:ext>
            </a:extLst>
          </p:cNvPr>
          <p:cNvSpPr txBox="1"/>
          <p:nvPr/>
        </p:nvSpPr>
        <p:spPr>
          <a:xfrm>
            <a:off x="5535018" y="2355647"/>
            <a:ext cx="1396922" cy="338554"/>
          </a:xfrm>
          <a:prstGeom prst="rect">
            <a:avLst/>
          </a:prstGeom>
          <a:noFill/>
          <a:ln>
            <a:solidFill>
              <a:srgbClr val="FF0000"/>
            </a:solidFill>
          </a:ln>
        </p:spPr>
        <p:txBody>
          <a:bodyPr wrap="none" rtlCol="0">
            <a:spAutoFit/>
          </a:bodyPr>
          <a:lstStyle/>
          <a:p>
            <a:pPr algn="ctr"/>
            <a:r>
              <a:rPr lang="en-US" sz="1600" dirty="0"/>
              <a:t>OE Audit Data</a:t>
            </a:r>
          </a:p>
        </p:txBody>
      </p:sp>
      <p:sp>
        <p:nvSpPr>
          <p:cNvPr id="22" name="Callout: Up Arrow 21">
            <a:extLst>
              <a:ext uri="{FF2B5EF4-FFF2-40B4-BE49-F238E27FC236}">
                <a16:creationId xmlns:a16="http://schemas.microsoft.com/office/drawing/2014/main" id="{2E3A6663-60E8-D3A0-3E39-96D6226D686A}"/>
              </a:ext>
            </a:extLst>
          </p:cNvPr>
          <p:cNvSpPr/>
          <p:nvPr/>
        </p:nvSpPr>
        <p:spPr>
          <a:xfrm>
            <a:off x="2692400" y="1434518"/>
            <a:ext cx="8542965" cy="812607"/>
          </a:xfrm>
          <a:prstGeom prst="upArrowCallout">
            <a:avLst>
              <a:gd name="adj1" fmla="val 25000"/>
              <a:gd name="adj2" fmla="val 25000"/>
              <a:gd name="adj3" fmla="val 25000"/>
              <a:gd name="adj4" fmla="val 67137"/>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3" name="TextBox 22">
            <a:extLst>
              <a:ext uri="{FF2B5EF4-FFF2-40B4-BE49-F238E27FC236}">
                <a16:creationId xmlns:a16="http://schemas.microsoft.com/office/drawing/2014/main" id="{0F3EC1D4-E566-25DD-D6D0-1498E9354CA8}"/>
              </a:ext>
            </a:extLst>
          </p:cNvPr>
          <p:cNvSpPr txBox="1"/>
          <p:nvPr/>
        </p:nvSpPr>
        <p:spPr>
          <a:xfrm>
            <a:off x="5889507" y="1010925"/>
            <a:ext cx="2084866" cy="369332"/>
          </a:xfrm>
          <a:prstGeom prst="rect">
            <a:avLst/>
          </a:prstGeom>
          <a:noFill/>
          <a:ln>
            <a:solidFill>
              <a:srgbClr val="FF0000"/>
            </a:solidFill>
          </a:ln>
        </p:spPr>
        <p:txBody>
          <a:bodyPr wrap="none" rtlCol="0">
            <a:spAutoFit/>
          </a:bodyPr>
          <a:lstStyle/>
          <a:p>
            <a:r>
              <a:rPr lang="en-US" dirty="0">
                <a:solidFill>
                  <a:srgbClr val="FF0000"/>
                </a:solidFill>
              </a:rPr>
              <a:t>Filter for audit types</a:t>
            </a:r>
          </a:p>
        </p:txBody>
      </p:sp>
      <p:cxnSp>
        <p:nvCxnSpPr>
          <p:cNvPr id="9" name="Connector: Curved 8">
            <a:extLst>
              <a:ext uri="{FF2B5EF4-FFF2-40B4-BE49-F238E27FC236}">
                <a16:creationId xmlns:a16="http://schemas.microsoft.com/office/drawing/2014/main" id="{1C6C05F8-CBAA-B6C8-B200-E554110CD600}"/>
              </a:ext>
            </a:extLst>
          </p:cNvPr>
          <p:cNvCxnSpPr>
            <a:cxnSpLocks/>
            <a:stCxn id="4" idx="0"/>
            <a:endCxn id="12" idx="2"/>
          </p:cNvCxnSpPr>
          <p:nvPr/>
        </p:nvCxnSpPr>
        <p:spPr>
          <a:xfrm rot="5400000" flipH="1" flipV="1">
            <a:off x="9807098" y="3300225"/>
            <a:ext cx="850210" cy="6"/>
          </a:xfrm>
          <a:prstGeom prst="curvedConnector3">
            <a:avLst>
              <a:gd name="adj1" fmla="val 50000"/>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B087524C-6CBF-792A-0CDA-638FE642717A}"/>
              </a:ext>
            </a:extLst>
          </p:cNvPr>
          <p:cNvSpPr txBox="1"/>
          <p:nvPr/>
        </p:nvSpPr>
        <p:spPr>
          <a:xfrm>
            <a:off x="9229047" y="2413458"/>
            <a:ext cx="2006318" cy="461665"/>
          </a:xfrm>
          <a:prstGeom prst="rect">
            <a:avLst/>
          </a:prstGeom>
          <a:noFill/>
          <a:ln>
            <a:solidFill>
              <a:srgbClr val="FF0000"/>
            </a:solidFill>
          </a:ln>
        </p:spPr>
        <p:txBody>
          <a:bodyPr wrap="none" rtlCol="0">
            <a:spAutoFit/>
          </a:bodyPr>
          <a:lstStyle/>
          <a:p>
            <a:pPr algn="ctr"/>
            <a:r>
              <a:rPr lang="en-US" sz="1200" b="1" dirty="0">
                <a:solidFill>
                  <a:srgbClr val="FF0000"/>
                </a:solidFill>
              </a:rPr>
              <a:t>Download Combined Report</a:t>
            </a:r>
          </a:p>
          <a:p>
            <a:pPr algn="ctr"/>
            <a:r>
              <a:rPr lang="en-US" sz="1200" b="1" dirty="0">
                <a:solidFill>
                  <a:srgbClr val="FF0000"/>
                </a:solidFill>
              </a:rPr>
              <a:t>Excel &amp; PDF</a:t>
            </a:r>
          </a:p>
        </p:txBody>
      </p:sp>
      <p:sp>
        <p:nvSpPr>
          <p:cNvPr id="4" name="Rectangle: Rounded Corners 3">
            <a:extLst>
              <a:ext uri="{FF2B5EF4-FFF2-40B4-BE49-F238E27FC236}">
                <a16:creationId xmlns:a16="http://schemas.microsoft.com/office/drawing/2014/main" id="{1E93595E-4C16-127A-236E-566B5E19D45B}"/>
              </a:ext>
            </a:extLst>
          </p:cNvPr>
          <p:cNvSpPr/>
          <p:nvPr/>
        </p:nvSpPr>
        <p:spPr>
          <a:xfrm>
            <a:off x="9550400" y="3725333"/>
            <a:ext cx="1363600" cy="4318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67186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A14FA30-DD38-BD3D-2C5D-AF34518D42E1}"/>
              </a:ext>
            </a:extLst>
          </p:cNvPr>
          <p:cNvSpPr>
            <a:spLocks noGrp="1"/>
          </p:cNvSpPr>
          <p:nvPr>
            <p:ph type="ftr" sz="quarter" idx="11"/>
          </p:nvPr>
        </p:nvSpPr>
        <p:spPr/>
        <p:txBody>
          <a:bodyPr/>
          <a:lstStyle/>
          <a:p>
            <a:r>
              <a:rPr lang="en-US"/>
              <a:t>UNITGLO SOLUTIONS PVT LTD</a:t>
            </a:r>
            <a:endParaRPr lang="en-US" dirty="0"/>
          </a:p>
        </p:txBody>
      </p:sp>
      <p:sp>
        <p:nvSpPr>
          <p:cNvPr id="3" name="TextBox 2">
            <a:extLst>
              <a:ext uri="{FF2B5EF4-FFF2-40B4-BE49-F238E27FC236}">
                <a16:creationId xmlns:a16="http://schemas.microsoft.com/office/drawing/2014/main" id="{944628E3-0F4D-7F17-EC4F-3480BDCB4E32}"/>
              </a:ext>
            </a:extLst>
          </p:cNvPr>
          <p:cNvSpPr txBox="1"/>
          <p:nvPr/>
        </p:nvSpPr>
        <p:spPr>
          <a:xfrm>
            <a:off x="2937426" y="1843950"/>
            <a:ext cx="6317148" cy="3170099"/>
          </a:xfrm>
          <a:prstGeom prst="rect">
            <a:avLst/>
          </a:prstGeom>
          <a:noFill/>
        </p:spPr>
        <p:txBody>
          <a:bodyPr wrap="square" rtlCol="0">
            <a:spAutoFit/>
          </a:bodyPr>
          <a:lstStyle/>
          <a:p>
            <a:pPr algn="ctr"/>
            <a:r>
              <a:rPr lang="en-US" sz="10000" dirty="0" err="1"/>
              <a:t>qHSE</a:t>
            </a:r>
            <a:r>
              <a:rPr lang="en-US" sz="10000" dirty="0"/>
              <a:t> NC Tracker</a:t>
            </a:r>
          </a:p>
        </p:txBody>
      </p:sp>
    </p:spTree>
    <p:extLst>
      <p:ext uri="{BB962C8B-B14F-4D97-AF65-F5344CB8AC3E}">
        <p14:creationId xmlns:p14="http://schemas.microsoft.com/office/powerpoint/2010/main" val="27410100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C5DC2-9D0A-58F6-E713-7763B26E70D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53BD5FB9-A407-41A2-103E-44D2A73B08FC}"/>
              </a:ext>
            </a:extLst>
          </p:cNvPr>
          <p:cNvPicPr>
            <a:picLocks noChangeAspect="1"/>
          </p:cNvPicPr>
          <p:nvPr/>
        </p:nvPicPr>
        <p:blipFill>
          <a:blip r:embed="rId2"/>
          <a:srcRect t="13639"/>
          <a:stretch>
            <a:fillRect/>
          </a:stretch>
        </p:blipFill>
        <p:spPr>
          <a:xfrm>
            <a:off x="888378" y="801988"/>
            <a:ext cx="10541074" cy="5120640"/>
          </a:xfrm>
          <a:prstGeom prst="rect">
            <a:avLst/>
          </a:prstGeom>
        </p:spPr>
      </p:pic>
      <p:sp>
        <p:nvSpPr>
          <p:cNvPr id="13" name="TextBox 12">
            <a:extLst>
              <a:ext uri="{FF2B5EF4-FFF2-40B4-BE49-F238E27FC236}">
                <a16:creationId xmlns:a16="http://schemas.microsoft.com/office/drawing/2014/main" id="{29FF120D-0D84-2519-9A82-0CF6E5B5715F}"/>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HSE NC Tracker(Open State)</a:t>
            </a:r>
          </a:p>
        </p:txBody>
      </p:sp>
      <p:graphicFrame>
        <p:nvGraphicFramePr>
          <p:cNvPr id="6" name="Table 5">
            <a:extLst>
              <a:ext uri="{FF2B5EF4-FFF2-40B4-BE49-F238E27FC236}">
                <a16:creationId xmlns:a16="http://schemas.microsoft.com/office/drawing/2014/main" id="{0B250A4D-538F-71D1-CD94-A2C03E2CF489}"/>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AF840AB4-1349-40D6-09D0-65EA9F545F24}"/>
              </a:ext>
            </a:extLst>
          </p:cNvPr>
          <p:cNvSpPr/>
          <p:nvPr/>
        </p:nvSpPr>
        <p:spPr>
          <a:xfrm>
            <a:off x="914400" y="4116332"/>
            <a:ext cx="1761688" cy="461665"/>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FF00"/>
                </a:solidFill>
              </a:ln>
            </a:endParaRPr>
          </a:p>
        </p:txBody>
      </p:sp>
      <p:sp>
        <p:nvSpPr>
          <p:cNvPr id="10" name="TextBox 9">
            <a:extLst>
              <a:ext uri="{FF2B5EF4-FFF2-40B4-BE49-F238E27FC236}">
                <a16:creationId xmlns:a16="http://schemas.microsoft.com/office/drawing/2014/main" id="{0BA9EED1-B4CC-6556-05B7-15F143A19331}"/>
              </a:ext>
            </a:extLst>
          </p:cNvPr>
          <p:cNvSpPr txBox="1"/>
          <p:nvPr/>
        </p:nvSpPr>
        <p:spPr>
          <a:xfrm>
            <a:off x="58722" y="4054776"/>
            <a:ext cx="829656" cy="584775"/>
          </a:xfrm>
          <a:prstGeom prst="rect">
            <a:avLst/>
          </a:prstGeom>
          <a:noFill/>
          <a:ln>
            <a:solidFill>
              <a:srgbClr val="002060"/>
            </a:solidFill>
          </a:ln>
        </p:spPr>
        <p:txBody>
          <a:bodyPr wrap="square" rtlCol="0">
            <a:spAutoFit/>
          </a:bodyPr>
          <a:lstStyle/>
          <a:p>
            <a:pPr algn="ctr"/>
            <a:r>
              <a:rPr lang="en-US" sz="1600" dirty="0">
                <a:latin typeface="Cambria" panose="02040503050406030204" pitchFamily="18" charset="0"/>
                <a:ea typeface="Cambria" panose="02040503050406030204" pitchFamily="18" charset="0"/>
              </a:rPr>
              <a:t>OE </a:t>
            </a:r>
          </a:p>
          <a:p>
            <a:pPr algn="ctr"/>
            <a:r>
              <a:rPr lang="en-US" sz="1600" dirty="0">
                <a:latin typeface="Cambria" panose="02040503050406030204" pitchFamily="18" charset="0"/>
                <a:ea typeface="Cambria" panose="02040503050406030204" pitchFamily="18" charset="0"/>
              </a:rPr>
              <a:t>Audit</a:t>
            </a:r>
          </a:p>
        </p:txBody>
      </p:sp>
      <p:sp>
        <p:nvSpPr>
          <p:cNvPr id="11" name="Callout: Up Arrow 10">
            <a:extLst>
              <a:ext uri="{FF2B5EF4-FFF2-40B4-BE49-F238E27FC236}">
                <a16:creationId xmlns:a16="http://schemas.microsoft.com/office/drawing/2014/main" id="{DF4E5F26-E2B7-8FFC-0B96-7431B7FC75AB}"/>
              </a:ext>
            </a:extLst>
          </p:cNvPr>
          <p:cNvSpPr/>
          <p:nvPr/>
        </p:nvSpPr>
        <p:spPr>
          <a:xfrm>
            <a:off x="2995783" y="3506597"/>
            <a:ext cx="7968628" cy="2416031"/>
          </a:xfrm>
          <a:prstGeom prst="upArrowCallout">
            <a:avLst>
              <a:gd name="adj1" fmla="val 23176"/>
              <a:gd name="adj2" fmla="val 16736"/>
              <a:gd name="adj3" fmla="val 13896"/>
              <a:gd name="adj4" fmla="val 79063"/>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allout: Up Arrow 21">
            <a:extLst>
              <a:ext uri="{FF2B5EF4-FFF2-40B4-BE49-F238E27FC236}">
                <a16:creationId xmlns:a16="http://schemas.microsoft.com/office/drawing/2014/main" id="{B987793F-AA95-D117-1739-2B88CF30E10A}"/>
              </a:ext>
            </a:extLst>
          </p:cNvPr>
          <p:cNvSpPr/>
          <p:nvPr/>
        </p:nvSpPr>
        <p:spPr>
          <a:xfrm>
            <a:off x="2759978" y="1392573"/>
            <a:ext cx="8466822" cy="1606162"/>
          </a:xfrm>
          <a:prstGeom prst="upArrowCallout">
            <a:avLst>
              <a:gd name="adj1" fmla="val 25000"/>
              <a:gd name="adj2" fmla="val 25000"/>
              <a:gd name="adj3" fmla="val 25000"/>
              <a:gd name="adj4" fmla="val 69054"/>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3" name="TextBox 22">
            <a:extLst>
              <a:ext uri="{FF2B5EF4-FFF2-40B4-BE49-F238E27FC236}">
                <a16:creationId xmlns:a16="http://schemas.microsoft.com/office/drawing/2014/main" id="{D2D98672-D0D1-DC82-1910-434CC9E65F93}"/>
              </a:ext>
            </a:extLst>
          </p:cNvPr>
          <p:cNvSpPr txBox="1"/>
          <p:nvPr/>
        </p:nvSpPr>
        <p:spPr>
          <a:xfrm>
            <a:off x="3481024" y="960307"/>
            <a:ext cx="6871433" cy="461665"/>
          </a:xfrm>
          <a:prstGeom prst="rect">
            <a:avLst/>
          </a:prstGeom>
          <a:noFill/>
          <a:ln>
            <a:solidFill>
              <a:srgbClr val="FF0000"/>
            </a:solidFill>
          </a:ln>
        </p:spPr>
        <p:txBody>
          <a:bodyPr wrap="none" rtlCol="0">
            <a:spAutoFit/>
          </a:bodyPr>
          <a:lstStyle/>
          <a:p>
            <a:pPr algn="ctr"/>
            <a:r>
              <a:rPr lang="en-US" sz="1200" dirty="0">
                <a:solidFill>
                  <a:srgbClr val="FF0000"/>
                </a:solidFill>
              </a:rPr>
              <a:t>Filters for region, cluster, location with NC type options, you can also choose between Open, Under Review, </a:t>
            </a:r>
          </a:p>
          <a:p>
            <a:pPr algn="ctr"/>
            <a:r>
              <a:rPr lang="en-US" sz="1200" dirty="0">
                <a:solidFill>
                  <a:srgbClr val="FF0000"/>
                </a:solidFill>
              </a:rPr>
              <a:t>working and Close NC’s</a:t>
            </a:r>
          </a:p>
        </p:txBody>
      </p:sp>
      <p:sp>
        <p:nvSpPr>
          <p:cNvPr id="4" name="TextBox 3">
            <a:extLst>
              <a:ext uri="{FF2B5EF4-FFF2-40B4-BE49-F238E27FC236}">
                <a16:creationId xmlns:a16="http://schemas.microsoft.com/office/drawing/2014/main" id="{6438A271-7125-6AEE-499F-0D36C15888B4}"/>
              </a:ext>
            </a:extLst>
          </p:cNvPr>
          <p:cNvSpPr txBox="1"/>
          <p:nvPr/>
        </p:nvSpPr>
        <p:spPr>
          <a:xfrm>
            <a:off x="6454761" y="3212903"/>
            <a:ext cx="1050672" cy="276999"/>
          </a:xfrm>
          <a:prstGeom prst="rect">
            <a:avLst/>
          </a:prstGeom>
          <a:noFill/>
          <a:ln>
            <a:solidFill>
              <a:srgbClr val="DA0000"/>
            </a:solidFill>
          </a:ln>
        </p:spPr>
        <p:txBody>
          <a:bodyPr wrap="none" rtlCol="0">
            <a:spAutoFit/>
          </a:bodyPr>
          <a:lstStyle/>
          <a:p>
            <a:pPr algn="ctr"/>
            <a:r>
              <a:rPr lang="en-US" sz="1200" dirty="0">
                <a:solidFill>
                  <a:srgbClr val="DA0000"/>
                </a:solidFill>
              </a:rPr>
              <a:t>List of all NC’s</a:t>
            </a:r>
          </a:p>
        </p:txBody>
      </p:sp>
      <p:sp>
        <p:nvSpPr>
          <p:cNvPr id="5" name="Oval 4">
            <a:extLst>
              <a:ext uri="{FF2B5EF4-FFF2-40B4-BE49-F238E27FC236}">
                <a16:creationId xmlns:a16="http://schemas.microsoft.com/office/drawing/2014/main" id="{485570E6-C1F8-BFF0-2443-60DB0BC3C321}"/>
              </a:ext>
            </a:extLst>
          </p:cNvPr>
          <p:cNvSpPr/>
          <p:nvPr/>
        </p:nvSpPr>
        <p:spPr>
          <a:xfrm>
            <a:off x="3393908" y="4374857"/>
            <a:ext cx="662730" cy="679509"/>
          </a:xfrm>
          <a:prstGeom prst="ellipse">
            <a:avLst/>
          </a:prstGeom>
          <a:noFill/>
          <a:ln>
            <a:solidFill>
              <a:srgbClr val="DA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DE468C3-5D9C-59FF-5ABF-4A74DCD06EFE}"/>
              </a:ext>
            </a:extLst>
          </p:cNvPr>
          <p:cNvSpPr txBox="1"/>
          <p:nvPr/>
        </p:nvSpPr>
        <p:spPr>
          <a:xfrm>
            <a:off x="3055523" y="3179953"/>
            <a:ext cx="2441246" cy="307777"/>
          </a:xfrm>
          <a:prstGeom prst="rect">
            <a:avLst/>
          </a:prstGeom>
          <a:noFill/>
          <a:ln>
            <a:solidFill>
              <a:srgbClr val="FF0000"/>
            </a:solidFill>
          </a:ln>
        </p:spPr>
        <p:txBody>
          <a:bodyPr wrap="none" rtlCol="0">
            <a:spAutoFit/>
          </a:bodyPr>
          <a:lstStyle/>
          <a:p>
            <a:r>
              <a:rPr lang="en-US" sz="1400" dirty="0"/>
              <a:t>Nc current state is shown here </a:t>
            </a:r>
          </a:p>
        </p:txBody>
      </p:sp>
      <p:cxnSp>
        <p:nvCxnSpPr>
          <p:cNvPr id="7" name="Connector: Curved 6">
            <a:extLst>
              <a:ext uri="{FF2B5EF4-FFF2-40B4-BE49-F238E27FC236}">
                <a16:creationId xmlns:a16="http://schemas.microsoft.com/office/drawing/2014/main" id="{726FA9AA-B8C1-0949-B3F4-3D08E5329AFA}"/>
              </a:ext>
            </a:extLst>
          </p:cNvPr>
          <p:cNvCxnSpPr>
            <a:cxnSpLocks/>
            <a:stCxn id="5" idx="0"/>
            <a:endCxn id="16" idx="2"/>
          </p:cNvCxnSpPr>
          <p:nvPr/>
        </p:nvCxnSpPr>
        <p:spPr>
          <a:xfrm rot="5400000" flipH="1" flipV="1">
            <a:off x="3557146" y="3655858"/>
            <a:ext cx="887127" cy="55087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41982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672D5-FE19-22FD-A057-2199A466494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FA5C4A8-C0C7-F612-ADFD-367B5ACA3A1C}"/>
              </a:ext>
            </a:extLst>
          </p:cNvPr>
          <p:cNvPicPr>
            <a:picLocks noChangeAspect="1"/>
          </p:cNvPicPr>
          <p:nvPr/>
        </p:nvPicPr>
        <p:blipFill>
          <a:blip r:embed="rId2"/>
          <a:srcRect t="14002"/>
          <a:stretch>
            <a:fillRect/>
          </a:stretch>
        </p:blipFill>
        <p:spPr>
          <a:xfrm>
            <a:off x="1057984" y="999386"/>
            <a:ext cx="10585640" cy="5120640"/>
          </a:xfrm>
          <a:prstGeom prst="rect">
            <a:avLst/>
          </a:prstGeom>
        </p:spPr>
      </p:pic>
      <p:sp>
        <p:nvSpPr>
          <p:cNvPr id="13" name="TextBox 12">
            <a:extLst>
              <a:ext uri="{FF2B5EF4-FFF2-40B4-BE49-F238E27FC236}">
                <a16:creationId xmlns:a16="http://schemas.microsoft.com/office/drawing/2014/main" id="{EC50A352-BD11-90B6-35D9-9DC88C647CE7}"/>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HSE NC Tracker(Working State)</a:t>
            </a:r>
          </a:p>
        </p:txBody>
      </p:sp>
      <p:graphicFrame>
        <p:nvGraphicFramePr>
          <p:cNvPr id="6" name="Table 5">
            <a:extLst>
              <a:ext uri="{FF2B5EF4-FFF2-40B4-BE49-F238E27FC236}">
                <a16:creationId xmlns:a16="http://schemas.microsoft.com/office/drawing/2014/main" id="{AB0E0FA2-7926-83C3-D952-534DF64D4681}"/>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E66F9671-4FC7-13EC-988D-CB0BB2178FD7}"/>
              </a:ext>
            </a:extLst>
          </p:cNvPr>
          <p:cNvSpPr/>
          <p:nvPr/>
        </p:nvSpPr>
        <p:spPr>
          <a:xfrm>
            <a:off x="939801" y="4311057"/>
            <a:ext cx="1761688" cy="461665"/>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FF00"/>
                </a:solidFill>
              </a:ln>
            </a:endParaRPr>
          </a:p>
        </p:txBody>
      </p:sp>
      <p:sp>
        <p:nvSpPr>
          <p:cNvPr id="10" name="TextBox 9">
            <a:extLst>
              <a:ext uri="{FF2B5EF4-FFF2-40B4-BE49-F238E27FC236}">
                <a16:creationId xmlns:a16="http://schemas.microsoft.com/office/drawing/2014/main" id="{92AA146C-A07E-15F7-BC34-3DC5D650C72B}"/>
              </a:ext>
            </a:extLst>
          </p:cNvPr>
          <p:cNvSpPr txBox="1"/>
          <p:nvPr/>
        </p:nvSpPr>
        <p:spPr>
          <a:xfrm>
            <a:off x="84123" y="4249501"/>
            <a:ext cx="829656" cy="584775"/>
          </a:xfrm>
          <a:prstGeom prst="rect">
            <a:avLst/>
          </a:prstGeom>
          <a:noFill/>
          <a:ln>
            <a:solidFill>
              <a:srgbClr val="002060"/>
            </a:solidFill>
          </a:ln>
        </p:spPr>
        <p:txBody>
          <a:bodyPr wrap="square" rtlCol="0">
            <a:spAutoFit/>
          </a:bodyPr>
          <a:lstStyle/>
          <a:p>
            <a:pPr algn="ctr"/>
            <a:r>
              <a:rPr lang="en-US" sz="1600" dirty="0">
                <a:latin typeface="Cambria" panose="02040503050406030204" pitchFamily="18" charset="0"/>
                <a:ea typeface="Cambria" panose="02040503050406030204" pitchFamily="18" charset="0"/>
              </a:rPr>
              <a:t>OE </a:t>
            </a:r>
          </a:p>
          <a:p>
            <a:pPr algn="ctr"/>
            <a:r>
              <a:rPr lang="en-US" sz="1600" dirty="0">
                <a:latin typeface="Cambria" panose="02040503050406030204" pitchFamily="18" charset="0"/>
                <a:ea typeface="Cambria" panose="02040503050406030204" pitchFamily="18" charset="0"/>
              </a:rPr>
              <a:t>Audit</a:t>
            </a:r>
          </a:p>
        </p:txBody>
      </p:sp>
      <p:sp>
        <p:nvSpPr>
          <p:cNvPr id="11" name="Callout: Up Arrow 10">
            <a:extLst>
              <a:ext uri="{FF2B5EF4-FFF2-40B4-BE49-F238E27FC236}">
                <a16:creationId xmlns:a16="http://schemas.microsoft.com/office/drawing/2014/main" id="{7775E683-B9E1-1421-4CDB-C295D666FB9D}"/>
              </a:ext>
            </a:extLst>
          </p:cNvPr>
          <p:cNvSpPr/>
          <p:nvPr/>
        </p:nvSpPr>
        <p:spPr>
          <a:xfrm>
            <a:off x="2995782" y="3506598"/>
            <a:ext cx="8425749" cy="1791032"/>
          </a:xfrm>
          <a:prstGeom prst="upArrowCallout">
            <a:avLst>
              <a:gd name="adj1" fmla="val 23176"/>
              <a:gd name="adj2" fmla="val 16736"/>
              <a:gd name="adj3" fmla="val 13896"/>
              <a:gd name="adj4" fmla="val 79063"/>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allout: Up Arrow 21">
            <a:extLst>
              <a:ext uri="{FF2B5EF4-FFF2-40B4-BE49-F238E27FC236}">
                <a16:creationId xmlns:a16="http://schemas.microsoft.com/office/drawing/2014/main" id="{6DE41D78-CE90-A0A4-A3CA-B536C342DE16}"/>
              </a:ext>
            </a:extLst>
          </p:cNvPr>
          <p:cNvSpPr/>
          <p:nvPr/>
        </p:nvSpPr>
        <p:spPr>
          <a:xfrm>
            <a:off x="2995783" y="1392573"/>
            <a:ext cx="8425749" cy="1648366"/>
          </a:xfrm>
          <a:prstGeom prst="upArrowCallout">
            <a:avLst>
              <a:gd name="adj1" fmla="val 25000"/>
              <a:gd name="adj2" fmla="val 25000"/>
              <a:gd name="adj3" fmla="val 25000"/>
              <a:gd name="adj4" fmla="val 69054"/>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3" name="TextBox 22">
            <a:extLst>
              <a:ext uri="{FF2B5EF4-FFF2-40B4-BE49-F238E27FC236}">
                <a16:creationId xmlns:a16="http://schemas.microsoft.com/office/drawing/2014/main" id="{035CC0E4-CA7D-557D-9E87-B727E12DBEC8}"/>
              </a:ext>
            </a:extLst>
          </p:cNvPr>
          <p:cNvSpPr txBox="1"/>
          <p:nvPr/>
        </p:nvSpPr>
        <p:spPr>
          <a:xfrm>
            <a:off x="3502569" y="960307"/>
            <a:ext cx="6828343" cy="461665"/>
          </a:xfrm>
          <a:prstGeom prst="rect">
            <a:avLst/>
          </a:prstGeom>
          <a:noFill/>
          <a:ln>
            <a:solidFill>
              <a:srgbClr val="FF0000"/>
            </a:solidFill>
          </a:ln>
        </p:spPr>
        <p:txBody>
          <a:bodyPr wrap="none" rtlCol="0">
            <a:spAutoFit/>
          </a:bodyPr>
          <a:lstStyle/>
          <a:p>
            <a:pPr algn="ctr"/>
            <a:r>
              <a:rPr lang="en-US" sz="1200" dirty="0">
                <a:solidFill>
                  <a:srgbClr val="FF0000"/>
                </a:solidFill>
              </a:rPr>
              <a:t>Filters for region, cluster, location with month options, you can also choose between Open, Under Review, </a:t>
            </a:r>
          </a:p>
          <a:p>
            <a:pPr algn="ctr"/>
            <a:r>
              <a:rPr lang="en-US" sz="1200" dirty="0">
                <a:solidFill>
                  <a:srgbClr val="FF0000"/>
                </a:solidFill>
              </a:rPr>
              <a:t>working , Close NC’s</a:t>
            </a:r>
          </a:p>
        </p:txBody>
      </p:sp>
      <p:sp>
        <p:nvSpPr>
          <p:cNvPr id="4" name="TextBox 3">
            <a:extLst>
              <a:ext uri="{FF2B5EF4-FFF2-40B4-BE49-F238E27FC236}">
                <a16:creationId xmlns:a16="http://schemas.microsoft.com/office/drawing/2014/main" id="{4772AD38-6376-74EF-8730-518B9A324F99}"/>
              </a:ext>
            </a:extLst>
          </p:cNvPr>
          <p:cNvSpPr txBox="1"/>
          <p:nvPr/>
        </p:nvSpPr>
        <p:spPr>
          <a:xfrm>
            <a:off x="6454761" y="3212903"/>
            <a:ext cx="1050672" cy="276999"/>
          </a:xfrm>
          <a:prstGeom prst="rect">
            <a:avLst/>
          </a:prstGeom>
          <a:noFill/>
          <a:ln>
            <a:solidFill>
              <a:srgbClr val="DA0000"/>
            </a:solidFill>
          </a:ln>
        </p:spPr>
        <p:txBody>
          <a:bodyPr wrap="none" rtlCol="0">
            <a:spAutoFit/>
          </a:bodyPr>
          <a:lstStyle/>
          <a:p>
            <a:pPr algn="ctr"/>
            <a:r>
              <a:rPr lang="en-US" sz="1200" dirty="0">
                <a:solidFill>
                  <a:srgbClr val="DA0000"/>
                </a:solidFill>
              </a:rPr>
              <a:t>List of all NC’s</a:t>
            </a:r>
          </a:p>
        </p:txBody>
      </p:sp>
      <p:sp>
        <p:nvSpPr>
          <p:cNvPr id="16" name="TextBox 15">
            <a:extLst>
              <a:ext uri="{FF2B5EF4-FFF2-40B4-BE49-F238E27FC236}">
                <a16:creationId xmlns:a16="http://schemas.microsoft.com/office/drawing/2014/main" id="{B5587D79-F300-B572-5DDB-696EDAD2A824}"/>
              </a:ext>
            </a:extLst>
          </p:cNvPr>
          <p:cNvSpPr txBox="1"/>
          <p:nvPr/>
        </p:nvSpPr>
        <p:spPr>
          <a:xfrm>
            <a:off x="3301056" y="3351403"/>
            <a:ext cx="2441246" cy="307777"/>
          </a:xfrm>
          <a:prstGeom prst="rect">
            <a:avLst/>
          </a:prstGeom>
          <a:noFill/>
          <a:ln>
            <a:solidFill>
              <a:srgbClr val="FF0000"/>
            </a:solidFill>
          </a:ln>
        </p:spPr>
        <p:txBody>
          <a:bodyPr wrap="none" rtlCol="0">
            <a:spAutoFit/>
          </a:bodyPr>
          <a:lstStyle/>
          <a:p>
            <a:r>
              <a:rPr lang="en-US" sz="1400" dirty="0"/>
              <a:t>Nc current state is shown here </a:t>
            </a:r>
          </a:p>
        </p:txBody>
      </p:sp>
      <p:cxnSp>
        <p:nvCxnSpPr>
          <p:cNvPr id="7" name="Connector: Curved 6">
            <a:extLst>
              <a:ext uri="{FF2B5EF4-FFF2-40B4-BE49-F238E27FC236}">
                <a16:creationId xmlns:a16="http://schemas.microsoft.com/office/drawing/2014/main" id="{F861CD8A-2438-6A5E-0DAF-61017ED3F08C}"/>
              </a:ext>
            </a:extLst>
          </p:cNvPr>
          <p:cNvCxnSpPr>
            <a:cxnSpLocks/>
            <a:endCxn id="16" idx="2"/>
          </p:cNvCxnSpPr>
          <p:nvPr/>
        </p:nvCxnSpPr>
        <p:spPr>
          <a:xfrm rot="5400000" flipH="1" flipV="1">
            <a:off x="3954201" y="3743580"/>
            <a:ext cx="651877" cy="483079"/>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Rounded Corners 11">
            <a:extLst>
              <a:ext uri="{FF2B5EF4-FFF2-40B4-BE49-F238E27FC236}">
                <a16:creationId xmlns:a16="http://schemas.microsoft.com/office/drawing/2014/main" id="{5E68AEDA-8137-BBFA-4841-DB9133C6B575}"/>
              </a:ext>
            </a:extLst>
          </p:cNvPr>
          <p:cNvSpPr/>
          <p:nvPr/>
        </p:nvSpPr>
        <p:spPr>
          <a:xfrm>
            <a:off x="3708400" y="4311057"/>
            <a:ext cx="654330" cy="23554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68AF5FB7-4A2F-14DD-9361-1F1778F8FB47}"/>
              </a:ext>
            </a:extLst>
          </p:cNvPr>
          <p:cNvSpPr/>
          <p:nvPr/>
        </p:nvSpPr>
        <p:spPr>
          <a:xfrm>
            <a:off x="3589867" y="4598733"/>
            <a:ext cx="931812" cy="25833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Connector: Curved 16">
            <a:extLst>
              <a:ext uri="{FF2B5EF4-FFF2-40B4-BE49-F238E27FC236}">
                <a16:creationId xmlns:a16="http://schemas.microsoft.com/office/drawing/2014/main" id="{B5E6CF8D-643D-40FA-F765-6C4458159569}"/>
              </a:ext>
            </a:extLst>
          </p:cNvPr>
          <p:cNvCxnSpPr>
            <a:cxnSpLocks/>
            <a:stCxn id="15" idx="2"/>
            <a:endCxn id="24" idx="0"/>
          </p:cNvCxnSpPr>
          <p:nvPr/>
        </p:nvCxnSpPr>
        <p:spPr>
          <a:xfrm rot="16200000" flipH="1">
            <a:off x="4680987" y="4231849"/>
            <a:ext cx="634055" cy="1884483"/>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1C404AA8-4243-1409-166F-5A46D0980A30}"/>
              </a:ext>
            </a:extLst>
          </p:cNvPr>
          <p:cNvSpPr txBox="1"/>
          <p:nvPr/>
        </p:nvSpPr>
        <p:spPr>
          <a:xfrm>
            <a:off x="3114675" y="5491119"/>
            <a:ext cx="5651162" cy="276999"/>
          </a:xfrm>
          <a:prstGeom prst="rect">
            <a:avLst/>
          </a:prstGeom>
          <a:noFill/>
          <a:ln>
            <a:solidFill>
              <a:srgbClr val="FF0000"/>
            </a:solidFill>
          </a:ln>
        </p:spPr>
        <p:txBody>
          <a:bodyPr wrap="none" rtlCol="0">
            <a:spAutoFit/>
          </a:bodyPr>
          <a:lstStyle/>
          <a:p>
            <a:r>
              <a:rPr lang="en-US" sz="1200" dirty="0"/>
              <a:t>Click on first icon to move to submit details for NC or reject to move again to open state</a:t>
            </a:r>
          </a:p>
        </p:txBody>
      </p:sp>
    </p:spTree>
    <p:extLst>
      <p:ext uri="{BB962C8B-B14F-4D97-AF65-F5344CB8AC3E}">
        <p14:creationId xmlns:p14="http://schemas.microsoft.com/office/powerpoint/2010/main" val="3509710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C27A1-509E-BC47-F789-DED4D5173B8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DCCEC45-A1A1-4D9F-3CCE-5EAE04774D93}"/>
              </a:ext>
            </a:extLst>
          </p:cNvPr>
          <p:cNvPicPr>
            <a:picLocks noChangeAspect="1"/>
          </p:cNvPicPr>
          <p:nvPr/>
        </p:nvPicPr>
        <p:blipFill>
          <a:blip r:embed="rId2"/>
          <a:srcRect t="14445"/>
          <a:stretch>
            <a:fillRect/>
          </a:stretch>
        </p:blipFill>
        <p:spPr>
          <a:xfrm>
            <a:off x="775854" y="868680"/>
            <a:ext cx="10640292" cy="5120640"/>
          </a:xfrm>
          <a:prstGeom prst="rect">
            <a:avLst/>
          </a:prstGeom>
        </p:spPr>
      </p:pic>
      <p:sp>
        <p:nvSpPr>
          <p:cNvPr id="13" name="TextBox 12">
            <a:extLst>
              <a:ext uri="{FF2B5EF4-FFF2-40B4-BE49-F238E27FC236}">
                <a16:creationId xmlns:a16="http://schemas.microsoft.com/office/drawing/2014/main" id="{AC40BF53-A7FB-D5FA-A791-FD22B0C8DA7A}"/>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HSE NC Tracker(Submitting Stage)</a:t>
            </a:r>
          </a:p>
        </p:txBody>
      </p:sp>
      <p:graphicFrame>
        <p:nvGraphicFramePr>
          <p:cNvPr id="6" name="Table 5">
            <a:extLst>
              <a:ext uri="{FF2B5EF4-FFF2-40B4-BE49-F238E27FC236}">
                <a16:creationId xmlns:a16="http://schemas.microsoft.com/office/drawing/2014/main" id="{11CE6FC6-01EB-D2EA-A7AC-A0183E4F884A}"/>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46FBBC27-A445-11C3-50A7-CDAE4465EE2B}"/>
              </a:ext>
            </a:extLst>
          </p:cNvPr>
          <p:cNvSpPr/>
          <p:nvPr/>
        </p:nvSpPr>
        <p:spPr>
          <a:xfrm>
            <a:off x="707528" y="3009580"/>
            <a:ext cx="1070472" cy="461665"/>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FF00"/>
                </a:solidFill>
              </a:ln>
            </a:endParaRPr>
          </a:p>
        </p:txBody>
      </p:sp>
      <p:sp>
        <p:nvSpPr>
          <p:cNvPr id="10" name="TextBox 9">
            <a:extLst>
              <a:ext uri="{FF2B5EF4-FFF2-40B4-BE49-F238E27FC236}">
                <a16:creationId xmlns:a16="http://schemas.microsoft.com/office/drawing/2014/main" id="{327CAEFD-EA69-1D35-1159-01B41F1A3BB2}"/>
              </a:ext>
            </a:extLst>
          </p:cNvPr>
          <p:cNvSpPr txBox="1"/>
          <p:nvPr/>
        </p:nvSpPr>
        <p:spPr>
          <a:xfrm>
            <a:off x="0" y="2967962"/>
            <a:ext cx="829656" cy="584775"/>
          </a:xfrm>
          <a:prstGeom prst="rect">
            <a:avLst/>
          </a:prstGeom>
          <a:noFill/>
          <a:ln>
            <a:solidFill>
              <a:srgbClr val="002060"/>
            </a:solidFill>
          </a:ln>
        </p:spPr>
        <p:txBody>
          <a:bodyPr wrap="square" rtlCol="0">
            <a:spAutoFit/>
          </a:bodyPr>
          <a:lstStyle/>
          <a:p>
            <a:pPr algn="ctr"/>
            <a:r>
              <a:rPr lang="en-US" sz="1600" dirty="0">
                <a:latin typeface="Cambria" panose="02040503050406030204" pitchFamily="18" charset="0"/>
                <a:ea typeface="Cambria" panose="02040503050406030204" pitchFamily="18" charset="0"/>
              </a:rPr>
              <a:t>HSE </a:t>
            </a:r>
          </a:p>
          <a:p>
            <a:pPr algn="ctr"/>
            <a:r>
              <a:rPr lang="en-US" sz="1600" dirty="0">
                <a:latin typeface="Cambria" panose="02040503050406030204" pitchFamily="18" charset="0"/>
                <a:ea typeface="Cambria" panose="02040503050406030204" pitchFamily="18" charset="0"/>
              </a:rPr>
              <a:t>Audit</a:t>
            </a:r>
          </a:p>
        </p:txBody>
      </p:sp>
      <p:sp>
        <p:nvSpPr>
          <p:cNvPr id="12" name="Rectangle 11">
            <a:extLst>
              <a:ext uri="{FF2B5EF4-FFF2-40B4-BE49-F238E27FC236}">
                <a16:creationId xmlns:a16="http://schemas.microsoft.com/office/drawing/2014/main" id="{92848569-2261-F297-3555-4E39B746FE06}"/>
              </a:ext>
            </a:extLst>
          </p:cNvPr>
          <p:cNvSpPr/>
          <p:nvPr/>
        </p:nvSpPr>
        <p:spPr>
          <a:xfrm>
            <a:off x="3355596" y="1140903"/>
            <a:ext cx="5738070" cy="4328719"/>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TextBox 13">
            <a:extLst>
              <a:ext uri="{FF2B5EF4-FFF2-40B4-BE49-F238E27FC236}">
                <a16:creationId xmlns:a16="http://schemas.microsoft.com/office/drawing/2014/main" id="{4926B914-1070-7965-FE5B-2C157F805967}"/>
              </a:ext>
            </a:extLst>
          </p:cNvPr>
          <p:cNvSpPr txBox="1"/>
          <p:nvPr/>
        </p:nvSpPr>
        <p:spPr>
          <a:xfrm>
            <a:off x="9666800" y="2785040"/>
            <a:ext cx="2145972" cy="1477328"/>
          </a:xfrm>
          <a:prstGeom prst="rect">
            <a:avLst/>
          </a:prstGeom>
          <a:solidFill>
            <a:srgbClr val="FFFF00"/>
          </a:solidFill>
          <a:ln>
            <a:solidFill>
              <a:srgbClr val="FF0000"/>
            </a:solidFill>
          </a:ln>
        </p:spPr>
        <p:txBody>
          <a:bodyPr wrap="none" rtlCol="0">
            <a:spAutoFit/>
          </a:bodyPr>
          <a:lstStyle/>
          <a:p>
            <a:r>
              <a:rPr lang="en-US" dirty="0"/>
              <a:t>All the necessary </a:t>
            </a:r>
          </a:p>
          <a:p>
            <a:r>
              <a:rPr lang="en-US" dirty="0"/>
              <a:t>Data is shown here</a:t>
            </a:r>
          </a:p>
          <a:p>
            <a:r>
              <a:rPr lang="en-US" dirty="0"/>
              <a:t>There is an option</a:t>
            </a:r>
          </a:p>
          <a:p>
            <a:r>
              <a:rPr lang="en-US" dirty="0"/>
              <a:t>At bottom to upload </a:t>
            </a:r>
          </a:p>
          <a:p>
            <a:r>
              <a:rPr lang="en-US" dirty="0"/>
              <a:t>photos</a:t>
            </a:r>
          </a:p>
        </p:txBody>
      </p:sp>
      <p:sp>
        <p:nvSpPr>
          <p:cNvPr id="15" name="Arrow: Right 14">
            <a:extLst>
              <a:ext uri="{FF2B5EF4-FFF2-40B4-BE49-F238E27FC236}">
                <a16:creationId xmlns:a16="http://schemas.microsoft.com/office/drawing/2014/main" id="{C46618FF-3FFA-07F1-7F39-53BADD75DDEB}"/>
              </a:ext>
            </a:extLst>
          </p:cNvPr>
          <p:cNvSpPr/>
          <p:nvPr/>
        </p:nvSpPr>
        <p:spPr>
          <a:xfrm>
            <a:off x="9093666" y="3305262"/>
            <a:ext cx="562062" cy="494951"/>
          </a:xfrm>
          <a:prstGeom prst="rightArrow">
            <a:avLst/>
          </a:prstGeom>
          <a:solidFill>
            <a:srgbClr val="FFFF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allout: Down Arrow 16">
            <a:extLst>
              <a:ext uri="{FF2B5EF4-FFF2-40B4-BE49-F238E27FC236}">
                <a16:creationId xmlns:a16="http://schemas.microsoft.com/office/drawing/2014/main" id="{A6BF14BB-97A2-70C5-6EA0-9F0F863B1CF5}"/>
              </a:ext>
            </a:extLst>
          </p:cNvPr>
          <p:cNvSpPr/>
          <p:nvPr/>
        </p:nvSpPr>
        <p:spPr>
          <a:xfrm>
            <a:off x="6155267" y="5647267"/>
            <a:ext cx="2827866" cy="459918"/>
          </a:xfrm>
          <a:prstGeom prst="downArrowCallou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A104CF58-83A3-8C53-D68C-AFC40A3D4146}"/>
              </a:ext>
            </a:extLst>
          </p:cNvPr>
          <p:cNvSpPr txBox="1"/>
          <p:nvPr/>
        </p:nvSpPr>
        <p:spPr>
          <a:xfrm>
            <a:off x="5440813" y="6038721"/>
            <a:ext cx="4252511" cy="307777"/>
          </a:xfrm>
          <a:prstGeom prst="rect">
            <a:avLst/>
          </a:prstGeom>
          <a:noFill/>
          <a:ln>
            <a:solidFill>
              <a:srgbClr val="FF0000"/>
            </a:solidFill>
          </a:ln>
        </p:spPr>
        <p:txBody>
          <a:bodyPr wrap="none" rtlCol="0">
            <a:spAutoFit/>
          </a:bodyPr>
          <a:lstStyle/>
          <a:p>
            <a:r>
              <a:rPr lang="en-US" sz="1400" dirty="0"/>
              <a:t>Option to discard, Save as Draft and Submit for Review</a:t>
            </a:r>
          </a:p>
        </p:txBody>
      </p:sp>
    </p:spTree>
    <p:extLst>
      <p:ext uri="{BB962C8B-B14F-4D97-AF65-F5344CB8AC3E}">
        <p14:creationId xmlns:p14="http://schemas.microsoft.com/office/powerpoint/2010/main" val="1177275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F743C-D627-E8E3-B672-956AEACB9CC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4ABADA3-D1B2-9E23-A6F0-6302BDF95378}"/>
              </a:ext>
            </a:extLst>
          </p:cNvPr>
          <p:cNvPicPr>
            <a:picLocks noChangeAspect="1"/>
          </p:cNvPicPr>
          <p:nvPr/>
        </p:nvPicPr>
        <p:blipFill>
          <a:blip r:embed="rId2"/>
          <a:srcRect t="14002"/>
          <a:stretch>
            <a:fillRect/>
          </a:stretch>
        </p:blipFill>
        <p:spPr>
          <a:xfrm>
            <a:off x="1388537" y="868680"/>
            <a:ext cx="10585640" cy="5120640"/>
          </a:xfrm>
          <a:prstGeom prst="rect">
            <a:avLst/>
          </a:prstGeom>
        </p:spPr>
      </p:pic>
      <p:sp>
        <p:nvSpPr>
          <p:cNvPr id="13" name="TextBox 12">
            <a:extLst>
              <a:ext uri="{FF2B5EF4-FFF2-40B4-BE49-F238E27FC236}">
                <a16:creationId xmlns:a16="http://schemas.microsoft.com/office/drawing/2014/main" id="{FB2B6427-0D6A-6724-A3F6-5D4FE5656162}"/>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HSE NC Tracker(Review State)</a:t>
            </a:r>
          </a:p>
        </p:txBody>
      </p:sp>
      <p:graphicFrame>
        <p:nvGraphicFramePr>
          <p:cNvPr id="6" name="Table 5">
            <a:extLst>
              <a:ext uri="{FF2B5EF4-FFF2-40B4-BE49-F238E27FC236}">
                <a16:creationId xmlns:a16="http://schemas.microsoft.com/office/drawing/2014/main" id="{380C1203-8C82-9589-6A25-60B16772E8E5}"/>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11" name="Callout: Up Arrow 10">
            <a:extLst>
              <a:ext uri="{FF2B5EF4-FFF2-40B4-BE49-F238E27FC236}">
                <a16:creationId xmlns:a16="http://schemas.microsoft.com/office/drawing/2014/main" id="{24C7937F-93EB-D3A3-B6D7-B9798F718991}"/>
              </a:ext>
            </a:extLst>
          </p:cNvPr>
          <p:cNvSpPr/>
          <p:nvPr/>
        </p:nvSpPr>
        <p:spPr>
          <a:xfrm>
            <a:off x="2995782" y="3506598"/>
            <a:ext cx="8425749" cy="1791032"/>
          </a:xfrm>
          <a:prstGeom prst="upArrowCallout">
            <a:avLst>
              <a:gd name="adj1" fmla="val 23176"/>
              <a:gd name="adj2" fmla="val 16736"/>
              <a:gd name="adj3" fmla="val 13896"/>
              <a:gd name="adj4" fmla="val 79063"/>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allout: Up Arrow 21">
            <a:extLst>
              <a:ext uri="{FF2B5EF4-FFF2-40B4-BE49-F238E27FC236}">
                <a16:creationId xmlns:a16="http://schemas.microsoft.com/office/drawing/2014/main" id="{8B03A7A8-F7B6-116B-3D5C-67825E5A913B}"/>
              </a:ext>
            </a:extLst>
          </p:cNvPr>
          <p:cNvSpPr/>
          <p:nvPr/>
        </p:nvSpPr>
        <p:spPr>
          <a:xfrm>
            <a:off x="2446867" y="1392573"/>
            <a:ext cx="8974665" cy="1648366"/>
          </a:xfrm>
          <a:prstGeom prst="upArrowCallout">
            <a:avLst>
              <a:gd name="adj1" fmla="val 25000"/>
              <a:gd name="adj2" fmla="val 25000"/>
              <a:gd name="adj3" fmla="val 25000"/>
              <a:gd name="adj4" fmla="val 69054"/>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3" name="TextBox 22">
            <a:extLst>
              <a:ext uri="{FF2B5EF4-FFF2-40B4-BE49-F238E27FC236}">
                <a16:creationId xmlns:a16="http://schemas.microsoft.com/office/drawing/2014/main" id="{56B07D1A-D230-C29D-D9BD-DB53A227394F}"/>
              </a:ext>
            </a:extLst>
          </p:cNvPr>
          <p:cNvSpPr txBox="1"/>
          <p:nvPr/>
        </p:nvSpPr>
        <p:spPr>
          <a:xfrm>
            <a:off x="3502569" y="960307"/>
            <a:ext cx="6828343" cy="461665"/>
          </a:xfrm>
          <a:prstGeom prst="rect">
            <a:avLst/>
          </a:prstGeom>
          <a:noFill/>
          <a:ln>
            <a:solidFill>
              <a:srgbClr val="FF0000"/>
            </a:solidFill>
          </a:ln>
        </p:spPr>
        <p:txBody>
          <a:bodyPr wrap="none" rtlCol="0">
            <a:spAutoFit/>
          </a:bodyPr>
          <a:lstStyle/>
          <a:p>
            <a:pPr algn="ctr"/>
            <a:r>
              <a:rPr lang="en-US" sz="1200" dirty="0">
                <a:solidFill>
                  <a:srgbClr val="FF0000"/>
                </a:solidFill>
              </a:rPr>
              <a:t>Filters for region, cluster, location with month options, you can also choose between Open, Under Review, </a:t>
            </a:r>
          </a:p>
          <a:p>
            <a:pPr algn="ctr"/>
            <a:r>
              <a:rPr lang="en-US" sz="1200" dirty="0">
                <a:solidFill>
                  <a:srgbClr val="FF0000"/>
                </a:solidFill>
              </a:rPr>
              <a:t>working , Close NC’s</a:t>
            </a:r>
          </a:p>
        </p:txBody>
      </p:sp>
      <p:sp>
        <p:nvSpPr>
          <p:cNvPr id="4" name="TextBox 3">
            <a:extLst>
              <a:ext uri="{FF2B5EF4-FFF2-40B4-BE49-F238E27FC236}">
                <a16:creationId xmlns:a16="http://schemas.microsoft.com/office/drawing/2014/main" id="{67C162DF-4545-7F69-F7D2-75A6C39CDDB8}"/>
              </a:ext>
            </a:extLst>
          </p:cNvPr>
          <p:cNvSpPr txBox="1"/>
          <p:nvPr/>
        </p:nvSpPr>
        <p:spPr>
          <a:xfrm>
            <a:off x="6454761" y="3212903"/>
            <a:ext cx="1050672" cy="276999"/>
          </a:xfrm>
          <a:prstGeom prst="rect">
            <a:avLst/>
          </a:prstGeom>
          <a:noFill/>
          <a:ln>
            <a:solidFill>
              <a:srgbClr val="DA0000"/>
            </a:solidFill>
          </a:ln>
        </p:spPr>
        <p:txBody>
          <a:bodyPr wrap="none" rtlCol="0">
            <a:spAutoFit/>
          </a:bodyPr>
          <a:lstStyle/>
          <a:p>
            <a:pPr algn="ctr"/>
            <a:r>
              <a:rPr lang="en-US" sz="1200" dirty="0">
                <a:solidFill>
                  <a:srgbClr val="DA0000"/>
                </a:solidFill>
              </a:rPr>
              <a:t>List of all NC’s</a:t>
            </a:r>
          </a:p>
        </p:txBody>
      </p:sp>
      <p:sp>
        <p:nvSpPr>
          <p:cNvPr id="16" name="TextBox 15">
            <a:extLst>
              <a:ext uri="{FF2B5EF4-FFF2-40B4-BE49-F238E27FC236}">
                <a16:creationId xmlns:a16="http://schemas.microsoft.com/office/drawing/2014/main" id="{DD48F726-D799-F187-5317-AFAC45504378}"/>
              </a:ext>
            </a:extLst>
          </p:cNvPr>
          <p:cNvSpPr txBox="1"/>
          <p:nvPr/>
        </p:nvSpPr>
        <p:spPr>
          <a:xfrm>
            <a:off x="3301056" y="3351403"/>
            <a:ext cx="2441246" cy="307777"/>
          </a:xfrm>
          <a:prstGeom prst="rect">
            <a:avLst/>
          </a:prstGeom>
          <a:noFill/>
          <a:ln>
            <a:solidFill>
              <a:srgbClr val="FF0000"/>
            </a:solidFill>
          </a:ln>
        </p:spPr>
        <p:txBody>
          <a:bodyPr wrap="none" rtlCol="0">
            <a:spAutoFit/>
          </a:bodyPr>
          <a:lstStyle/>
          <a:p>
            <a:r>
              <a:rPr lang="en-US" sz="1400" dirty="0"/>
              <a:t>Nc current state is shown here </a:t>
            </a:r>
          </a:p>
        </p:txBody>
      </p:sp>
      <p:cxnSp>
        <p:nvCxnSpPr>
          <p:cNvPr id="7" name="Connector: Curved 6">
            <a:extLst>
              <a:ext uri="{FF2B5EF4-FFF2-40B4-BE49-F238E27FC236}">
                <a16:creationId xmlns:a16="http://schemas.microsoft.com/office/drawing/2014/main" id="{940B01AD-1FDB-6F6C-AFD6-0B1B1C503AD6}"/>
              </a:ext>
            </a:extLst>
          </p:cNvPr>
          <p:cNvCxnSpPr>
            <a:cxnSpLocks/>
            <a:stCxn id="12" idx="0"/>
            <a:endCxn id="16" idx="2"/>
          </p:cNvCxnSpPr>
          <p:nvPr/>
        </p:nvCxnSpPr>
        <p:spPr>
          <a:xfrm rot="5400000" flipH="1" flipV="1">
            <a:off x="3713744" y="3433463"/>
            <a:ext cx="582218" cy="1033652"/>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Rounded Corners 11">
            <a:extLst>
              <a:ext uri="{FF2B5EF4-FFF2-40B4-BE49-F238E27FC236}">
                <a16:creationId xmlns:a16="http://schemas.microsoft.com/office/drawing/2014/main" id="{9CEEE6C8-8F98-74F4-7CB4-A495A7DC98A1}"/>
              </a:ext>
            </a:extLst>
          </p:cNvPr>
          <p:cNvSpPr/>
          <p:nvPr/>
        </p:nvSpPr>
        <p:spPr>
          <a:xfrm>
            <a:off x="3022121" y="4241398"/>
            <a:ext cx="931812" cy="17826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780D8326-05DD-7DA1-B53E-29A15AFD764A}"/>
              </a:ext>
            </a:extLst>
          </p:cNvPr>
          <p:cNvSpPr/>
          <p:nvPr/>
        </p:nvSpPr>
        <p:spPr>
          <a:xfrm>
            <a:off x="3022121" y="4440376"/>
            <a:ext cx="931812" cy="25833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Connector: Curved 16">
            <a:extLst>
              <a:ext uri="{FF2B5EF4-FFF2-40B4-BE49-F238E27FC236}">
                <a16:creationId xmlns:a16="http://schemas.microsoft.com/office/drawing/2014/main" id="{57F0CACD-2D80-28BE-1404-C11B717A13BC}"/>
              </a:ext>
            </a:extLst>
          </p:cNvPr>
          <p:cNvCxnSpPr>
            <a:cxnSpLocks/>
            <a:stCxn id="15" idx="2"/>
            <a:endCxn id="24" idx="0"/>
          </p:cNvCxnSpPr>
          <p:nvPr/>
        </p:nvCxnSpPr>
        <p:spPr>
          <a:xfrm rot="16200000" flipH="1">
            <a:off x="4766576" y="3420157"/>
            <a:ext cx="961097" cy="3518195"/>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DD09C6D-501B-71FA-46F3-DD60C1E069A1}"/>
              </a:ext>
            </a:extLst>
          </p:cNvPr>
          <p:cNvSpPr txBox="1"/>
          <p:nvPr/>
        </p:nvSpPr>
        <p:spPr>
          <a:xfrm>
            <a:off x="3114675" y="5659804"/>
            <a:ext cx="7783093" cy="461665"/>
          </a:xfrm>
          <a:prstGeom prst="rect">
            <a:avLst/>
          </a:prstGeom>
          <a:noFill/>
          <a:ln>
            <a:solidFill>
              <a:srgbClr val="FF0000"/>
            </a:solidFill>
          </a:ln>
        </p:spPr>
        <p:txBody>
          <a:bodyPr wrap="none" rtlCol="0">
            <a:spAutoFit/>
          </a:bodyPr>
          <a:lstStyle/>
          <a:p>
            <a:r>
              <a:rPr lang="en-US" sz="1200" dirty="0"/>
              <a:t>Click on first icon to move close the point (If under cluster review then will go to Auditor review instead of close)for NC or </a:t>
            </a:r>
          </a:p>
          <a:p>
            <a:r>
              <a:rPr lang="en-US" sz="1200" dirty="0"/>
              <a:t>reject to move again to open state</a:t>
            </a:r>
          </a:p>
        </p:txBody>
      </p:sp>
    </p:spTree>
    <p:extLst>
      <p:ext uri="{BB962C8B-B14F-4D97-AF65-F5344CB8AC3E}">
        <p14:creationId xmlns:p14="http://schemas.microsoft.com/office/powerpoint/2010/main" val="10939823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58288ED-528B-9F4B-63D4-D493A571E294}"/>
              </a:ext>
            </a:extLst>
          </p:cNvPr>
          <p:cNvSpPr>
            <a:spLocks noGrp="1"/>
          </p:cNvSpPr>
          <p:nvPr>
            <p:ph type="ftr" sz="quarter" idx="11"/>
          </p:nvPr>
        </p:nvSpPr>
        <p:spPr/>
        <p:txBody>
          <a:bodyPr/>
          <a:lstStyle/>
          <a:p>
            <a:r>
              <a:rPr lang="en-US"/>
              <a:t>UNITGLO SOLUTIONS PVT LTD</a:t>
            </a:r>
            <a:endParaRPr lang="en-US" dirty="0"/>
          </a:p>
        </p:txBody>
      </p:sp>
      <p:sp>
        <p:nvSpPr>
          <p:cNvPr id="3" name="TextBox 2">
            <a:extLst>
              <a:ext uri="{FF2B5EF4-FFF2-40B4-BE49-F238E27FC236}">
                <a16:creationId xmlns:a16="http://schemas.microsoft.com/office/drawing/2014/main" id="{3CF78798-A629-BC12-A758-50F31A039B4E}"/>
              </a:ext>
            </a:extLst>
          </p:cNvPr>
          <p:cNvSpPr txBox="1"/>
          <p:nvPr/>
        </p:nvSpPr>
        <p:spPr>
          <a:xfrm>
            <a:off x="3529585" y="1843950"/>
            <a:ext cx="5132829" cy="3170099"/>
          </a:xfrm>
          <a:prstGeom prst="rect">
            <a:avLst/>
          </a:prstGeom>
          <a:noFill/>
        </p:spPr>
        <p:txBody>
          <a:bodyPr wrap="square" rtlCol="0">
            <a:spAutoFit/>
          </a:bodyPr>
          <a:lstStyle/>
          <a:p>
            <a:pPr algn="ctr"/>
            <a:r>
              <a:rPr lang="en-US" sz="10000" dirty="0"/>
              <a:t>GEMBA </a:t>
            </a:r>
          </a:p>
          <a:p>
            <a:pPr algn="ctr"/>
            <a:r>
              <a:rPr lang="en-US" sz="10000" dirty="0"/>
              <a:t>Screens</a:t>
            </a:r>
          </a:p>
        </p:txBody>
      </p:sp>
    </p:spTree>
    <p:extLst>
      <p:ext uri="{BB962C8B-B14F-4D97-AF65-F5344CB8AC3E}">
        <p14:creationId xmlns:p14="http://schemas.microsoft.com/office/powerpoint/2010/main" val="17822980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79219-DAA6-3307-255B-DC0926692A38}"/>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E86C51A8-967D-CE9C-C4D7-E47E0292518D}"/>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HSE Gemba Dashboard I </a:t>
            </a:r>
          </a:p>
        </p:txBody>
      </p:sp>
      <p:graphicFrame>
        <p:nvGraphicFramePr>
          <p:cNvPr id="6" name="Table 5">
            <a:extLst>
              <a:ext uri="{FF2B5EF4-FFF2-40B4-BE49-F238E27FC236}">
                <a16:creationId xmlns:a16="http://schemas.microsoft.com/office/drawing/2014/main" id="{4A828C08-A4D4-1952-CEB5-BCDAA3E59035}"/>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pic>
        <p:nvPicPr>
          <p:cNvPr id="3" name="Picture 2">
            <a:extLst>
              <a:ext uri="{FF2B5EF4-FFF2-40B4-BE49-F238E27FC236}">
                <a16:creationId xmlns:a16="http://schemas.microsoft.com/office/drawing/2014/main" id="{42964030-D85C-0A50-B7D1-657DB8876383}"/>
              </a:ext>
            </a:extLst>
          </p:cNvPr>
          <p:cNvPicPr>
            <a:picLocks noChangeAspect="1"/>
          </p:cNvPicPr>
          <p:nvPr/>
        </p:nvPicPr>
        <p:blipFill>
          <a:blip r:embed="rId2"/>
          <a:srcRect t="14321"/>
          <a:stretch>
            <a:fillRect/>
          </a:stretch>
        </p:blipFill>
        <p:spPr>
          <a:xfrm>
            <a:off x="783519" y="868680"/>
            <a:ext cx="10624962" cy="5120640"/>
          </a:xfrm>
          <a:prstGeom prst="rect">
            <a:avLst/>
          </a:prstGeom>
        </p:spPr>
      </p:pic>
      <p:sp>
        <p:nvSpPr>
          <p:cNvPr id="8" name="Arrow: Left 7">
            <a:extLst>
              <a:ext uri="{FF2B5EF4-FFF2-40B4-BE49-F238E27FC236}">
                <a16:creationId xmlns:a16="http://schemas.microsoft.com/office/drawing/2014/main" id="{8C8EA293-30C7-E787-7F6C-BDE757E5A026}"/>
              </a:ext>
            </a:extLst>
          </p:cNvPr>
          <p:cNvSpPr/>
          <p:nvPr/>
        </p:nvSpPr>
        <p:spPr>
          <a:xfrm>
            <a:off x="783519" y="2760133"/>
            <a:ext cx="1654881" cy="499534"/>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04C8B3C-59E1-2038-942F-BAA0CE1F3EB0}"/>
              </a:ext>
            </a:extLst>
          </p:cNvPr>
          <p:cNvSpPr txBox="1"/>
          <p:nvPr/>
        </p:nvSpPr>
        <p:spPr>
          <a:xfrm>
            <a:off x="0" y="2756188"/>
            <a:ext cx="860620" cy="461665"/>
          </a:xfrm>
          <a:prstGeom prst="rect">
            <a:avLst/>
          </a:prstGeom>
          <a:noFill/>
          <a:ln>
            <a:solidFill>
              <a:srgbClr val="FF0000"/>
            </a:solidFill>
          </a:ln>
        </p:spPr>
        <p:txBody>
          <a:bodyPr wrap="none" rtlCol="0">
            <a:spAutoFit/>
          </a:bodyPr>
          <a:lstStyle/>
          <a:p>
            <a:pPr algn="ctr"/>
            <a:r>
              <a:rPr lang="en-US" sz="1200" dirty="0"/>
              <a:t>Gemba </a:t>
            </a:r>
          </a:p>
          <a:p>
            <a:pPr algn="ctr"/>
            <a:r>
              <a:rPr lang="en-US" sz="1200" dirty="0"/>
              <a:t>Dashboard</a:t>
            </a:r>
          </a:p>
        </p:txBody>
      </p:sp>
      <p:sp>
        <p:nvSpPr>
          <p:cNvPr id="10" name="Callout: Up Arrow 9">
            <a:extLst>
              <a:ext uri="{FF2B5EF4-FFF2-40B4-BE49-F238E27FC236}">
                <a16:creationId xmlns:a16="http://schemas.microsoft.com/office/drawing/2014/main" id="{71022C44-F60E-FDF8-25A3-6B39D5C3A1D9}"/>
              </a:ext>
            </a:extLst>
          </p:cNvPr>
          <p:cNvSpPr/>
          <p:nvPr/>
        </p:nvSpPr>
        <p:spPr>
          <a:xfrm>
            <a:off x="2633133" y="1811867"/>
            <a:ext cx="8458200" cy="855133"/>
          </a:xfrm>
          <a:prstGeom prst="upArrowCallou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1E531475-3D0E-CBC7-A2CF-8B2083231D79}"/>
              </a:ext>
            </a:extLst>
          </p:cNvPr>
          <p:cNvSpPr/>
          <p:nvPr/>
        </p:nvSpPr>
        <p:spPr>
          <a:xfrm>
            <a:off x="2819400" y="2506133"/>
            <a:ext cx="8271933" cy="1104053"/>
          </a:xfrm>
          <a:prstGeom prst="righ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0405D1A-CAD4-BC13-5D4D-37A2A323F42A}"/>
              </a:ext>
            </a:extLst>
          </p:cNvPr>
          <p:cNvSpPr txBox="1"/>
          <p:nvPr/>
        </p:nvSpPr>
        <p:spPr>
          <a:xfrm>
            <a:off x="10233302" y="2837966"/>
            <a:ext cx="781752" cy="461665"/>
          </a:xfrm>
          <a:prstGeom prst="rect">
            <a:avLst/>
          </a:prstGeom>
          <a:noFill/>
          <a:ln>
            <a:solidFill>
              <a:srgbClr val="FF0000"/>
            </a:solidFill>
          </a:ln>
        </p:spPr>
        <p:txBody>
          <a:bodyPr wrap="none" rtlCol="0">
            <a:spAutoFit/>
          </a:bodyPr>
          <a:lstStyle/>
          <a:p>
            <a:pPr algn="ctr"/>
            <a:r>
              <a:rPr lang="en-US" sz="1200" dirty="0"/>
              <a:t>Overall</a:t>
            </a:r>
          </a:p>
          <a:p>
            <a:pPr algn="ctr"/>
            <a:r>
              <a:rPr lang="en-US" sz="1200" dirty="0"/>
              <a:t>Summery</a:t>
            </a:r>
          </a:p>
        </p:txBody>
      </p:sp>
      <p:sp>
        <p:nvSpPr>
          <p:cNvPr id="21" name="TextBox 20">
            <a:extLst>
              <a:ext uri="{FF2B5EF4-FFF2-40B4-BE49-F238E27FC236}">
                <a16:creationId xmlns:a16="http://schemas.microsoft.com/office/drawing/2014/main" id="{192F0A9C-7734-8D00-670E-130CF1410376}"/>
              </a:ext>
            </a:extLst>
          </p:cNvPr>
          <p:cNvSpPr txBox="1"/>
          <p:nvPr/>
        </p:nvSpPr>
        <p:spPr>
          <a:xfrm>
            <a:off x="2895600" y="4051356"/>
            <a:ext cx="2665538" cy="276999"/>
          </a:xfrm>
          <a:prstGeom prst="rect">
            <a:avLst/>
          </a:prstGeom>
          <a:noFill/>
          <a:ln>
            <a:solidFill>
              <a:srgbClr val="FF0000"/>
            </a:solidFill>
          </a:ln>
        </p:spPr>
        <p:txBody>
          <a:bodyPr wrap="none" rtlCol="0">
            <a:spAutoFit/>
          </a:bodyPr>
          <a:lstStyle/>
          <a:p>
            <a:r>
              <a:rPr lang="en-US" sz="1200" dirty="0"/>
              <a:t>Open vs close Status with export option</a:t>
            </a:r>
          </a:p>
        </p:txBody>
      </p:sp>
      <p:sp>
        <p:nvSpPr>
          <p:cNvPr id="25" name="TextBox 24">
            <a:extLst>
              <a:ext uri="{FF2B5EF4-FFF2-40B4-BE49-F238E27FC236}">
                <a16:creationId xmlns:a16="http://schemas.microsoft.com/office/drawing/2014/main" id="{5FE0C018-50A0-03ED-8FBA-84ABB0E640C7}"/>
              </a:ext>
            </a:extLst>
          </p:cNvPr>
          <p:cNvSpPr txBox="1"/>
          <p:nvPr/>
        </p:nvSpPr>
        <p:spPr>
          <a:xfrm>
            <a:off x="8425795" y="3869183"/>
            <a:ext cx="2910284" cy="276999"/>
          </a:xfrm>
          <a:prstGeom prst="rect">
            <a:avLst/>
          </a:prstGeom>
          <a:noFill/>
          <a:ln>
            <a:solidFill>
              <a:srgbClr val="FF0000"/>
            </a:solidFill>
          </a:ln>
        </p:spPr>
        <p:txBody>
          <a:bodyPr wrap="none" rtlCol="0">
            <a:spAutoFit/>
          </a:bodyPr>
          <a:lstStyle/>
          <a:p>
            <a:r>
              <a:rPr lang="en-US" sz="1200" dirty="0"/>
              <a:t>NC vs Recommendation with export option</a:t>
            </a:r>
          </a:p>
        </p:txBody>
      </p:sp>
    </p:spTree>
    <p:extLst>
      <p:ext uri="{BB962C8B-B14F-4D97-AF65-F5344CB8AC3E}">
        <p14:creationId xmlns:p14="http://schemas.microsoft.com/office/powerpoint/2010/main" val="35381046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5833D-F3DB-A5B7-CB1B-B7B22CD4EC0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0C42CDF-D0D5-CCF1-2B6F-7577E5DCADFD}"/>
              </a:ext>
            </a:extLst>
          </p:cNvPr>
          <p:cNvPicPr>
            <a:picLocks noChangeAspect="1"/>
          </p:cNvPicPr>
          <p:nvPr/>
        </p:nvPicPr>
        <p:blipFill>
          <a:blip r:embed="rId2"/>
          <a:srcRect t="14074"/>
          <a:stretch>
            <a:fillRect/>
          </a:stretch>
        </p:blipFill>
        <p:spPr>
          <a:xfrm>
            <a:off x="837771" y="868680"/>
            <a:ext cx="10594429" cy="5120640"/>
          </a:xfrm>
          <a:prstGeom prst="rect">
            <a:avLst/>
          </a:prstGeom>
        </p:spPr>
      </p:pic>
      <p:sp>
        <p:nvSpPr>
          <p:cNvPr id="13" name="TextBox 12">
            <a:extLst>
              <a:ext uri="{FF2B5EF4-FFF2-40B4-BE49-F238E27FC236}">
                <a16:creationId xmlns:a16="http://schemas.microsoft.com/office/drawing/2014/main" id="{AA3412FD-EB45-14F3-EC9B-8EBFA3EFA58B}"/>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HSE Gemba Dashboard II </a:t>
            </a:r>
          </a:p>
        </p:txBody>
      </p:sp>
      <p:graphicFrame>
        <p:nvGraphicFramePr>
          <p:cNvPr id="6" name="Table 5">
            <a:extLst>
              <a:ext uri="{FF2B5EF4-FFF2-40B4-BE49-F238E27FC236}">
                <a16:creationId xmlns:a16="http://schemas.microsoft.com/office/drawing/2014/main" id="{03102443-C9C5-5C7F-807D-D0143F0FC249}"/>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82CBB37F-26F8-00E1-5CAE-985669591F91}"/>
              </a:ext>
            </a:extLst>
          </p:cNvPr>
          <p:cNvSpPr/>
          <p:nvPr/>
        </p:nvSpPr>
        <p:spPr>
          <a:xfrm>
            <a:off x="783519" y="2760133"/>
            <a:ext cx="1654881" cy="499534"/>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1667363-556C-4B1D-A175-150A3DE36390}"/>
              </a:ext>
            </a:extLst>
          </p:cNvPr>
          <p:cNvSpPr txBox="1"/>
          <p:nvPr/>
        </p:nvSpPr>
        <p:spPr>
          <a:xfrm>
            <a:off x="0" y="2756188"/>
            <a:ext cx="860620" cy="461665"/>
          </a:xfrm>
          <a:prstGeom prst="rect">
            <a:avLst/>
          </a:prstGeom>
          <a:noFill/>
          <a:ln>
            <a:solidFill>
              <a:srgbClr val="FF0000"/>
            </a:solidFill>
          </a:ln>
        </p:spPr>
        <p:txBody>
          <a:bodyPr wrap="none" rtlCol="0">
            <a:spAutoFit/>
          </a:bodyPr>
          <a:lstStyle/>
          <a:p>
            <a:pPr algn="ctr"/>
            <a:r>
              <a:rPr lang="en-US" sz="1200" dirty="0"/>
              <a:t>Gemba </a:t>
            </a:r>
          </a:p>
          <a:p>
            <a:pPr algn="ctr"/>
            <a:r>
              <a:rPr lang="en-US" sz="1200" dirty="0"/>
              <a:t>Dashboard</a:t>
            </a:r>
          </a:p>
        </p:txBody>
      </p:sp>
      <p:sp>
        <p:nvSpPr>
          <p:cNvPr id="21" name="TextBox 20">
            <a:extLst>
              <a:ext uri="{FF2B5EF4-FFF2-40B4-BE49-F238E27FC236}">
                <a16:creationId xmlns:a16="http://schemas.microsoft.com/office/drawing/2014/main" id="{0196F59D-F59C-216B-19C7-218F75E2890F}"/>
              </a:ext>
            </a:extLst>
          </p:cNvPr>
          <p:cNvSpPr txBox="1"/>
          <p:nvPr/>
        </p:nvSpPr>
        <p:spPr>
          <a:xfrm>
            <a:off x="3589867" y="2685050"/>
            <a:ext cx="3062954" cy="276999"/>
          </a:xfrm>
          <a:prstGeom prst="rect">
            <a:avLst/>
          </a:prstGeom>
          <a:noFill/>
          <a:ln>
            <a:solidFill>
              <a:srgbClr val="FF0000"/>
            </a:solidFill>
          </a:ln>
        </p:spPr>
        <p:txBody>
          <a:bodyPr wrap="none" rtlCol="0">
            <a:spAutoFit/>
          </a:bodyPr>
          <a:lstStyle/>
          <a:p>
            <a:r>
              <a:rPr lang="en-US" sz="1200" dirty="0"/>
              <a:t>Region wise Gemba Count with export option</a:t>
            </a:r>
          </a:p>
        </p:txBody>
      </p:sp>
      <p:sp>
        <p:nvSpPr>
          <p:cNvPr id="25" name="TextBox 24">
            <a:extLst>
              <a:ext uri="{FF2B5EF4-FFF2-40B4-BE49-F238E27FC236}">
                <a16:creationId xmlns:a16="http://schemas.microsoft.com/office/drawing/2014/main" id="{F5E55E3A-941F-7923-A88E-3B4750186224}"/>
              </a:ext>
            </a:extLst>
          </p:cNvPr>
          <p:cNvSpPr txBox="1"/>
          <p:nvPr/>
        </p:nvSpPr>
        <p:spPr>
          <a:xfrm>
            <a:off x="9569503" y="3033187"/>
            <a:ext cx="1513363" cy="461665"/>
          </a:xfrm>
          <a:prstGeom prst="rect">
            <a:avLst/>
          </a:prstGeom>
          <a:noFill/>
          <a:ln>
            <a:solidFill>
              <a:srgbClr val="FF0000"/>
            </a:solidFill>
          </a:ln>
        </p:spPr>
        <p:txBody>
          <a:bodyPr wrap="square" rtlCol="0">
            <a:spAutoFit/>
          </a:bodyPr>
          <a:lstStyle/>
          <a:p>
            <a:pPr algn="ctr"/>
            <a:r>
              <a:rPr lang="en-US" sz="1200" dirty="0"/>
              <a:t>Monthly Audit Line Chart</a:t>
            </a:r>
          </a:p>
        </p:txBody>
      </p:sp>
    </p:spTree>
    <p:extLst>
      <p:ext uri="{BB962C8B-B14F-4D97-AF65-F5344CB8AC3E}">
        <p14:creationId xmlns:p14="http://schemas.microsoft.com/office/powerpoint/2010/main" val="19304741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19608-9333-A716-445F-98A592DCB3F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B5529254-B45F-4FC4-FCAE-D3DBF678E9B0}"/>
              </a:ext>
            </a:extLst>
          </p:cNvPr>
          <p:cNvPicPr>
            <a:picLocks noChangeAspect="1"/>
          </p:cNvPicPr>
          <p:nvPr/>
        </p:nvPicPr>
        <p:blipFill>
          <a:blip r:embed="rId2"/>
          <a:srcRect t="14770"/>
          <a:stretch>
            <a:fillRect/>
          </a:stretch>
        </p:blipFill>
        <p:spPr>
          <a:xfrm>
            <a:off x="794480" y="818236"/>
            <a:ext cx="10681012" cy="5120640"/>
          </a:xfrm>
          <a:prstGeom prst="rect">
            <a:avLst/>
          </a:prstGeom>
        </p:spPr>
      </p:pic>
      <p:sp>
        <p:nvSpPr>
          <p:cNvPr id="13" name="TextBox 12">
            <a:extLst>
              <a:ext uri="{FF2B5EF4-FFF2-40B4-BE49-F238E27FC236}">
                <a16:creationId xmlns:a16="http://schemas.microsoft.com/office/drawing/2014/main" id="{AF97A626-4D03-489A-EF13-BDA5D51C12D1}"/>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HSE Gemba Dashboard III </a:t>
            </a:r>
          </a:p>
        </p:txBody>
      </p:sp>
      <p:graphicFrame>
        <p:nvGraphicFramePr>
          <p:cNvPr id="6" name="Table 5">
            <a:extLst>
              <a:ext uri="{FF2B5EF4-FFF2-40B4-BE49-F238E27FC236}">
                <a16:creationId xmlns:a16="http://schemas.microsoft.com/office/drawing/2014/main" id="{4BA30A97-85DE-0C8D-66A2-B32583D3202E}"/>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589F83E1-FF3C-11BA-F8ED-42F5D13707F0}"/>
              </a:ext>
            </a:extLst>
          </p:cNvPr>
          <p:cNvSpPr/>
          <p:nvPr/>
        </p:nvSpPr>
        <p:spPr>
          <a:xfrm>
            <a:off x="783519" y="3005663"/>
            <a:ext cx="1654881" cy="499534"/>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FCC48BD-125F-EA27-40D5-33C572DCAAFE}"/>
              </a:ext>
            </a:extLst>
          </p:cNvPr>
          <p:cNvSpPr txBox="1"/>
          <p:nvPr/>
        </p:nvSpPr>
        <p:spPr>
          <a:xfrm>
            <a:off x="0" y="3001718"/>
            <a:ext cx="860620" cy="461665"/>
          </a:xfrm>
          <a:prstGeom prst="rect">
            <a:avLst/>
          </a:prstGeom>
          <a:noFill/>
          <a:ln>
            <a:solidFill>
              <a:srgbClr val="FF0000"/>
            </a:solidFill>
          </a:ln>
        </p:spPr>
        <p:txBody>
          <a:bodyPr wrap="none" rtlCol="0">
            <a:spAutoFit/>
          </a:bodyPr>
          <a:lstStyle/>
          <a:p>
            <a:pPr algn="ctr"/>
            <a:r>
              <a:rPr lang="en-US" sz="1200" dirty="0"/>
              <a:t>Gemba </a:t>
            </a:r>
          </a:p>
          <a:p>
            <a:pPr algn="ctr"/>
            <a:r>
              <a:rPr lang="en-US" sz="1200" dirty="0"/>
              <a:t>Dashboard</a:t>
            </a:r>
          </a:p>
        </p:txBody>
      </p:sp>
      <p:sp>
        <p:nvSpPr>
          <p:cNvPr id="5" name="Callout: Up Arrow 4">
            <a:extLst>
              <a:ext uri="{FF2B5EF4-FFF2-40B4-BE49-F238E27FC236}">
                <a16:creationId xmlns:a16="http://schemas.microsoft.com/office/drawing/2014/main" id="{8A16AB13-85E3-7747-DF3D-E36F4C7628DE}"/>
              </a:ext>
            </a:extLst>
          </p:cNvPr>
          <p:cNvSpPr/>
          <p:nvPr/>
        </p:nvSpPr>
        <p:spPr>
          <a:xfrm>
            <a:off x="2995783" y="1744134"/>
            <a:ext cx="7968628" cy="4100898"/>
          </a:xfrm>
          <a:prstGeom prst="upArrowCallout">
            <a:avLst>
              <a:gd name="adj1" fmla="val 23176"/>
              <a:gd name="adj2" fmla="val 16736"/>
              <a:gd name="adj3" fmla="val 13896"/>
              <a:gd name="adj4" fmla="val 79063"/>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3AAAE1C-DE0B-B6F4-6E0C-F640F5BC5D25}"/>
              </a:ext>
            </a:extLst>
          </p:cNvPr>
          <p:cNvSpPr txBox="1"/>
          <p:nvPr/>
        </p:nvSpPr>
        <p:spPr>
          <a:xfrm>
            <a:off x="5943274" y="1280958"/>
            <a:ext cx="2073645" cy="369332"/>
          </a:xfrm>
          <a:prstGeom prst="rect">
            <a:avLst/>
          </a:prstGeom>
          <a:noFill/>
          <a:ln>
            <a:solidFill>
              <a:srgbClr val="FF0000"/>
            </a:solidFill>
          </a:ln>
        </p:spPr>
        <p:txBody>
          <a:bodyPr wrap="none" rtlCol="0">
            <a:spAutoFit/>
          </a:bodyPr>
          <a:lstStyle/>
          <a:p>
            <a:r>
              <a:rPr lang="en-US" dirty="0"/>
              <a:t>Gemba Report data</a:t>
            </a:r>
          </a:p>
        </p:txBody>
      </p:sp>
      <p:sp>
        <p:nvSpPr>
          <p:cNvPr id="14" name="Callout: Up Arrow 13">
            <a:extLst>
              <a:ext uri="{FF2B5EF4-FFF2-40B4-BE49-F238E27FC236}">
                <a16:creationId xmlns:a16="http://schemas.microsoft.com/office/drawing/2014/main" id="{D5020F52-EB2A-3E3E-9429-13CF4B7BBC0F}"/>
              </a:ext>
            </a:extLst>
          </p:cNvPr>
          <p:cNvSpPr/>
          <p:nvPr/>
        </p:nvSpPr>
        <p:spPr>
          <a:xfrm>
            <a:off x="9700426" y="2005417"/>
            <a:ext cx="1111508" cy="455957"/>
          </a:xfrm>
          <a:prstGeom prst="upArrowCallou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80559C1-8556-9B65-0FBE-420076AD2C99}"/>
              </a:ext>
            </a:extLst>
          </p:cNvPr>
          <p:cNvSpPr txBox="1"/>
          <p:nvPr/>
        </p:nvSpPr>
        <p:spPr>
          <a:xfrm>
            <a:off x="9684688" y="1661983"/>
            <a:ext cx="1248291" cy="307777"/>
          </a:xfrm>
          <a:prstGeom prst="rect">
            <a:avLst/>
          </a:prstGeom>
          <a:noFill/>
          <a:ln>
            <a:solidFill>
              <a:srgbClr val="FF0000"/>
            </a:solidFill>
          </a:ln>
        </p:spPr>
        <p:txBody>
          <a:bodyPr wrap="none" rtlCol="0">
            <a:spAutoFit/>
          </a:bodyPr>
          <a:lstStyle/>
          <a:p>
            <a:pPr algn="ctr"/>
            <a:r>
              <a:rPr lang="en-US" sz="1400" dirty="0"/>
              <a:t>Export Option</a:t>
            </a:r>
          </a:p>
        </p:txBody>
      </p:sp>
      <p:sp>
        <p:nvSpPr>
          <p:cNvPr id="17" name="Callout: Up Arrow 16">
            <a:extLst>
              <a:ext uri="{FF2B5EF4-FFF2-40B4-BE49-F238E27FC236}">
                <a16:creationId xmlns:a16="http://schemas.microsoft.com/office/drawing/2014/main" id="{4493D62C-35E1-2764-7262-96E68A3C5616}"/>
              </a:ext>
            </a:extLst>
          </p:cNvPr>
          <p:cNvSpPr/>
          <p:nvPr/>
        </p:nvSpPr>
        <p:spPr>
          <a:xfrm>
            <a:off x="3020857" y="1409469"/>
            <a:ext cx="1762484" cy="505027"/>
          </a:xfrm>
          <a:prstGeom prst="upArrowCallou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7FDE38D-6E01-8E88-515E-FFF106140E80}"/>
              </a:ext>
            </a:extLst>
          </p:cNvPr>
          <p:cNvSpPr txBox="1"/>
          <p:nvPr/>
        </p:nvSpPr>
        <p:spPr>
          <a:xfrm>
            <a:off x="3115986" y="978996"/>
            <a:ext cx="1572225" cy="369332"/>
          </a:xfrm>
          <a:prstGeom prst="rect">
            <a:avLst/>
          </a:prstGeom>
          <a:noFill/>
          <a:ln>
            <a:solidFill>
              <a:srgbClr val="FF0000"/>
            </a:solidFill>
          </a:ln>
        </p:spPr>
        <p:txBody>
          <a:bodyPr wrap="none" rtlCol="0">
            <a:spAutoFit/>
          </a:bodyPr>
          <a:lstStyle/>
          <a:p>
            <a:r>
              <a:rPr lang="en-US" dirty="0"/>
              <a:t>Type of report</a:t>
            </a:r>
          </a:p>
        </p:txBody>
      </p:sp>
    </p:spTree>
    <p:extLst>
      <p:ext uri="{BB962C8B-B14F-4D97-AF65-F5344CB8AC3E}">
        <p14:creationId xmlns:p14="http://schemas.microsoft.com/office/powerpoint/2010/main" val="25767241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FBBDD-5667-5B11-8ED2-0EBF6361559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416FDFF-C50F-0229-9B1F-132AAFB276EA}"/>
              </a:ext>
            </a:extLst>
          </p:cNvPr>
          <p:cNvPicPr>
            <a:picLocks noChangeAspect="1"/>
          </p:cNvPicPr>
          <p:nvPr/>
        </p:nvPicPr>
        <p:blipFill>
          <a:blip r:embed="rId2"/>
          <a:srcRect t="14275"/>
          <a:stretch>
            <a:fillRect/>
          </a:stretch>
        </p:blipFill>
        <p:spPr>
          <a:xfrm>
            <a:off x="789191" y="903063"/>
            <a:ext cx="10619290" cy="5120640"/>
          </a:xfrm>
          <a:prstGeom prst="rect">
            <a:avLst/>
          </a:prstGeom>
        </p:spPr>
      </p:pic>
      <p:sp>
        <p:nvSpPr>
          <p:cNvPr id="13" name="TextBox 12">
            <a:extLst>
              <a:ext uri="{FF2B5EF4-FFF2-40B4-BE49-F238E27FC236}">
                <a16:creationId xmlns:a16="http://schemas.microsoft.com/office/drawing/2014/main" id="{CC98EFA3-CD19-56D3-1FFC-F7E5263A24B1}"/>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HSE Gemba Audits</a:t>
            </a:r>
          </a:p>
        </p:txBody>
      </p:sp>
      <p:graphicFrame>
        <p:nvGraphicFramePr>
          <p:cNvPr id="6" name="Table 5">
            <a:extLst>
              <a:ext uri="{FF2B5EF4-FFF2-40B4-BE49-F238E27FC236}">
                <a16:creationId xmlns:a16="http://schemas.microsoft.com/office/drawing/2014/main" id="{6DE5FC75-DDBF-A5E2-5220-A568ECDBDE2C}"/>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FCA4B9E4-59EB-602F-1910-5DD6904ADE97}"/>
              </a:ext>
            </a:extLst>
          </p:cNvPr>
          <p:cNvSpPr/>
          <p:nvPr/>
        </p:nvSpPr>
        <p:spPr>
          <a:xfrm>
            <a:off x="783519" y="3005663"/>
            <a:ext cx="1654881" cy="499534"/>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91523BC-5DB9-D5C6-578F-5BCB99C56958}"/>
              </a:ext>
            </a:extLst>
          </p:cNvPr>
          <p:cNvSpPr txBox="1"/>
          <p:nvPr/>
        </p:nvSpPr>
        <p:spPr>
          <a:xfrm>
            <a:off x="74836" y="3043528"/>
            <a:ext cx="671979" cy="461665"/>
          </a:xfrm>
          <a:prstGeom prst="rect">
            <a:avLst/>
          </a:prstGeom>
          <a:noFill/>
          <a:ln>
            <a:solidFill>
              <a:srgbClr val="FF0000"/>
            </a:solidFill>
          </a:ln>
        </p:spPr>
        <p:txBody>
          <a:bodyPr wrap="none" rtlCol="0">
            <a:spAutoFit/>
          </a:bodyPr>
          <a:lstStyle/>
          <a:p>
            <a:pPr algn="ctr"/>
            <a:r>
              <a:rPr lang="en-US" sz="1200" dirty="0"/>
              <a:t>Gemba </a:t>
            </a:r>
          </a:p>
          <a:p>
            <a:pPr algn="ctr"/>
            <a:r>
              <a:rPr lang="en-US" sz="1200" dirty="0"/>
              <a:t>Audit</a:t>
            </a:r>
          </a:p>
        </p:txBody>
      </p:sp>
      <p:sp>
        <p:nvSpPr>
          <p:cNvPr id="5" name="Callout: Up Arrow 4">
            <a:extLst>
              <a:ext uri="{FF2B5EF4-FFF2-40B4-BE49-F238E27FC236}">
                <a16:creationId xmlns:a16="http://schemas.microsoft.com/office/drawing/2014/main" id="{953C5CCB-D1B7-E17F-A634-AC7010AB9865}"/>
              </a:ext>
            </a:extLst>
          </p:cNvPr>
          <p:cNvSpPr/>
          <p:nvPr/>
        </p:nvSpPr>
        <p:spPr>
          <a:xfrm>
            <a:off x="3438780" y="1744133"/>
            <a:ext cx="6670420" cy="4210803"/>
          </a:xfrm>
          <a:prstGeom prst="upArrowCallout">
            <a:avLst>
              <a:gd name="adj1" fmla="val 23176"/>
              <a:gd name="adj2" fmla="val 16736"/>
              <a:gd name="adj3" fmla="val 13896"/>
              <a:gd name="adj4" fmla="val 79063"/>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75CB276-D312-2481-4556-47860945D845}"/>
              </a:ext>
            </a:extLst>
          </p:cNvPr>
          <p:cNvSpPr txBox="1"/>
          <p:nvPr/>
        </p:nvSpPr>
        <p:spPr>
          <a:xfrm>
            <a:off x="5943274" y="1280958"/>
            <a:ext cx="2073645" cy="369332"/>
          </a:xfrm>
          <a:prstGeom prst="rect">
            <a:avLst/>
          </a:prstGeom>
          <a:noFill/>
          <a:ln>
            <a:solidFill>
              <a:srgbClr val="FF0000"/>
            </a:solidFill>
          </a:ln>
        </p:spPr>
        <p:txBody>
          <a:bodyPr wrap="none" rtlCol="0">
            <a:spAutoFit/>
          </a:bodyPr>
          <a:lstStyle/>
          <a:p>
            <a:r>
              <a:rPr lang="en-US" dirty="0"/>
              <a:t>Gemba Report data</a:t>
            </a:r>
          </a:p>
        </p:txBody>
      </p:sp>
      <p:sp>
        <p:nvSpPr>
          <p:cNvPr id="15" name="TextBox 14">
            <a:extLst>
              <a:ext uri="{FF2B5EF4-FFF2-40B4-BE49-F238E27FC236}">
                <a16:creationId xmlns:a16="http://schemas.microsoft.com/office/drawing/2014/main" id="{FBCBA762-9B3C-1855-3906-A5E88B4C080B}"/>
              </a:ext>
            </a:extLst>
          </p:cNvPr>
          <p:cNvSpPr txBox="1"/>
          <p:nvPr/>
        </p:nvSpPr>
        <p:spPr>
          <a:xfrm>
            <a:off x="10303976" y="2086691"/>
            <a:ext cx="704039" cy="523220"/>
          </a:xfrm>
          <a:prstGeom prst="rect">
            <a:avLst/>
          </a:prstGeom>
          <a:noFill/>
          <a:ln>
            <a:solidFill>
              <a:srgbClr val="FF0000"/>
            </a:solidFill>
          </a:ln>
        </p:spPr>
        <p:txBody>
          <a:bodyPr wrap="none" rtlCol="0">
            <a:spAutoFit/>
          </a:bodyPr>
          <a:lstStyle/>
          <a:p>
            <a:pPr algn="ctr"/>
            <a:r>
              <a:rPr lang="en-US" sz="1400" dirty="0"/>
              <a:t>Export </a:t>
            </a:r>
          </a:p>
          <a:p>
            <a:pPr algn="ctr"/>
            <a:r>
              <a:rPr lang="en-US" sz="1400" dirty="0"/>
              <a:t>Option</a:t>
            </a:r>
          </a:p>
        </p:txBody>
      </p:sp>
      <p:sp>
        <p:nvSpPr>
          <p:cNvPr id="4" name="Callout: Right Arrow 3">
            <a:extLst>
              <a:ext uri="{FF2B5EF4-FFF2-40B4-BE49-F238E27FC236}">
                <a16:creationId xmlns:a16="http://schemas.microsoft.com/office/drawing/2014/main" id="{55EDE2CF-1D29-2B8B-72B1-413FA28D38FF}"/>
              </a:ext>
            </a:extLst>
          </p:cNvPr>
          <p:cNvSpPr/>
          <p:nvPr/>
        </p:nvSpPr>
        <p:spPr>
          <a:xfrm>
            <a:off x="9347200" y="2180969"/>
            <a:ext cx="914400" cy="334665"/>
          </a:xfrm>
          <a:prstGeom prst="rightArrowCallout">
            <a:avLst>
              <a:gd name="adj1" fmla="val 25000"/>
              <a:gd name="adj2" fmla="val 25000"/>
              <a:gd name="adj3" fmla="val 25000"/>
              <a:gd name="adj4" fmla="val 75162"/>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Left 6">
            <a:extLst>
              <a:ext uri="{FF2B5EF4-FFF2-40B4-BE49-F238E27FC236}">
                <a16:creationId xmlns:a16="http://schemas.microsoft.com/office/drawing/2014/main" id="{DCEDE965-F2F1-F317-D839-46FDB4B9B4F6}"/>
              </a:ext>
            </a:extLst>
          </p:cNvPr>
          <p:cNvSpPr/>
          <p:nvPr/>
        </p:nvSpPr>
        <p:spPr>
          <a:xfrm>
            <a:off x="3285067" y="1879600"/>
            <a:ext cx="6018529" cy="855133"/>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09594E0-B73E-E533-36FE-B6D3E86D94EF}"/>
              </a:ext>
            </a:extLst>
          </p:cNvPr>
          <p:cNvSpPr txBox="1"/>
          <p:nvPr/>
        </p:nvSpPr>
        <p:spPr>
          <a:xfrm>
            <a:off x="2410340" y="1923150"/>
            <a:ext cx="874727" cy="646331"/>
          </a:xfrm>
          <a:prstGeom prst="rect">
            <a:avLst/>
          </a:prstGeom>
          <a:noFill/>
          <a:ln>
            <a:solidFill>
              <a:srgbClr val="FF0000"/>
            </a:solidFill>
          </a:ln>
        </p:spPr>
        <p:txBody>
          <a:bodyPr wrap="none" rtlCol="0">
            <a:spAutoFit/>
          </a:bodyPr>
          <a:lstStyle/>
          <a:p>
            <a:r>
              <a:rPr lang="en-US" dirty="0"/>
              <a:t>Report </a:t>
            </a:r>
          </a:p>
          <a:p>
            <a:pPr algn="ctr"/>
            <a:r>
              <a:rPr lang="en-US" dirty="0"/>
              <a:t>Filter</a:t>
            </a:r>
          </a:p>
        </p:txBody>
      </p:sp>
      <p:sp>
        <p:nvSpPr>
          <p:cNvPr id="16" name="TextBox 15">
            <a:extLst>
              <a:ext uri="{FF2B5EF4-FFF2-40B4-BE49-F238E27FC236}">
                <a16:creationId xmlns:a16="http://schemas.microsoft.com/office/drawing/2014/main" id="{82B381CA-A1B4-2730-E38D-A081BD01C652}"/>
              </a:ext>
            </a:extLst>
          </p:cNvPr>
          <p:cNvSpPr txBox="1"/>
          <p:nvPr/>
        </p:nvSpPr>
        <p:spPr>
          <a:xfrm>
            <a:off x="10176605" y="1652548"/>
            <a:ext cx="1077090" cy="307777"/>
          </a:xfrm>
          <a:prstGeom prst="rect">
            <a:avLst/>
          </a:prstGeom>
          <a:noFill/>
          <a:ln>
            <a:solidFill>
              <a:srgbClr val="FF0000"/>
            </a:solidFill>
          </a:ln>
        </p:spPr>
        <p:txBody>
          <a:bodyPr wrap="none" rtlCol="0">
            <a:spAutoFit/>
          </a:bodyPr>
          <a:lstStyle/>
          <a:p>
            <a:pPr algn="ctr"/>
            <a:r>
              <a:rPr lang="en-US" sz="1400" dirty="0"/>
              <a:t>Create New</a:t>
            </a:r>
          </a:p>
        </p:txBody>
      </p:sp>
      <p:sp>
        <p:nvSpPr>
          <p:cNvPr id="19" name="Callout: Right Arrow 18">
            <a:extLst>
              <a:ext uri="{FF2B5EF4-FFF2-40B4-BE49-F238E27FC236}">
                <a16:creationId xmlns:a16="http://schemas.microsoft.com/office/drawing/2014/main" id="{90DC2A92-6637-9EAB-90B6-A302E7055F59}"/>
              </a:ext>
            </a:extLst>
          </p:cNvPr>
          <p:cNvSpPr/>
          <p:nvPr/>
        </p:nvSpPr>
        <p:spPr>
          <a:xfrm>
            <a:off x="9135533" y="1639105"/>
            <a:ext cx="1058333" cy="334665"/>
          </a:xfrm>
          <a:prstGeom prst="rightArrowCallout">
            <a:avLst>
              <a:gd name="adj1" fmla="val 25000"/>
              <a:gd name="adj2" fmla="val 25000"/>
              <a:gd name="adj3" fmla="val 25000"/>
              <a:gd name="adj4" fmla="val 78362"/>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08696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F6FFE-C274-54FE-CED6-630409F6134D}"/>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3E0A0917-897C-6259-E67C-099851F6782A}"/>
              </a:ext>
            </a:extLst>
          </p:cNvPr>
          <p:cNvPicPr>
            <a:picLocks noChangeAspect="1"/>
          </p:cNvPicPr>
          <p:nvPr/>
        </p:nvPicPr>
        <p:blipFill>
          <a:blip r:embed="rId2"/>
          <a:srcRect t="14197"/>
          <a:stretch>
            <a:fillRect/>
          </a:stretch>
        </p:blipFill>
        <p:spPr>
          <a:xfrm>
            <a:off x="791162" y="695110"/>
            <a:ext cx="10609675" cy="5120640"/>
          </a:xfrm>
          <a:prstGeom prst="rect">
            <a:avLst/>
          </a:prstGeom>
        </p:spPr>
      </p:pic>
      <p:sp>
        <p:nvSpPr>
          <p:cNvPr id="13" name="TextBox 12">
            <a:extLst>
              <a:ext uri="{FF2B5EF4-FFF2-40B4-BE49-F238E27FC236}">
                <a16:creationId xmlns:a16="http://schemas.microsoft.com/office/drawing/2014/main" id="{7EB56412-0187-B2DD-2552-EAE6B23DA596}"/>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HSE Gemba Audits</a:t>
            </a:r>
          </a:p>
        </p:txBody>
      </p:sp>
      <p:graphicFrame>
        <p:nvGraphicFramePr>
          <p:cNvPr id="6" name="Table 5">
            <a:extLst>
              <a:ext uri="{FF2B5EF4-FFF2-40B4-BE49-F238E27FC236}">
                <a16:creationId xmlns:a16="http://schemas.microsoft.com/office/drawing/2014/main" id="{9513BA27-0A8C-2AFA-1D28-9EF2A3F3ADFE}"/>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D0B18A2B-0EEA-393F-9903-9A1CB477826C}"/>
              </a:ext>
            </a:extLst>
          </p:cNvPr>
          <p:cNvSpPr/>
          <p:nvPr/>
        </p:nvSpPr>
        <p:spPr>
          <a:xfrm>
            <a:off x="783519" y="3445932"/>
            <a:ext cx="1654881" cy="499534"/>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2312FC8-79F5-D53D-A7C2-1311649A8203}"/>
              </a:ext>
            </a:extLst>
          </p:cNvPr>
          <p:cNvSpPr txBox="1"/>
          <p:nvPr/>
        </p:nvSpPr>
        <p:spPr>
          <a:xfrm>
            <a:off x="74836" y="3483797"/>
            <a:ext cx="671979" cy="461665"/>
          </a:xfrm>
          <a:prstGeom prst="rect">
            <a:avLst/>
          </a:prstGeom>
          <a:noFill/>
          <a:ln>
            <a:solidFill>
              <a:srgbClr val="FF0000"/>
            </a:solidFill>
          </a:ln>
        </p:spPr>
        <p:txBody>
          <a:bodyPr wrap="none" rtlCol="0">
            <a:spAutoFit/>
          </a:bodyPr>
          <a:lstStyle/>
          <a:p>
            <a:pPr algn="ctr"/>
            <a:r>
              <a:rPr lang="en-US" sz="1200" dirty="0"/>
              <a:t>Gemba </a:t>
            </a:r>
          </a:p>
          <a:p>
            <a:pPr algn="ctr"/>
            <a:r>
              <a:rPr lang="en-US" sz="1200" dirty="0"/>
              <a:t>Audit</a:t>
            </a:r>
          </a:p>
        </p:txBody>
      </p:sp>
      <p:sp>
        <p:nvSpPr>
          <p:cNvPr id="17" name="Rectangle: Rounded Corners 16">
            <a:extLst>
              <a:ext uri="{FF2B5EF4-FFF2-40B4-BE49-F238E27FC236}">
                <a16:creationId xmlns:a16="http://schemas.microsoft.com/office/drawing/2014/main" id="{6F413BDB-7611-2B9A-7D7F-41C470B6141A}"/>
              </a:ext>
            </a:extLst>
          </p:cNvPr>
          <p:cNvSpPr/>
          <p:nvPr/>
        </p:nvSpPr>
        <p:spPr>
          <a:xfrm>
            <a:off x="9618133" y="4334933"/>
            <a:ext cx="1117600" cy="4318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DF5B4C4-0DE1-2BF8-EA8A-D140482F30BB}"/>
              </a:ext>
            </a:extLst>
          </p:cNvPr>
          <p:cNvSpPr txBox="1"/>
          <p:nvPr/>
        </p:nvSpPr>
        <p:spPr>
          <a:xfrm>
            <a:off x="5604933" y="3344333"/>
            <a:ext cx="4103111" cy="369332"/>
          </a:xfrm>
          <a:prstGeom prst="rect">
            <a:avLst/>
          </a:prstGeom>
          <a:noFill/>
          <a:ln>
            <a:solidFill>
              <a:srgbClr val="FF0000"/>
            </a:solidFill>
          </a:ln>
        </p:spPr>
        <p:txBody>
          <a:bodyPr wrap="none" rtlCol="0">
            <a:spAutoFit/>
          </a:bodyPr>
          <a:lstStyle/>
          <a:p>
            <a:r>
              <a:rPr lang="en-US" dirty="0"/>
              <a:t>Option to View, Edit and Delete the Audit</a:t>
            </a:r>
          </a:p>
        </p:txBody>
      </p:sp>
      <p:cxnSp>
        <p:nvCxnSpPr>
          <p:cNvPr id="21" name="Connector: Curved 20">
            <a:extLst>
              <a:ext uri="{FF2B5EF4-FFF2-40B4-BE49-F238E27FC236}">
                <a16:creationId xmlns:a16="http://schemas.microsoft.com/office/drawing/2014/main" id="{DDB86DC5-8836-DBBB-E453-4DCCF5DD87EB}"/>
              </a:ext>
            </a:extLst>
          </p:cNvPr>
          <p:cNvCxnSpPr>
            <a:stCxn id="17" idx="0"/>
            <a:endCxn id="18" idx="3"/>
          </p:cNvCxnSpPr>
          <p:nvPr/>
        </p:nvCxnSpPr>
        <p:spPr>
          <a:xfrm rot="16200000" flipV="1">
            <a:off x="9539522" y="3697521"/>
            <a:ext cx="805934" cy="468889"/>
          </a:xfrm>
          <a:prstGeom prst="curved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20810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15718-A28A-63A1-7B40-2733C854DDB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3E4000C-BF4F-96E4-D82E-5AF1D7B20392}"/>
              </a:ext>
            </a:extLst>
          </p:cNvPr>
          <p:cNvPicPr>
            <a:picLocks noChangeAspect="1"/>
          </p:cNvPicPr>
          <p:nvPr/>
        </p:nvPicPr>
        <p:blipFill>
          <a:blip r:embed="rId2"/>
          <a:srcRect t="13950"/>
          <a:stretch>
            <a:fillRect/>
          </a:stretch>
        </p:blipFill>
        <p:spPr>
          <a:xfrm>
            <a:off x="845373" y="851748"/>
            <a:ext cx="10579225" cy="5120640"/>
          </a:xfrm>
          <a:prstGeom prst="rect">
            <a:avLst/>
          </a:prstGeom>
        </p:spPr>
      </p:pic>
      <p:sp>
        <p:nvSpPr>
          <p:cNvPr id="13" name="TextBox 12">
            <a:extLst>
              <a:ext uri="{FF2B5EF4-FFF2-40B4-BE49-F238E27FC236}">
                <a16:creationId xmlns:a16="http://schemas.microsoft.com/office/drawing/2014/main" id="{EDDCB951-3C43-BF74-6F08-06ECF1C4B379}"/>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HSE Gemba Audits create audit</a:t>
            </a:r>
          </a:p>
        </p:txBody>
      </p:sp>
      <p:graphicFrame>
        <p:nvGraphicFramePr>
          <p:cNvPr id="6" name="Table 5">
            <a:extLst>
              <a:ext uri="{FF2B5EF4-FFF2-40B4-BE49-F238E27FC236}">
                <a16:creationId xmlns:a16="http://schemas.microsoft.com/office/drawing/2014/main" id="{58AF2587-1D31-F39A-2E72-C487D7654D33}"/>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BFABA78F-6C52-2622-AEEF-B2DC817C0F9A}"/>
              </a:ext>
            </a:extLst>
          </p:cNvPr>
          <p:cNvSpPr/>
          <p:nvPr/>
        </p:nvSpPr>
        <p:spPr>
          <a:xfrm>
            <a:off x="817387" y="3606800"/>
            <a:ext cx="1654881" cy="499534"/>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4B0A733-6D42-2E99-CD0B-FF94AD34ADE8}"/>
              </a:ext>
            </a:extLst>
          </p:cNvPr>
          <p:cNvSpPr txBox="1"/>
          <p:nvPr/>
        </p:nvSpPr>
        <p:spPr>
          <a:xfrm>
            <a:off x="74836" y="3610800"/>
            <a:ext cx="671979" cy="461665"/>
          </a:xfrm>
          <a:prstGeom prst="rect">
            <a:avLst/>
          </a:prstGeom>
          <a:noFill/>
          <a:ln>
            <a:solidFill>
              <a:srgbClr val="FF0000"/>
            </a:solidFill>
          </a:ln>
        </p:spPr>
        <p:txBody>
          <a:bodyPr wrap="none" rtlCol="0">
            <a:spAutoFit/>
          </a:bodyPr>
          <a:lstStyle/>
          <a:p>
            <a:pPr algn="ctr"/>
            <a:r>
              <a:rPr lang="en-US" sz="1200" dirty="0"/>
              <a:t>Gemba </a:t>
            </a:r>
          </a:p>
          <a:p>
            <a:pPr algn="ctr"/>
            <a:r>
              <a:rPr lang="en-US" sz="1200" dirty="0"/>
              <a:t>Audit</a:t>
            </a:r>
          </a:p>
        </p:txBody>
      </p:sp>
      <p:sp>
        <p:nvSpPr>
          <p:cNvPr id="4" name="TextBox 3">
            <a:extLst>
              <a:ext uri="{FF2B5EF4-FFF2-40B4-BE49-F238E27FC236}">
                <a16:creationId xmlns:a16="http://schemas.microsoft.com/office/drawing/2014/main" id="{FB93957B-49AB-C434-64DA-35A0434BB363}"/>
              </a:ext>
            </a:extLst>
          </p:cNvPr>
          <p:cNvSpPr txBox="1"/>
          <p:nvPr/>
        </p:nvSpPr>
        <p:spPr>
          <a:xfrm>
            <a:off x="5647266" y="1786467"/>
            <a:ext cx="2142318" cy="369332"/>
          </a:xfrm>
          <a:prstGeom prst="rect">
            <a:avLst/>
          </a:prstGeom>
          <a:noFill/>
          <a:ln>
            <a:solidFill>
              <a:srgbClr val="FF0000"/>
            </a:solidFill>
          </a:ln>
        </p:spPr>
        <p:txBody>
          <a:bodyPr wrap="none" rtlCol="0">
            <a:spAutoFit/>
          </a:bodyPr>
          <a:lstStyle/>
          <a:p>
            <a:r>
              <a:rPr lang="en-US" dirty="0"/>
              <a:t>Create Gemba Audit</a:t>
            </a:r>
          </a:p>
        </p:txBody>
      </p:sp>
    </p:spTree>
    <p:extLst>
      <p:ext uri="{BB962C8B-B14F-4D97-AF65-F5344CB8AC3E}">
        <p14:creationId xmlns:p14="http://schemas.microsoft.com/office/powerpoint/2010/main" val="14289372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8AB82-50AA-B463-870E-57B6C0C9E2A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1052443-0452-3145-E852-31219AA46A40}"/>
              </a:ext>
            </a:extLst>
          </p:cNvPr>
          <p:cNvPicPr>
            <a:picLocks noChangeAspect="1"/>
          </p:cNvPicPr>
          <p:nvPr/>
        </p:nvPicPr>
        <p:blipFill>
          <a:blip r:embed="rId2"/>
          <a:srcRect t="13950"/>
          <a:stretch>
            <a:fillRect/>
          </a:stretch>
        </p:blipFill>
        <p:spPr>
          <a:xfrm>
            <a:off x="845373" y="851748"/>
            <a:ext cx="10579225" cy="5120640"/>
          </a:xfrm>
          <a:prstGeom prst="rect">
            <a:avLst/>
          </a:prstGeom>
        </p:spPr>
      </p:pic>
      <p:sp>
        <p:nvSpPr>
          <p:cNvPr id="13" name="TextBox 12">
            <a:extLst>
              <a:ext uri="{FF2B5EF4-FFF2-40B4-BE49-F238E27FC236}">
                <a16:creationId xmlns:a16="http://schemas.microsoft.com/office/drawing/2014/main" id="{D568D34E-4CE8-DF05-4508-F7DB32DA5F31}"/>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HSE Gemba Audits create audit</a:t>
            </a:r>
          </a:p>
        </p:txBody>
      </p:sp>
      <p:graphicFrame>
        <p:nvGraphicFramePr>
          <p:cNvPr id="6" name="Table 5">
            <a:extLst>
              <a:ext uri="{FF2B5EF4-FFF2-40B4-BE49-F238E27FC236}">
                <a16:creationId xmlns:a16="http://schemas.microsoft.com/office/drawing/2014/main" id="{ABF0FABD-C998-54AC-79C7-365FCB2EF466}"/>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61F434A2-23EC-5E46-B7AC-AE5E863E7853}"/>
              </a:ext>
            </a:extLst>
          </p:cNvPr>
          <p:cNvSpPr/>
          <p:nvPr/>
        </p:nvSpPr>
        <p:spPr>
          <a:xfrm>
            <a:off x="817387" y="3606800"/>
            <a:ext cx="1654881" cy="499534"/>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093E89B-EB1D-B58B-33DF-F797D7CC4E61}"/>
              </a:ext>
            </a:extLst>
          </p:cNvPr>
          <p:cNvSpPr txBox="1"/>
          <p:nvPr/>
        </p:nvSpPr>
        <p:spPr>
          <a:xfrm>
            <a:off x="74836" y="3610800"/>
            <a:ext cx="671979" cy="461665"/>
          </a:xfrm>
          <a:prstGeom prst="rect">
            <a:avLst/>
          </a:prstGeom>
          <a:noFill/>
          <a:ln>
            <a:solidFill>
              <a:srgbClr val="FF0000"/>
            </a:solidFill>
          </a:ln>
        </p:spPr>
        <p:txBody>
          <a:bodyPr wrap="none" rtlCol="0">
            <a:spAutoFit/>
          </a:bodyPr>
          <a:lstStyle/>
          <a:p>
            <a:pPr algn="ctr"/>
            <a:r>
              <a:rPr lang="en-US" sz="1200" dirty="0"/>
              <a:t>Gemba </a:t>
            </a:r>
          </a:p>
          <a:p>
            <a:pPr algn="ctr"/>
            <a:r>
              <a:rPr lang="en-US" sz="1200" dirty="0"/>
              <a:t>Audit</a:t>
            </a:r>
          </a:p>
        </p:txBody>
      </p:sp>
      <p:sp>
        <p:nvSpPr>
          <p:cNvPr id="4" name="TextBox 3">
            <a:extLst>
              <a:ext uri="{FF2B5EF4-FFF2-40B4-BE49-F238E27FC236}">
                <a16:creationId xmlns:a16="http://schemas.microsoft.com/office/drawing/2014/main" id="{084A7A46-B954-9384-91CE-4BEA0F9BC8BE}"/>
              </a:ext>
            </a:extLst>
          </p:cNvPr>
          <p:cNvSpPr txBox="1"/>
          <p:nvPr/>
        </p:nvSpPr>
        <p:spPr>
          <a:xfrm>
            <a:off x="5647266" y="1786467"/>
            <a:ext cx="2142318" cy="369332"/>
          </a:xfrm>
          <a:prstGeom prst="rect">
            <a:avLst/>
          </a:prstGeom>
          <a:noFill/>
          <a:ln>
            <a:solidFill>
              <a:srgbClr val="FF0000"/>
            </a:solidFill>
          </a:ln>
        </p:spPr>
        <p:txBody>
          <a:bodyPr wrap="none" rtlCol="0">
            <a:spAutoFit/>
          </a:bodyPr>
          <a:lstStyle/>
          <a:p>
            <a:r>
              <a:rPr lang="en-US" dirty="0"/>
              <a:t>Create Gemba Audit</a:t>
            </a:r>
          </a:p>
        </p:txBody>
      </p:sp>
    </p:spTree>
    <p:extLst>
      <p:ext uri="{BB962C8B-B14F-4D97-AF65-F5344CB8AC3E}">
        <p14:creationId xmlns:p14="http://schemas.microsoft.com/office/powerpoint/2010/main" val="3838718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A5B01-0585-E2D9-6334-A8691F445C7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1AC892C-37FB-1FA9-3369-7FE76529D1DA}"/>
              </a:ext>
            </a:extLst>
          </p:cNvPr>
          <p:cNvPicPr>
            <a:picLocks noChangeAspect="1"/>
          </p:cNvPicPr>
          <p:nvPr/>
        </p:nvPicPr>
        <p:blipFill>
          <a:blip r:embed="rId2"/>
          <a:srcRect t="14321"/>
          <a:stretch>
            <a:fillRect/>
          </a:stretch>
        </p:blipFill>
        <p:spPr>
          <a:xfrm>
            <a:off x="783519" y="868680"/>
            <a:ext cx="10624962" cy="5120640"/>
          </a:xfrm>
          <a:prstGeom prst="rect">
            <a:avLst/>
          </a:prstGeom>
        </p:spPr>
      </p:pic>
      <p:sp>
        <p:nvSpPr>
          <p:cNvPr id="13" name="TextBox 12">
            <a:extLst>
              <a:ext uri="{FF2B5EF4-FFF2-40B4-BE49-F238E27FC236}">
                <a16:creationId xmlns:a16="http://schemas.microsoft.com/office/drawing/2014/main" id="{B036FA6D-C0CD-B0DD-525A-64478937ABFF}"/>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HSE Gemba Audits NC tracker</a:t>
            </a:r>
          </a:p>
        </p:txBody>
      </p:sp>
      <p:graphicFrame>
        <p:nvGraphicFramePr>
          <p:cNvPr id="6" name="Table 5">
            <a:extLst>
              <a:ext uri="{FF2B5EF4-FFF2-40B4-BE49-F238E27FC236}">
                <a16:creationId xmlns:a16="http://schemas.microsoft.com/office/drawing/2014/main" id="{97200DC3-322B-AE26-CDB1-B8D74C2251E1}"/>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15F07D2D-A2B6-FE42-E96D-CA370EE37CBD}"/>
              </a:ext>
            </a:extLst>
          </p:cNvPr>
          <p:cNvSpPr/>
          <p:nvPr/>
        </p:nvSpPr>
        <p:spPr>
          <a:xfrm>
            <a:off x="808920" y="4148669"/>
            <a:ext cx="1654881" cy="499534"/>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750319A-81FD-F6DB-9034-EFD3B68F4995}"/>
              </a:ext>
            </a:extLst>
          </p:cNvPr>
          <p:cNvSpPr txBox="1"/>
          <p:nvPr/>
        </p:nvSpPr>
        <p:spPr>
          <a:xfrm>
            <a:off x="74836" y="4178064"/>
            <a:ext cx="671979" cy="461665"/>
          </a:xfrm>
          <a:prstGeom prst="rect">
            <a:avLst/>
          </a:prstGeom>
          <a:noFill/>
          <a:ln>
            <a:solidFill>
              <a:srgbClr val="FF0000"/>
            </a:solidFill>
          </a:ln>
        </p:spPr>
        <p:txBody>
          <a:bodyPr wrap="none" rtlCol="0">
            <a:spAutoFit/>
          </a:bodyPr>
          <a:lstStyle/>
          <a:p>
            <a:pPr algn="ctr"/>
            <a:r>
              <a:rPr lang="en-US" sz="1200" dirty="0"/>
              <a:t>Gemba </a:t>
            </a:r>
          </a:p>
          <a:p>
            <a:pPr algn="ctr"/>
            <a:r>
              <a:rPr lang="en-US" sz="1200" dirty="0"/>
              <a:t>Audit</a:t>
            </a:r>
          </a:p>
        </p:txBody>
      </p:sp>
      <p:sp>
        <p:nvSpPr>
          <p:cNvPr id="7" name="Callout: Up Arrow 6">
            <a:extLst>
              <a:ext uri="{FF2B5EF4-FFF2-40B4-BE49-F238E27FC236}">
                <a16:creationId xmlns:a16="http://schemas.microsoft.com/office/drawing/2014/main" id="{A5456E8A-6005-E8B6-C2E1-23242E887855}"/>
              </a:ext>
            </a:extLst>
          </p:cNvPr>
          <p:cNvSpPr/>
          <p:nvPr/>
        </p:nvSpPr>
        <p:spPr>
          <a:xfrm>
            <a:off x="2853266" y="1752600"/>
            <a:ext cx="8221133" cy="1363133"/>
          </a:xfrm>
          <a:prstGeom prst="upArrowCallou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BAF77DE-4B0E-1369-A146-E07D86E6CB1F}"/>
              </a:ext>
            </a:extLst>
          </p:cNvPr>
          <p:cNvSpPr txBox="1"/>
          <p:nvPr/>
        </p:nvSpPr>
        <p:spPr>
          <a:xfrm>
            <a:off x="5928292" y="1367035"/>
            <a:ext cx="2071080" cy="369332"/>
          </a:xfrm>
          <a:prstGeom prst="rect">
            <a:avLst/>
          </a:prstGeom>
          <a:noFill/>
          <a:ln>
            <a:solidFill>
              <a:srgbClr val="FF0000"/>
            </a:solidFill>
          </a:ln>
        </p:spPr>
        <p:txBody>
          <a:bodyPr wrap="none" rtlCol="0">
            <a:spAutoFit/>
          </a:bodyPr>
          <a:lstStyle/>
          <a:p>
            <a:r>
              <a:rPr lang="en-US" dirty="0"/>
              <a:t>Filter for NC tracker</a:t>
            </a:r>
          </a:p>
        </p:txBody>
      </p:sp>
      <p:sp>
        <p:nvSpPr>
          <p:cNvPr id="11" name="Callout: Down Arrow 10">
            <a:extLst>
              <a:ext uri="{FF2B5EF4-FFF2-40B4-BE49-F238E27FC236}">
                <a16:creationId xmlns:a16="http://schemas.microsoft.com/office/drawing/2014/main" id="{7F9D26F5-82D5-DF97-2B32-F31D073DF51A}"/>
              </a:ext>
            </a:extLst>
          </p:cNvPr>
          <p:cNvSpPr/>
          <p:nvPr/>
        </p:nvSpPr>
        <p:spPr>
          <a:xfrm>
            <a:off x="2726267" y="3259667"/>
            <a:ext cx="8407400" cy="2247053"/>
          </a:xfrm>
          <a:prstGeom prst="downArrowCallou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9CFE20E-28F1-E80F-85FD-54428A13F8FF}"/>
              </a:ext>
            </a:extLst>
          </p:cNvPr>
          <p:cNvSpPr txBox="1"/>
          <p:nvPr/>
        </p:nvSpPr>
        <p:spPr>
          <a:xfrm>
            <a:off x="5999969" y="5554492"/>
            <a:ext cx="1859996" cy="369332"/>
          </a:xfrm>
          <a:prstGeom prst="rect">
            <a:avLst/>
          </a:prstGeom>
          <a:noFill/>
          <a:ln>
            <a:solidFill>
              <a:srgbClr val="FF0000"/>
            </a:solidFill>
          </a:ln>
        </p:spPr>
        <p:txBody>
          <a:bodyPr wrap="none" rtlCol="0">
            <a:spAutoFit/>
          </a:bodyPr>
          <a:lstStyle/>
          <a:p>
            <a:pPr algn="ctr"/>
            <a:r>
              <a:rPr lang="en-US" dirty="0"/>
              <a:t>Overview of Data</a:t>
            </a:r>
          </a:p>
        </p:txBody>
      </p:sp>
    </p:spTree>
    <p:extLst>
      <p:ext uri="{BB962C8B-B14F-4D97-AF65-F5344CB8AC3E}">
        <p14:creationId xmlns:p14="http://schemas.microsoft.com/office/powerpoint/2010/main" val="35535891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90694-3F46-2B0E-A142-1FCE8E9899A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8CA092E-BA9A-58FB-4C85-DF9D25E39885}"/>
              </a:ext>
            </a:extLst>
          </p:cNvPr>
          <p:cNvPicPr>
            <a:picLocks noChangeAspect="1"/>
          </p:cNvPicPr>
          <p:nvPr/>
        </p:nvPicPr>
        <p:blipFill>
          <a:blip r:embed="rId2"/>
          <a:srcRect t="14568"/>
          <a:stretch>
            <a:fillRect/>
          </a:stretch>
        </p:blipFill>
        <p:spPr>
          <a:xfrm>
            <a:off x="746815" y="803184"/>
            <a:ext cx="10655666" cy="5120640"/>
          </a:xfrm>
          <a:prstGeom prst="rect">
            <a:avLst/>
          </a:prstGeom>
        </p:spPr>
      </p:pic>
      <p:sp>
        <p:nvSpPr>
          <p:cNvPr id="13" name="TextBox 12">
            <a:extLst>
              <a:ext uri="{FF2B5EF4-FFF2-40B4-BE49-F238E27FC236}">
                <a16:creationId xmlns:a16="http://schemas.microsoft.com/office/drawing/2014/main" id="{79EE067E-C8E7-4E9F-9B28-D614E66AC028}"/>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HSE Gemba Audits NC tracker</a:t>
            </a:r>
          </a:p>
        </p:txBody>
      </p:sp>
      <p:graphicFrame>
        <p:nvGraphicFramePr>
          <p:cNvPr id="6" name="Table 5">
            <a:extLst>
              <a:ext uri="{FF2B5EF4-FFF2-40B4-BE49-F238E27FC236}">
                <a16:creationId xmlns:a16="http://schemas.microsoft.com/office/drawing/2014/main" id="{11F2D43D-8035-7630-C920-0DDCB1356AA5}"/>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A27F2FB1-5AAA-134D-335B-BCDFF3E3164B}"/>
              </a:ext>
            </a:extLst>
          </p:cNvPr>
          <p:cNvSpPr/>
          <p:nvPr/>
        </p:nvSpPr>
        <p:spPr>
          <a:xfrm>
            <a:off x="808920" y="4097867"/>
            <a:ext cx="1654881" cy="499534"/>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CB010C0-B57F-D6E1-EC1F-C1FFD14EFF34}"/>
              </a:ext>
            </a:extLst>
          </p:cNvPr>
          <p:cNvSpPr txBox="1"/>
          <p:nvPr/>
        </p:nvSpPr>
        <p:spPr>
          <a:xfrm>
            <a:off x="74836" y="4127262"/>
            <a:ext cx="671979" cy="461665"/>
          </a:xfrm>
          <a:prstGeom prst="rect">
            <a:avLst/>
          </a:prstGeom>
          <a:noFill/>
          <a:ln>
            <a:solidFill>
              <a:srgbClr val="FF0000"/>
            </a:solidFill>
          </a:ln>
        </p:spPr>
        <p:txBody>
          <a:bodyPr wrap="none" rtlCol="0">
            <a:spAutoFit/>
          </a:bodyPr>
          <a:lstStyle/>
          <a:p>
            <a:pPr algn="ctr"/>
            <a:r>
              <a:rPr lang="en-US" sz="1200" dirty="0"/>
              <a:t>Gemba </a:t>
            </a:r>
          </a:p>
          <a:p>
            <a:pPr algn="ctr"/>
            <a:r>
              <a:rPr lang="en-US" sz="1200" dirty="0"/>
              <a:t>Audit</a:t>
            </a:r>
          </a:p>
        </p:txBody>
      </p:sp>
      <p:sp>
        <p:nvSpPr>
          <p:cNvPr id="7" name="Callout: Up Arrow 6">
            <a:extLst>
              <a:ext uri="{FF2B5EF4-FFF2-40B4-BE49-F238E27FC236}">
                <a16:creationId xmlns:a16="http://schemas.microsoft.com/office/drawing/2014/main" id="{00C394B5-EE82-7809-1861-D3F13BB07BFB}"/>
              </a:ext>
            </a:extLst>
          </p:cNvPr>
          <p:cNvSpPr/>
          <p:nvPr/>
        </p:nvSpPr>
        <p:spPr>
          <a:xfrm>
            <a:off x="2853266" y="1736368"/>
            <a:ext cx="8221133" cy="4122566"/>
          </a:xfrm>
          <a:prstGeom prst="upArrowCallout">
            <a:avLst>
              <a:gd name="adj1" fmla="val 18839"/>
              <a:gd name="adj2" fmla="val 19455"/>
              <a:gd name="adj3" fmla="val 20482"/>
              <a:gd name="adj4" fmla="val 70727"/>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75BEEB2-375C-2903-1E6C-1F4C2FE91965}"/>
              </a:ext>
            </a:extLst>
          </p:cNvPr>
          <p:cNvSpPr txBox="1"/>
          <p:nvPr/>
        </p:nvSpPr>
        <p:spPr>
          <a:xfrm>
            <a:off x="5991999" y="1367035"/>
            <a:ext cx="1943674" cy="369332"/>
          </a:xfrm>
          <a:prstGeom prst="rect">
            <a:avLst/>
          </a:prstGeom>
          <a:noFill/>
          <a:ln>
            <a:solidFill>
              <a:srgbClr val="FF0000"/>
            </a:solidFill>
          </a:ln>
        </p:spPr>
        <p:txBody>
          <a:bodyPr wrap="none" rtlCol="0">
            <a:spAutoFit/>
          </a:bodyPr>
          <a:lstStyle/>
          <a:p>
            <a:pPr algn="ctr"/>
            <a:r>
              <a:rPr lang="en-US" dirty="0"/>
              <a:t>All Data NC tracker</a:t>
            </a:r>
          </a:p>
        </p:txBody>
      </p:sp>
      <p:sp>
        <p:nvSpPr>
          <p:cNvPr id="4" name="Oval 3">
            <a:extLst>
              <a:ext uri="{FF2B5EF4-FFF2-40B4-BE49-F238E27FC236}">
                <a16:creationId xmlns:a16="http://schemas.microsoft.com/office/drawing/2014/main" id="{4C652C25-DE05-44D1-E038-22A44C60D6A5}"/>
              </a:ext>
            </a:extLst>
          </p:cNvPr>
          <p:cNvSpPr/>
          <p:nvPr/>
        </p:nvSpPr>
        <p:spPr>
          <a:xfrm>
            <a:off x="3115733" y="3530600"/>
            <a:ext cx="635000" cy="44026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76E9748-3125-64F6-AD4E-8E9ECF946A3D}"/>
              </a:ext>
            </a:extLst>
          </p:cNvPr>
          <p:cNvSpPr txBox="1"/>
          <p:nvPr/>
        </p:nvSpPr>
        <p:spPr>
          <a:xfrm>
            <a:off x="3657600" y="2345267"/>
            <a:ext cx="1474443" cy="369332"/>
          </a:xfrm>
          <a:prstGeom prst="rect">
            <a:avLst/>
          </a:prstGeom>
          <a:noFill/>
          <a:ln>
            <a:solidFill>
              <a:srgbClr val="FF0000"/>
            </a:solidFill>
          </a:ln>
        </p:spPr>
        <p:txBody>
          <a:bodyPr wrap="none" rtlCol="0">
            <a:spAutoFit/>
          </a:bodyPr>
          <a:lstStyle/>
          <a:p>
            <a:r>
              <a:rPr lang="en-US" dirty="0"/>
              <a:t>Click to Close</a:t>
            </a:r>
          </a:p>
        </p:txBody>
      </p:sp>
      <p:cxnSp>
        <p:nvCxnSpPr>
          <p:cNvPr id="18" name="Connector: Curved 17">
            <a:extLst>
              <a:ext uri="{FF2B5EF4-FFF2-40B4-BE49-F238E27FC236}">
                <a16:creationId xmlns:a16="http://schemas.microsoft.com/office/drawing/2014/main" id="{B519EEF8-3D03-FFBC-A51F-AB3EE3651895}"/>
              </a:ext>
            </a:extLst>
          </p:cNvPr>
          <p:cNvCxnSpPr/>
          <p:nvPr/>
        </p:nvCxnSpPr>
        <p:spPr>
          <a:xfrm flipV="1">
            <a:off x="3433233" y="2730738"/>
            <a:ext cx="1045634" cy="799862"/>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72519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E9DD1-2021-D7FB-A241-77F442AD7CE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6C3E905-1802-2049-1160-7EC99EC4A8F9}"/>
              </a:ext>
            </a:extLst>
          </p:cNvPr>
          <p:cNvPicPr>
            <a:picLocks noChangeAspect="1"/>
          </p:cNvPicPr>
          <p:nvPr/>
        </p:nvPicPr>
        <p:blipFill>
          <a:blip r:embed="rId2"/>
          <a:srcRect t="14568"/>
          <a:stretch>
            <a:fillRect/>
          </a:stretch>
        </p:blipFill>
        <p:spPr>
          <a:xfrm>
            <a:off x="768168" y="888365"/>
            <a:ext cx="10655664" cy="5120640"/>
          </a:xfrm>
          <a:prstGeom prst="rect">
            <a:avLst/>
          </a:prstGeom>
        </p:spPr>
      </p:pic>
      <p:sp>
        <p:nvSpPr>
          <p:cNvPr id="13" name="TextBox 12">
            <a:extLst>
              <a:ext uri="{FF2B5EF4-FFF2-40B4-BE49-F238E27FC236}">
                <a16:creationId xmlns:a16="http://schemas.microsoft.com/office/drawing/2014/main" id="{121EB668-697D-9A06-63C5-98011DEF3B69}"/>
              </a:ext>
            </a:extLst>
          </p:cNvPr>
          <p:cNvSpPr txBox="1"/>
          <p:nvPr/>
        </p:nvSpPr>
        <p:spPr>
          <a:xfrm>
            <a:off x="0" y="5216"/>
            <a:ext cx="12192000" cy="461665"/>
          </a:xfrm>
          <a:prstGeom prst="rect">
            <a:avLst/>
          </a:prstGeom>
          <a:noFill/>
        </p:spPr>
        <p:txBody>
          <a:bodyPr wrap="square" rtlCol="0">
            <a:spAutoFit/>
          </a:bodyPr>
          <a:lstStyle/>
          <a:p>
            <a:pPr algn="ctr"/>
            <a:r>
              <a:rPr lang="en-US" sz="2400" b="1" dirty="0">
                <a:ea typeface="Cambria Math" panose="02040503050406030204" pitchFamily="18" charset="0"/>
                <a:cs typeface="Times New Roman" pitchFamily="18" charset="0"/>
              </a:rPr>
              <a:t>HSE Gemba Audits NC tracker</a:t>
            </a:r>
          </a:p>
        </p:txBody>
      </p:sp>
      <p:graphicFrame>
        <p:nvGraphicFramePr>
          <p:cNvPr id="6" name="Table 5">
            <a:extLst>
              <a:ext uri="{FF2B5EF4-FFF2-40B4-BE49-F238E27FC236}">
                <a16:creationId xmlns:a16="http://schemas.microsoft.com/office/drawing/2014/main" id="{8236B675-F72C-97E4-BF91-CE49F92AB51C}"/>
              </a:ext>
            </a:extLst>
          </p:cNvPr>
          <p:cNvGraphicFramePr>
            <a:graphicFrameLocks noGrp="1"/>
          </p:cNvGraphicFramePr>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
        <p:nvSpPr>
          <p:cNvPr id="8" name="Arrow: Left 7">
            <a:extLst>
              <a:ext uri="{FF2B5EF4-FFF2-40B4-BE49-F238E27FC236}">
                <a16:creationId xmlns:a16="http://schemas.microsoft.com/office/drawing/2014/main" id="{AA962929-C75B-EF99-8608-D4586A959B9C}"/>
              </a:ext>
            </a:extLst>
          </p:cNvPr>
          <p:cNvSpPr/>
          <p:nvPr/>
        </p:nvSpPr>
        <p:spPr>
          <a:xfrm>
            <a:off x="768168" y="4191000"/>
            <a:ext cx="1654881" cy="499534"/>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6E9C8A5-2B10-E57F-515E-7855462DBF3B}"/>
              </a:ext>
            </a:extLst>
          </p:cNvPr>
          <p:cNvSpPr txBox="1"/>
          <p:nvPr/>
        </p:nvSpPr>
        <p:spPr>
          <a:xfrm>
            <a:off x="40968" y="4194998"/>
            <a:ext cx="671979" cy="461665"/>
          </a:xfrm>
          <a:prstGeom prst="rect">
            <a:avLst/>
          </a:prstGeom>
          <a:noFill/>
          <a:ln>
            <a:solidFill>
              <a:srgbClr val="FF0000"/>
            </a:solidFill>
          </a:ln>
        </p:spPr>
        <p:txBody>
          <a:bodyPr wrap="none" rtlCol="0">
            <a:spAutoFit/>
          </a:bodyPr>
          <a:lstStyle/>
          <a:p>
            <a:pPr algn="ctr"/>
            <a:r>
              <a:rPr lang="en-US" sz="1200" dirty="0"/>
              <a:t>Gemba </a:t>
            </a:r>
          </a:p>
          <a:p>
            <a:pPr algn="ctr"/>
            <a:r>
              <a:rPr lang="en-US" sz="1200" dirty="0"/>
              <a:t>Audit</a:t>
            </a:r>
          </a:p>
        </p:txBody>
      </p:sp>
      <p:sp>
        <p:nvSpPr>
          <p:cNvPr id="11" name="TextBox 10">
            <a:extLst>
              <a:ext uri="{FF2B5EF4-FFF2-40B4-BE49-F238E27FC236}">
                <a16:creationId xmlns:a16="http://schemas.microsoft.com/office/drawing/2014/main" id="{818B716C-EB05-0A3F-1B4D-AB27CD079F45}"/>
              </a:ext>
            </a:extLst>
          </p:cNvPr>
          <p:cNvSpPr txBox="1"/>
          <p:nvPr/>
        </p:nvSpPr>
        <p:spPr>
          <a:xfrm>
            <a:off x="5375002" y="2312511"/>
            <a:ext cx="1519968" cy="369332"/>
          </a:xfrm>
          <a:prstGeom prst="rect">
            <a:avLst/>
          </a:prstGeom>
          <a:noFill/>
          <a:ln>
            <a:solidFill>
              <a:srgbClr val="FF0000"/>
            </a:solidFill>
          </a:ln>
        </p:spPr>
        <p:txBody>
          <a:bodyPr wrap="none" rtlCol="0">
            <a:spAutoFit/>
          </a:bodyPr>
          <a:lstStyle/>
          <a:p>
            <a:r>
              <a:rPr lang="en-US" dirty="0"/>
              <a:t>Closing an NC</a:t>
            </a:r>
          </a:p>
        </p:txBody>
      </p:sp>
    </p:spTree>
    <p:extLst>
      <p:ext uri="{BB962C8B-B14F-4D97-AF65-F5344CB8AC3E}">
        <p14:creationId xmlns:p14="http://schemas.microsoft.com/office/powerpoint/2010/main" val="12291475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tejas nitore\Desktop\thank_you_PNG7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2800" y="1303865"/>
            <a:ext cx="7298267" cy="729826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0EDCCA61-8C92-4B10-B518-3C511CAB6123}"/>
              </a:ext>
            </a:extLst>
          </p:cNvPr>
          <p:cNvGraphicFramePr>
            <a:graphicFrameLocks noGrp="1"/>
          </p:cNvGraphicFramePr>
          <p:nvPr>
            <p:extLst>
              <p:ext uri="{D42A27DB-BD31-4B8C-83A1-F6EECF244321}">
                <p14:modId xmlns:p14="http://schemas.microsoft.com/office/powerpoint/2010/main" val="3239750727"/>
              </p:ext>
            </p:extLst>
          </p:nvPr>
        </p:nvGraphicFramePr>
        <p:xfrm>
          <a:off x="457200" y="6430490"/>
          <a:ext cx="11355572" cy="370840"/>
        </p:xfrm>
        <a:graphic>
          <a:graphicData uri="http://schemas.openxmlformats.org/drawingml/2006/table">
            <a:tbl>
              <a:tblPr firstRow="1" bandRow="1">
                <a:tableStyleId>{5C22544A-7EE6-4342-B048-85BDC9FD1C3A}</a:tableStyleId>
              </a:tblPr>
              <a:tblGrid>
                <a:gridCol w="5677786">
                  <a:extLst>
                    <a:ext uri="{9D8B030D-6E8A-4147-A177-3AD203B41FA5}">
                      <a16:colId xmlns:a16="http://schemas.microsoft.com/office/drawing/2014/main" val="2479087575"/>
                    </a:ext>
                  </a:extLst>
                </a:gridCol>
                <a:gridCol w="5677786">
                  <a:extLst>
                    <a:ext uri="{9D8B030D-6E8A-4147-A177-3AD203B41FA5}">
                      <a16:colId xmlns:a16="http://schemas.microsoft.com/office/drawing/2014/main" val="3153018761"/>
                    </a:ext>
                  </a:extLst>
                </a:gridCol>
              </a:tblGrid>
              <a:tr h="370840">
                <a:tc>
                  <a:txBody>
                    <a:bodyPr/>
                    <a:lstStyle/>
                    <a:p>
                      <a:r>
                        <a:rPr lang="en-US" sz="1800" b="1" dirty="0"/>
                        <a:t>UNITGLO SOLUTIONS PVT LTD</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dirty="0"/>
                        <a:t>help@unitglo.com</a:t>
                      </a:r>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200398"/>
                  </a:ext>
                </a:extLst>
              </a:tr>
            </a:tbl>
          </a:graphicData>
        </a:graphic>
      </p:graphicFrame>
    </p:spTree>
    <p:extLst>
      <p:ext uri="{BB962C8B-B14F-4D97-AF65-F5344CB8AC3E}">
        <p14:creationId xmlns:p14="http://schemas.microsoft.com/office/powerpoint/2010/main" val="2355667651"/>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D41"/>
      </a:dk2>
      <a:lt2>
        <a:srgbClr val="E4E8EA"/>
      </a:lt2>
      <a:accent1>
        <a:srgbClr val="C0998A"/>
      </a:accent1>
      <a:accent2>
        <a:srgbClr val="BA7F86"/>
      </a:accent2>
      <a:accent3>
        <a:srgbClr val="C594AF"/>
      </a:accent3>
      <a:accent4>
        <a:srgbClr val="BA7FB8"/>
      </a:accent4>
      <a:accent5>
        <a:srgbClr val="B496C6"/>
      </a:accent5>
      <a:accent6>
        <a:srgbClr val="8B7FBA"/>
      </a:accent6>
      <a:hlink>
        <a:srgbClr val="5E8A9B"/>
      </a:hlink>
      <a:folHlink>
        <a:srgbClr val="848484"/>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6F08194C7D5446BDAD13F86E1A2166" ma:contentTypeVersion="11" ma:contentTypeDescription="Create a new document." ma:contentTypeScope="" ma:versionID="e67ebcebf553efad69b9abed336a87ff">
  <xsd:schema xmlns:xsd="http://www.w3.org/2001/XMLSchema" xmlns:xs="http://www.w3.org/2001/XMLSchema" xmlns:p="http://schemas.microsoft.com/office/2006/metadata/properties" xmlns:ns3="48347f75-8746-4baa-b33d-427db4a1e0e1" xmlns:ns4="f422613a-61ec-430f-b5ce-7d4857874e72" targetNamespace="http://schemas.microsoft.com/office/2006/metadata/properties" ma:root="true" ma:fieldsID="79ae7b59c13f3353625eac19c682d772" ns3:_="" ns4:_="">
    <xsd:import namespace="48347f75-8746-4baa-b33d-427db4a1e0e1"/>
    <xsd:import namespace="f422613a-61ec-430f-b5ce-7d4857874e72"/>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4:SharedWithUsers" minOccurs="0"/>
                <xsd:element ref="ns4:SharedWithDetails" minOccurs="0"/>
                <xsd:element ref="ns4:SharingHintHash"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347f75-8746-4baa-b33d-427db4a1e0e1"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1" nillable="true" ma:displayName="MediaServiceAutoTags" ma:description="" ma:internalName="MediaServiceAutoTags" ma:readOnly="true">
      <xsd:simpleType>
        <xsd:restriction base="dms:Text"/>
      </xsd:simpleType>
    </xsd:element>
    <xsd:element name="MediaServiceLocation" ma:index="12" nillable="true" ma:displayName="MediaServiceLocation" ma:description="" ma:internalName="MediaServiceLocation"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422613a-61ec-430f-b5ce-7d4857874e72" elementFormDefault="qualified">
    <xsd:import namespace="http://schemas.microsoft.com/office/2006/documentManagement/types"/>
    <xsd:import namespace="http://schemas.microsoft.com/office/infopath/2007/PartnerControls"/>
    <xsd:element name="SharedWithUsers" ma:index="13"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description="" ma:internalName="SharedWithDetails" ma:readOnly="true">
      <xsd:simpleType>
        <xsd:restriction base="dms:Note">
          <xsd:maxLength value="255"/>
        </xsd:restriction>
      </xsd:simpleType>
    </xsd:element>
    <xsd:element name="SharingHintHash" ma:index="15" nillable="true" ma:displayName="Sharing Hint Hash" ma:descriptio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C3D08A6-5D5D-4A02-8F69-F882CC6A9AB8}">
  <ds:schemaRefs>
    <ds:schemaRef ds:uri="http://schemas.microsoft.com/sharepoint/v3/contenttype/forms"/>
  </ds:schemaRefs>
</ds:datastoreItem>
</file>

<file path=customXml/itemProps2.xml><?xml version="1.0" encoding="utf-8"?>
<ds:datastoreItem xmlns:ds="http://schemas.openxmlformats.org/officeDocument/2006/customXml" ds:itemID="{377969C2-30F1-4F1D-BD91-B61C94636C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347f75-8746-4baa-b33d-427db4a1e0e1"/>
    <ds:schemaRef ds:uri="f422613a-61ec-430f-b5ce-7d4857874e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F026C65-6240-496F-B412-FDB773246CC0}">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48347f75-8746-4baa-b33d-427db4a1e0e1"/>
    <ds:schemaRef ds:uri="http://schemas.microsoft.com/office/2006/documentManagement/types"/>
    <ds:schemaRef ds:uri="http://schemas.openxmlformats.org/package/2006/metadata/core-properties"/>
    <ds:schemaRef ds:uri="f422613a-61ec-430f-b5ce-7d4857874e72"/>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5863</TotalTime>
  <Words>2660</Words>
  <Application>Microsoft Office PowerPoint</Application>
  <PresentationFormat>Widescreen</PresentationFormat>
  <Paragraphs>452</Paragraphs>
  <Slides>46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Calibri Light</vt:lpstr>
      <vt:lpstr>Cambria</vt:lpstr>
      <vt:lpstr>Cambria Math</vt:lpstr>
      <vt:lpstr>Times New Roman</vt:lpstr>
      <vt:lpstr>RetrospectVTI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ANMOL</dc:creator>
  <cp:lastModifiedBy>srushti gadhave</cp:lastModifiedBy>
  <cp:revision>241</cp:revision>
  <dcterms:created xsi:type="dcterms:W3CDTF">2019-08-14T14:15:13Z</dcterms:created>
  <dcterms:modified xsi:type="dcterms:W3CDTF">2026-06-15T11:49:55Z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0x010100BB6F08194C7D5446BDAD13F86E1A2166</vt:lpwstr>
  </property>
</Properties>
</file>